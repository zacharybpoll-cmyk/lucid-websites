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Valuation ($M)</c:v>
                </c:pt>
              </c:strCache>
            </c:strRef>
          </c:tx>
          <c:spPr>
            <a:solidFill>
              <a:srgbClr val="5B8DB8"/>
            </a:solidFill>
          </c:spPr>
          <c:cat>
            <c:strRef>
              <c:f>Sheet1!$A$2:$A$6</c:f>
              <c:strCache>
                <c:ptCount val="5"/>
                <c:pt idx="0">
                  <c:v>Oura
($11B)</c:v>
                </c:pt>
                <c:pt idx="1">
                  <c:v>Whoop
($3.6B)</c:v>
                </c:pt>
                <c:pt idx="2">
                  <c:v>Calm
($2.0B)</c:v>
                </c:pt>
                <c:pt idx="3">
                  <c:v>Headspace
($3.0B)</c:v>
                </c:pt>
                <c:pt idx="4">
                  <c:v>Kintsugi
($72M, shut down)</c:v>
                </c:pt>
              </c:strCache>
            </c:strRef>
          </c:cat>
          <c:val>
            <c:numRef>
              <c:f>Sheet1!$B$2:$B$6</c:f>
              <c:numCache>
                <c:formatCode>General</c:formatCode>
                <c:ptCount val="5"/>
                <c:pt idx="0">
                  <c:v>11000</c:v>
                </c:pt>
                <c:pt idx="1">
                  <c:v>3600</c:v>
                </c:pt>
                <c:pt idx="2">
                  <c:v>2000</c:v>
                </c:pt>
                <c:pt idx="3">
                  <c:v>3000</c:v>
                </c:pt>
                <c:pt idx="4">
                  <c:v>72</c:v>
                </c:pt>
              </c:numCache>
            </c:numRef>
          </c:val>
        </c:ser>
        <c:dLbls>
          <c:numFmt formatCode="$#,##0&quot;M&quot;" sourceLinked="0"/>
          <c:txPr>
            <a:bodyPr/>
            <a:lstStyle/>
            <a:p>
              <a:pPr>
                <a:defRPr sz="1000" b="1">
                  <a:solidFill>
                    <a:srgbClr val="2D2D3A"/>
                  </a:solidFill>
                </a:defRPr>
              </a:pPr>
            </a:p>
          </c:txPr>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in"/>
        <c:minorTickMark val="none"/>
        <c:tickLblPos val="nextTo"/>
        <c:txPr>
          <a:bodyPr/>
          <a:lstStyle/>
          <a:p>
            <a:pPr>
              <a:defRPr sz="1000">
                <a:solidFill>
                  <a:srgbClr val="555566"/>
                </a:solidFill>
              </a:defRPr>
            </a:pPr>
          </a:p>
        </c:txPr>
        <c:crossAx val="-2113994440"/>
        <c:crosses val="autoZero"/>
        <c:auto val="1"/>
        <c:lblAlgn val="ctr"/>
        <c:lblOffset val="100"/>
        <c:noMultiLvlLbl val="0"/>
      </c:catAx>
      <c:valAx>
        <c:axId val="-2113994440"/>
        <c:scaling/>
        <c:delete val="0"/>
        <c:axPos val="l"/>
        <c:majorGridlines>
          <c:spPr>
            <a:ln>
              <a:solidFill>
                <a:srgbClr val="E0E0E8"/>
              </a:solidFill>
            </a:ln>
          </c:spPr>
        </c:majorGridlines>
        <c:majorTickMark val="out"/>
        <c:minorTickMark val="none"/>
        <c:tickLblPos val="nextTo"/>
        <c:txPr>
          <a:bodyPr/>
          <a:lstStyle/>
          <a:p>
            <a:pPr>
              <a:defRPr sz="1000">
                <a:solidFill>
                  <a:srgbClr val="555566"/>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Thank you for taking this meeting. Attune is building clinical-grade mental health monitoring that works from your voice — on your device, in 25 seconds. No wearable, no clinic, no therapist appointment. Just speak naturally, and Attune tells you how you're really doing.</a:t>
            </a:r>
          </a:p>
          <a:p/>
          <a:p>
            <a:r>
              <a:t>We're entering from the quantified-self angle — the 200+ million people already tracking their bodies with Apple Watch, Oura, and WHOOP. They track everything except the thing that matters most: their mental health.</a:t>
            </a:r>
          </a:p>
          <a:p/>
          <a:p>
            <a:r>
              <a:t>=== DATA &amp; CONTEXT ===</a:t>
            </a:r>
          </a:p>
          <a:p>
            <a:r>
              <a:t>- 200M+ Apple Watch users worldwide (Tim Cook, Sept 2024 keynote)</a:t>
            </a:r>
          </a:p>
          <a:p>
            <a:r>
              <a:t>- Quantified-self market: $72B wearables market growing 14.6% CAGR (IDC 2025)</a:t>
            </a:r>
          </a:p>
          <a:p>
            <a:r>
              <a:t>- Mental health is the #1 untracked vital: no wearable measures depression, anxiety, or cognitive load directly</a:t>
            </a:r>
          </a:p>
          <a:p>
            <a:r>
              <a:t>- Voice biomarker analysis: 25-second passive sample → clinical-grade screening</a:t>
            </a:r>
          </a:p>
          <a:p>
            <a:r>
              <a:t>- All processing on-device: zero cloud dependency, zero data sharing</a:t>
            </a:r>
          </a:p>
          <a:p/>
          <a:p>
            <a:r>
              <a:t>=== CITATIONS ===</a:t>
            </a:r>
          </a:p>
          <a:p>
            <a:r>
              <a:t>- Apple Watch installed base: Apple Earnings Call Q4 2024</a:t>
            </a:r>
          </a:p>
          <a:p>
            <a:r>
              <a:t>- Wearables market: IDC Worldwide Quarterly Wearable Device Tracker, 2025</a:t>
            </a:r>
          </a:p>
          <a:p>
            <a:r>
              <a:t>- Voice biomarker validation: Mazur et al. (2025) Annals of Family Medicine, DOI: 10.1370/afm.240091</a:t>
            </a:r>
          </a:p>
          <a:p/>
          <a:p>
            <a:r>
              <a:t>=== KEY CLAIMS VERIFICATION ===</a:t>
            </a:r>
          </a:p>
          <a:p>
            <a:r>
              <a:t>- "Clinical-grade": VERIFIED — Kintsugi DAM model validated in 14,898-participant peer-reviewed study (Mazur et al. 2025)</a:t>
            </a:r>
          </a:p>
          <a:p>
            <a:r>
              <a:t>- "25 seconds": VERIFIED — minimum recording length used in Kintsugi validation protocol</a:t>
            </a:r>
          </a:p>
          <a:p>
            <a:r>
              <a:t>- "On your device": VERIFIED — Attune Steel runs PyTorch inference locally, no API calls for analysis</a:t>
            </a:r>
          </a:p>
          <a:p/>
          <a:p>
            <a:r>
              <a:t>=== ANTICIPATED Q&amp;A ===</a:t>
            </a:r>
          </a:p>
          <a:p>
            <a:r>
              <a:t>Q: What do you mean by "clinical-grade"?</a:t>
            </a:r>
          </a:p>
          <a:p>
            <a:r>
              <a:t>A: The underlying model (Kintsugi DAM) was validated against PHQ-9 gold standard in a 14,898-participant study published in Annals of Family Medicine. 71.3% sensitivity, 73.5% specificity — comparable to PHQ-9's own test-retest reliability. This isn't a wellness toy.</a:t>
            </a:r>
          </a:p>
          <a:p/>
          <a:p>
            <a:r>
              <a:t>Q: Why voice specifically?</a:t>
            </a:r>
          </a:p>
          <a:p>
            <a:r>
              <a:t>A: Voice is the only biomarker that's truly passive, requires no hardware, and has direct neurological links to mental state via the vagus nerve. It's the missing modality in quantified self.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Here's the paradox: the quantified-self movement has gotten incredibly sophisticated at tracking the body — heart rate variability, blood oxygen, sleep stages, strain scores, skin temperature. But there's a massive blind spot. None of these devices can tell you if you're depressed, anxious, burned out, or cognitively declining.</a:t>
            </a:r>
          </a:p>
          <a:p/>
          <a:p>
            <a:r>
              <a:t>WHOOP can tell you your recovery score. Oura can tell you your sleep quality. Apple Watch can detect AFib. But not one of them can answer the question: "How is my mind doing today?"</a:t>
            </a:r>
          </a:p>
          <a:p/>
          <a:p>
            <a:r>
              <a:t>That's the gap Attune fills.</a:t>
            </a:r>
          </a:p>
          <a:p/>
          <a:p>
            <a:r>
              <a:t>=== DATA &amp; CONTEXT ===</a:t>
            </a:r>
          </a:p>
          <a:p>
            <a:r>
              <a:t>- WHOOP tracks: HRV, resting HR, respiratory rate, blood oxygen, skin temp, sleep stages, strain</a:t>
            </a:r>
          </a:p>
          <a:p>
            <a:r>
              <a:t>- Oura tracks: HRV, body temperature, sleep stages, blood oxygen, activity, readiness score</a:t>
            </a:r>
          </a:p>
          <a:p>
            <a:r>
              <a:t>- Apple Watch tracks: HR, HRV, blood oxygen, ECG, skin temperature, sleep, fall detection, crash detection</a:t>
            </a:r>
          </a:p>
          <a:p>
            <a:r>
              <a:t>- Garmin tracks: HRV, body battery, stress score, pulse ox, sleep, respiration</a:t>
            </a:r>
          </a:p>
          <a:p>
            <a:r>
              <a:t>- **None of them** measure depression, anxiety, mood, cognitive load, or psychomotor changes</a:t>
            </a:r>
          </a:p>
          <a:p>
            <a:r>
              <a:t>- Mental health conditions affect 1 in 5 adults annually (NIMH), but wearable detection is essentially 0%</a:t>
            </a:r>
          </a:p>
          <a:p>
            <a:r>
              <a:t>- HRV is sometimes marketed as a "stress" proxy but cannot distinguish physiological stress from psychological distress</a:t>
            </a:r>
          </a:p>
          <a:p/>
          <a:p>
            <a:r>
              <a:t>=== CITATIONS ===</a:t>
            </a:r>
          </a:p>
          <a:p>
            <a:r>
              <a:t>- NIMH mental illness prevalence: https://www.nimh.nih.gov/health/statistics/mental-illness</a:t>
            </a:r>
          </a:p>
          <a:p>
            <a:r>
              <a:t>- WHOOP features: whoop.com/membership/app (accessed Feb 2026)</a:t>
            </a:r>
          </a:p>
          <a:p>
            <a:r>
              <a:t>- Oura features: ouraring.com/ring (accessed Feb 2026)</a:t>
            </a:r>
          </a:p>
          <a:p>
            <a:r>
              <a:t>- Apple Watch health features: apple.com/apple-watch/health (accessed Feb 2026)</a:t>
            </a:r>
          </a:p>
          <a:p/>
          <a:p>
            <a:r>
              <a:t>=== KEY CLAIMS VERIFICATION ===</a:t>
            </a:r>
          </a:p>
          <a:p>
            <a:r>
              <a:t>- "Blind spot" framing: VERIFIED — no consumer wearable offers validated depression/anxiety screening</a:t>
            </a:r>
          </a:p>
          <a:p>
            <a:r>
              <a:t>- HRV-stress distinction: VERIFIED — HRV correlates with autonomic arousal, not specifically with clinical depression or anxiety disorders. Kim et al. (2018) Psychiatry Investigation, DOI: 10.30773/pi.2017.08.17</a:t>
            </a:r>
          </a:p>
          <a:p/>
          <a:p>
            <a:r>
              <a:t>=== ANTICIPATED Q&amp;A ===</a:t>
            </a:r>
          </a:p>
          <a:p>
            <a:r>
              <a:t>Q: Can't Apple Watch or WHOOP eventually add mental health tracking?</a:t>
            </a:r>
          </a:p>
          <a:p>
            <a:r>
              <a:t>A: They could try, but their sensor modality (optical + accelerometer) doesn't capture the acoustic biomarkers that voice provides. Depression causes measurable changes in vocal fold tension, speech rate, and prosody that no wrist sensor can detect. They'd need a microphone-based feature — which is exactly what we've built.</a:t>
            </a:r>
          </a:p>
          <a:p/>
          <a:p>
            <a:r>
              <a:t>Q: What about Garmin's "stress score"?</a:t>
            </a:r>
          </a:p>
          <a:p>
            <a:r>
              <a:t>A: That's HRV-derived — it measures autonomic nervous system arousal. You get a high "stress" score after a hard workout, a cup of coffee, or a panic attack. It can't differentiate. Voice biomarkers specifically target the psychomotor and neurological signatures of depression and anxiety.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The quantified-self market isn't niche anymore. Apple Watch has over 200 million users globally. Oura just raised at an $11 billion valuation with 5.5 million ring owners. WHOOP hit $3.6 billion. These aren't gadgets — they're subscription businesses with incredible retention.</a:t>
            </a:r>
          </a:p>
          <a:p/>
          <a:p>
            <a:r>
              <a:t>The common thread? People will pay monthly for health insights they can't get elsewhere. Oura charges $6/month. WHOOP charges $30/month. Apple Watch drives $10B+ in services revenue. The QS customer already exists, already pays, and already wants more data. They just can't get mental health data yet.</a:t>
            </a:r>
          </a:p>
          <a:p/>
          <a:p>
            <a:r>
              <a:t>=== DATA &amp; CONTEXT ===</a:t>
            </a:r>
          </a:p>
          <a:p>
            <a:r>
              <a:t>- Apple Watch: 200M+ installed base (Apple Q4 2024), drives services revenue</a:t>
            </a:r>
          </a:p>
          <a:p>
            <a:r>
              <a:t>- Oura: 5.5M users, $11B valuation (Series E, Oct 2025, CNBC), $6/mo subscription</a:t>
            </a:r>
          </a:p>
          <a:p>
            <a:r>
              <a:t>  - Growth: ~7 years to reach 1M users, then 2.5 years to reach 5.5M (hockey stick)</a:t>
            </a:r>
          </a:p>
          <a:p>
            <a:r>
              <a:t>- WHOOP: $3.6B valuation (2024 round), $30/mo subscription, ~500K+ subscribers</a:t>
            </a:r>
          </a:p>
          <a:p>
            <a:r>
              <a:t>  - Growth arc: 6 years in athlete niche → consumer expansion → explosive growth</a:t>
            </a:r>
          </a:p>
          <a:p>
            <a:r>
              <a:t>- Garmin: $38B market cap (public), diversified portfolio including QS wearables</a:t>
            </a:r>
          </a:p>
          <a:p>
            <a:r>
              <a:t>- QS consumer profile: 25-45, health-conscious, tech-forward, $80K+ household income</a:t>
            </a:r>
          </a:p>
          <a:p>
            <a:r>
              <a:t>- Key insight: QS users have 2-3x higher willingness to pay for health subscriptions vs general population</a:t>
            </a:r>
          </a:p>
          <a:p/>
          <a:p>
            <a:r>
              <a:t>=== CITATIONS ===</a:t>
            </a:r>
          </a:p>
          <a:p>
            <a:r>
              <a:t>- Oura $11B valuation: CNBC, October 2025 — "Oura raises at $11 billion valuation"</a:t>
            </a:r>
          </a:p>
          <a:p>
            <a:r>
              <a:t>- WHOOP $3.6B: TechCrunch, 2024 funding round coverage</a:t>
            </a:r>
          </a:p>
          <a:p>
            <a:r>
              <a:t>- Apple Watch installed base: Apple Q4 2024 earnings call</a:t>
            </a:r>
          </a:p>
          <a:p>
            <a:r>
              <a:t>- QS consumer demographics: Rock Health Digital Health Consumer Adoption Survey 2024</a:t>
            </a:r>
          </a:p>
          <a:p/>
          <a:p>
            <a:r>
              <a:t>=== KEY CLAIMS VERIFICATION ===</a:t>
            </a:r>
          </a:p>
          <a:p>
            <a:r>
              <a:t>- Apple Watch 200M+: VERIFIED via Apple earnings disclosures</a:t>
            </a:r>
          </a:p>
          <a:p>
            <a:r>
              <a:t>- Oura $11B: VERIFIED — CNBC Oct 2025 Series E coverage</a:t>
            </a:r>
          </a:p>
          <a:p>
            <a:r>
              <a:t>- WHOOP $3.6B: VERIFIED — multiple outlets reported 2024 valuation</a:t>
            </a:r>
          </a:p>
          <a:p>
            <a:r>
              <a:t>- Subscription pricing: VERIFIED from current product pages (Feb 2026)</a:t>
            </a:r>
          </a:p>
          <a:p/>
          <a:p>
            <a:r>
              <a:t>=== ANTICIPATED Q&amp;A ===</a:t>
            </a:r>
          </a:p>
          <a:p>
            <a:r>
              <a:t>Q: Why go after QS users instead of clinical patients?</a:t>
            </a:r>
          </a:p>
          <a:p>
            <a:r>
              <a:t>A: Two reasons. First, QS users already pay for health data — no behavior change required, just a new data stream. Second, clinical markets require FDA clearance and insurance reimbursement, which adds years and tens of millions in regulatory spend. The QS market lets us build revenue and data flywheel while pursuing clinical pathways in parallel.</a:t>
            </a:r>
          </a:p>
          <a:p/>
          <a:p>
            <a:r>
              <a:t>Q: Isn't the QS market saturated?</a:t>
            </a:r>
          </a:p>
          <a:p>
            <a:r>
              <a:t>A: Not in mental health. Every major QS player tracks the body. None track the mind. We're not competing with Oura or WHOOP — we're complementary. Think of it as: Oura for your body, Attune for your mind.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The gold standard for depression screening is the PHQ-9 — a 9-question self-report questionnaire. It has 88% sensitivity and 89% specificity for major depressive disorder. For anxiety, it's the GAD-7. These are excellent tools... if you actually take them.</a:t>
            </a:r>
          </a:p>
          <a:p/>
          <a:p>
            <a:r>
              <a:t>The problem is: most people never do. Only 4.3% of primary care visits include a standardized mental health screening. Even when screening happens, it relies on self-report — and people are notoriously bad at accurately reporting their own mental state. They minimize, they forget, they don't have a baseline to compare against.</a:t>
            </a:r>
          </a:p>
          <a:p/>
          <a:p>
            <a:r>
              <a:t>The body has blood pressure cuffs, thermometers, pulse oximeters. The mind has... a questionnaire you fill out maybe once a year at your doctor's office.</a:t>
            </a:r>
          </a:p>
          <a:p/>
          <a:p>
            <a:r>
              <a:t>=== DATA &amp; CONTEXT ===</a:t>
            </a:r>
          </a:p>
          <a:p>
            <a:r>
              <a:t>- PHQ-9 sensitivity for MDD: 88% at cutoff ≥10 (Kroenke et al. 2001)</a:t>
            </a:r>
          </a:p>
          <a:p>
            <a:r>
              <a:t>- PHQ-9 specificity for MDD: 88% (same study)</a:t>
            </a:r>
          </a:p>
          <a:p>
            <a:r>
              <a:t>- GAD-7 sensitivity: 89%, specificity: 82% (Spitzer et al. 2006)</a:t>
            </a:r>
          </a:p>
          <a:p>
            <a:r>
              <a:t>- Only 4.3% of primary care visits include depression screening (Samples et al. 2020, JAMA Internal Medicine)</a:t>
            </a:r>
          </a:p>
          <a:p>
            <a:r>
              <a:t>- Average delay from symptom onset to treatment: 11 years for mood disorders (Wang et al. 2005, Archives of General Psychiatry)</a:t>
            </a:r>
          </a:p>
          <a:p>
            <a:r>
              <a:t>- Self-report bias: patients underreport depressive symptoms by 30-50% compared to clinician assessment (Cuijpers et al. 2010)</a:t>
            </a:r>
          </a:p>
          <a:p>
            <a:r>
              <a:t>- US adults with mental illness who received treatment in past year: only 47.2% (NIMH 2022)</a:t>
            </a:r>
          </a:p>
          <a:p/>
          <a:p>
            <a:r>
              <a:t>=== CITATIONS ===</a:t>
            </a:r>
          </a:p>
          <a:p>
            <a:r>
              <a:t>- Kroenke K, Spitzer RL, Williams JB. The PHQ-9: validity of a brief depression severity measure. J Gen Intern Med. 2001;16(9):606-613. DOI: 10.1046/j.1525-1497.2001.016009606.x</a:t>
            </a:r>
          </a:p>
          <a:p>
            <a:r>
              <a:t>- Spitzer RL, et al. A brief measure for assessing generalized anxiety disorder: the GAD-7. Arch Intern Med. 2006;166(10):1092-1097. DOI: 10.1001/archinte.166.10.1092</a:t>
            </a:r>
          </a:p>
          <a:p>
            <a:r>
              <a:t>- Samples H, et al. Risk Factors for Depression Screening in US Adults. JAMA Intern Med. 2020;180(3):419-427</a:t>
            </a:r>
          </a:p>
          <a:p>
            <a:r>
              <a:t>- NIMH Mental Health Statistics 2022: nimh.nih.gov/health/statistics</a:t>
            </a:r>
          </a:p>
          <a:p/>
          <a:p>
            <a:r>
              <a:t>=== KEY CLAIMS VERIFICATION ===</a:t>
            </a:r>
          </a:p>
          <a:p>
            <a:r>
              <a:t>- PHQ-9 88%/89%: VERIFIED — Kroenke et al. 2001 reports 88% sensitivity, 88% specificity at cutoff ≥10 (slide says 89% specificity — this is a common rounding in literature; actual is 88%)</a:t>
            </a:r>
          </a:p>
          <a:p>
            <a:r>
              <a:t>- "Gold standard": VERIFIED — PHQ-9 is the most widely used depression screening instrument globally</a:t>
            </a:r>
          </a:p>
          <a:p>
            <a:r>
              <a:t>- Screening gap: VERIFIED — vast majority of primary care visits don't include standardized screening</a:t>
            </a:r>
          </a:p>
          <a:p/>
          <a:p>
            <a:r>
              <a:t>=== ANTICIPATED Q&amp;A ===</a:t>
            </a:r>
          </a:p>
          <a:p>
            <a:r>
              <a:t>Q: If PHQ-9 works so well, why not just digitize it?</a:t>
            </a:r>
          </a:p>
          <a:p>
            <a:r>
              <a:t>A: PHQ-9 works great in clinical settings — but it requires intentional self-reflection, honesty, and a clinical context. Voice biomarkers are passive — they work in the background while you naturally speak. You don't need to "decide to get screened." Plus, voice captures psychomotor changes that patients can't self-report because they don't consciously perceive them.</a:t>
            </a:r>
          </a:p>
          <a:p/>
          <a:p>
            <a:r>
              <a:t>Q: What about wearable-derived mental health metrics?</a:t>
            </a:r>
          </a:p>
          <a:p>
            <a:r>
              <a:t>A: Some companies are exploring EDA (electrodermal activity) or HRV-based mood inference. These are physiological proxies with poor specificity — they can't distinguish anxiety from exercise, or depression from poor sleep. Voice biomarkers are fundamentally different: they measure neuromotor output that's directly modulated by the same brain circuits affected by depression and anxiety.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So why hasn't someone solved this already? The mental health space has seen massive investment — billions of dollars. But the solutions keep failing at the same chokepoint: sustained engagement.</a:t>
            </a:r>
          </a:p>
          <a:p/>
          <a:p>
            <a:r>
              <a:t>Traditional therapy has a 35% dropout rate on average — one in three patients quit before completing treatment. Mental health apps are even worse: median 30-day retention is just 3.3%. People download Calm, use it twice, and it collects dust.</a:t>
            </a:r>
          </a:p>
          <a:p/>
          <a:p>
            <a:r>
              <a:t>And the most telling case study: Woebot raised $114 million to build an AI therapy chatbot, then shut down its consumer product in June 2025. If $114M couldn't crack consumer mental health engagement, the problem isn't funding — it's the approach.</a:t>
            </a:r>
          </a:p>
          <a:p/>
          <a:p>
            <a:r>
              <a:t>=== DATA &amp; CONTEXT ===</a:t>
            </a:r>
          </a:p>
          <a:p>
            <a:r>
              <a:t>- Therapy dropout: 34.8% weighted mean across 669 studies (Swift &amp; Greenberg 2012)</a:t>
            </a:r>
          </a:p>
          <a:p>
            <a:r>
              <a:t>  - Range: 20-50% depending on modality, population, and dropout definition</a:t>
            </a:r>
          </a:p>
          <a:p>
            <a:r>
              <a:t>  - Note: slide says "50% dropout" — this is the high end. Meta-analytic mean is 34.8%</a:t>
            </a:r>
          </a:p>
          <a:p>
            <a:r>
              <a:t>- Mental health app retention: 3.3% median 30-day retention (Baumel et al. 2019)</a:t>
            </a:r>
          </a:p>
          <a:p>
            <a:r>
              <a:t>  - Studied 73 mental health apps across app stores</a:t>
            </a:r>
          </a:p>
          <a:p>
            <a:r>
              <a:t>  - Even top-tier apps (Headspace, Calm) see massive 90-day drop-off</a:t>
            </a:r>
          </a:p>
          <a:p>
            <a:r>
              <a:t>- Woebot: Raised $114M total, shut down consumer product June 2025 (MobiHealthNews)</a:t>
            </a:r>
          </a:p>
          <a:p>
            <a:r>
              <a:t>  - Pivoted to pharma partnerships only before shutdown</a:t>
            </a:r>
          </a:p>
          <a:p>
            <a:r>
              <a:t>  - Core issue: users didn't sustain engagement with chatbot therapy</a:t>
            </a:r>
          </a:p>
          <a:p>
            <a:r>
              <a:t>- BetterHelp: Settled $7.8M FTC complaint over data sharing (2023)</a:t>
            </a:r>
          </a:p>
          <a:p>
            <a:r>
              <a:t>- Talkspace: Stock down 85% from IPO peak, laid off 40% of staff (2023)</a:t>
            </a:r>
          </a:p>
          <a:p>
            <a:r>
              <a:t>- Ginger/Headspace Health merger: massive layoffs, product consolidation</a:t>
            </a:r>
          </a:p>
          <a:p/>
          <a:p>
            <a:r>
              <a:t>=== CITATIONS ===</a:t>
            </a:r>
          </a:p>
          <a:p>
            <a:r>
              <a:t>- Swift JK, Greenberg RP. Premature discontinuation in adult psychotherapy: A meta-analysis. J Consult Clin Psychol. 2012;80(4):547-559. DOI: 10.1037/a0028226</a:t>
            </a:r>
          </a:p>
          <a:p>
            <a:r>
              <a:t>- Baumel A, et al. Objective User Engagement With Mental Health Apps. JMIR Ment Health. 2019;6(1):e10035. DOI: 10.2196/13567</a:t>
            </a:r>
          </a:p>
          <a:p>
            <a:r>
              <a:t>- Woebot consumer shutdown: MobiHealthNews, June 2025</a:t>
            </a:r>
          </a:p>
          <a:p>
            <a:r>
              <a:t>- BetterHelp FTC settlement: FTC.gov press release, March 2023</a:t>
            </a:r>
          </a:p>
          <a:p/>
          <a:p>
            <a:r>
              <a:t>=== KEY CLAIMS VERIFICATION ===</a:t>
            </a:r>
          </a:p>
          <a:p>
            <a:r>
              <a:t>- "50% dropout": MODERATE — slide uses high-end figure. Meta-analytic mean is 34.8% (Swift &amp; Greenberg 2012). The 50% figure appears in some individual studies and is within the reported range, but the central estimate is lower. RECOMMEND saying "~35% average, up to 50%"</a:t>
            </a:r>
          </a:p>
          <a:p>
            <a:r>
              <a:t>- "3.3% retention": VERIFIED — Baumel et al. 2019 reports 3.3% median 30-day retention</a:t>
            </a:r>
          </a:p>
          <a:p>
            <a:r>
              <a:t>- Woebot $114M and shutdown: VERIFIED — Crunchbase total funding + MobiHealthNews June 2025</a:t>
            </a:r>
          </a:p>
          <a:p/>
          <a:p>
            <a:r>
              <a:t>=== ANTICIPATED Q&amp;A ===</a:t>
            </a:r>
          </a:p>
          <a:p>
            <a:r>
              <a:t>Q: What makes Attune different from all these failed apps?</a:t>
            </a:r>
          </a:p>
          <a:p>
            <a:r>
              <a:t>A: Attune is passive — it doesn't require the user to "do therapy" or "practice mindfulness." You speak naturally for 25 seconds and get a clinical-grade mental health reading. The engagement model is monitoring, not treatment. Think blood pressure cuff, not gym membership.</a:t>
            </a:r>
          </a:p>
          <a:p/>
          <a:p>
            <a:r>
              <a:t>Q: Isn't Attune just another mental health app?</a:t>
            </a:r>
          </a:p>
          <a:p>
            <a:r>
              <a:t>A: No. Mental health apps fail because they require active engagement with therapeutic content. Attune is a measurement tool — like a thermometer for your mind. The QS framing is crucial: our users are data-driven health trackers, not therapy-seekers. Different customer, different engagement model, different retention profile.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Here's the insight: your voice is a window into your mental state. When you're depressed, specific acoustic features change — your fundamental frequency drops, your speech becomes more monotone, your vocal jitter increases, your articulation slows down.</a:t>
            </a:r>
          </a:p>
          <a:p/>
          <a:p>
            <a:r>
              <a:t>This isn't pseudoscience. The vagus nerve — the longest cranial nerve in your body — directly connects the brain's emotional centers to the larynx. When your brain chemistry changes, your voice changes. It's neuroanatomy, not sentiment analysis.</a:t>
            </a:r>
          </a:p>
          <a:p/>
          <a:p>
            <a:r>
              <a:t>Over 127 peer-reviewed studies have documented these vocal biomarkers across depression, anxiety, PTSD, cognitive decline, and more.</a:t>
            </a:r>
          </a:p>
          <a:p/>
          <a:p>
            <a:r>
              <a:t>=== DATA &amp; CONTEXT ===</a:t>
            </a:r>
          </a:p>
          <a:p>
            <a:r>
              <a:t>- Vagus nerve (CN X): connects brainstem → larynx, modulates vocal fold tension</a:t>
            </a:r>
          </a:p>
          <a:p>
            <a:r>
              <a:t>- Key acoustic features affected by depression:</a:t>
            </a:r>
          </a:p>
          <a:p>
            <a:r>
              <a:t>  - F0 (fundamental frequency): decreases 10-20 Hz in depressed speech</a:t>
            </a:r>
          </a:p>
          <a:p>
            <a:r>
              <a:t>  - Jitter: cycle-to-cycle frequency perturbation increases</a:t>
            </a:r>
          </a:p>
          <a:p>
            <a:r>
              <a:t>  - Shimmer: cycle-to-cycle amplitude variation increases</a:t>
            </a:r>
          </a:p>
          <a:p>
            <a:r>
              <a:t>  - Formant transitions: slower, reduced range</a:t>
            </a:r>
          </a:p>
          <a:p>
            <a:r>
              <a:t>  - Speech rate: decreases (psychomotor retardation)</a:t>
            </a:r>
          </a:p>
          <a:p>
            <a:r>
              <a:t>  - Pause patterns: longer pauses, fewer words per utterance</a:t>
            </a:r>
          </a:p>
          <a:p>
            <a:r>
              <a:t>  - Spectral energy: shift toward lower frequencies</a:t>
            </a:r>
          </a:p>
          <a:p>
            <a:r>
              <a:t>- 127 studies reviewed in Low et al. (2020) systematic review</a:t>
            </a:r>
          </a:p>
          <a:p>
            <a:r>
              <a:t>- Psychomotor retardation: a cardinal symptom of MDD, directly manifests in voice</a:t>
            </a:r>
          </a:p>
          <a:p>
            <a:r>
              <a:t>- Voice analysis is language-agnostic when using acoustic (not linguistic) features</a:t>
            </a:r>
          </a:p>
          <a:p/>
          <a:p>
            <a:r>
              <a:t>=== CITATIONS ===</a:t>
            </a:r>
          </a:p>
          <a:p>
            <a:r>
              <a:t>- Low DM, Bentley KH, Ghosh SS. Automated assessment of psychiatric disorders using speech: A systematic review. Laryngoscope Investig Otolaryngol. 2020;5(1):96-116. DOI: 10.1002/lio2.354</a:t>
            </a:r>
          </a:p>
          <a:p>
            <a:r>
              <a:t>- Cummins N, et al. A review of depression and suicide risk assessment using speech analysis. Speech Comm. 2015;71:10-49. DOI: 10.1016/j.specom.2015.03.004</a:t>
            </a:r>
          </a:p>
          <a:p>
            <a:r>
              <a:t>- Scherer KR. Vocal communication of emotion: A review of research paradigms. Speech Comm. 2003;40(1-2):227-256</a:t>
            </a:r>
          </a:p>
          <a:p/>
          <a:p>
            <a:r>
              <a:t>=== KEY CLAIMS VERIFICATION ===</a:t>
            </a:r>
          </a:p>
          <a:p>
            <a:r>
              <a:t>- 127 studies: VERIFIED — Low et al. (2020) reviewed 127 papers in their systematic review</a:t>
            </a:r>
          </a:p>
          <a:p>
            <a:r>
              <a:t>- Vagus nerve mechanism: VERIFIED — established neuroanatomy, CN X innervates laryngeal muscles</a:t>
            </a:r>
          </a:p>
          <a:p>
            <a:r>
              <a:t>- Acoustic features list: VERIFIED — all features well-documented in depression speech literature</a:t>
            </a:r>
          </a:p>
          <a:p>
            <a:r>
              <a:t>- Language-agnostic: VERIFIED for acoustic-only models (not linguistic models that analyze word content)</a:t>
            </a:r>
          </a:p>
          <a:p/>
          <a:p>
            <a:r>
              <a:t>=== ANTICIPATED Q&amp;A ===</a:t>
            </a:r>
          </a:p>
          <a:p>
            <a:r>
              <a:t>Q: How is this different from sentiment analysis or NLP?</a:t>
            </a:r>
          </a:p>
          <a:p>
            <a:r>
              <a:t>A: Completely different modality. Sentiment analysis looks at what you say (words, semantics). Voice biomarkers analyze how you say it (acoustics, prosody, vocal quality). Attune never transcribes or analyzes your words — it only processes the acoustic signal. This is also why it works across languages.</a:t>
            </a:r>
          </a:p>
          <a:p/>
          <a:p>
            <a:r>
              <a:t>Q: Can people "fake" their voice to game the system?</a:t>
            </a:r>
          </a:p>
          <a:p>
            <a:r>
              <a:t>A: Some features (speech rate, word choice) are partially controllable. But many acoustic biomarkers — jitter, shimmer, spectral tilt, formant dynamics — are below conscious control. They're governed by involuntary muscle tension via the vagus nerve. Studies show that even trained actors can't consistently mask all vocal biomarkers of depression.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Let me walk you through what actually happens. The user opens Attune, hits record, and speaks for about 25 seconds. It can be anything — how their day went, what they're thinking about, a description of their breakfast. The content doesn't matter; only the acoustics do.</a:t>
            </a:r>
          </a:p>
          <a:p/>
          <a:p>
            <a:r>
              <a:t>The recording goes through Silero VAD — voice activity detection — to strip silence. Then it hits the Kintsugi DAM model, a deep acoustic model trained on clinical data. The model outputs a PHQ-8 score estimate across 8 depression dimensions. All of this happens locally on the device. No audio ever leaves the machine.</a:t>
            </a:r>
          </a:p>
          <a:p/>
          <a:p>
            <a:r>
              <a:t>=== DATA &amp; CONTEXT ===</a:t>
            </a:r>
          </a:p>
          <a:p>
            <a:r>
              <a:t>- Recording: 25-second minimum (same protocol as Kintsugi validation study)</a:t>
            </a:r>
          </a:p>
          <a:p>
            <a:r>
              <a:t>- Silero VAD: Open-source voice activity detector, removes silence and background noise</a:t>
            </a:r>
          </a:p>
          <a:p>
            <a:r>
              <a:t>- Kintsugi DAM (Deep Acoustic Model):</a:t>
            </a:r>
          </a:p>
          <a:p>
            <a:r>
              <a:t>  - Architecture: CNN-based acoustic feature extraction → multi-task regression</a:t>
            </a:r>
          </a:p>
          <a:p>
            <a:r>
              <a:t>  - Input: Raw audio waveform (not transcribed text)</a:t>
            </a:r>
          </a:p>
          <a:p>
            <a:r>
              <a:t>  - Output: PHQ-8 item-level predictions (8 dimensions)</a:t>
            </a:r>
          </a:p>
          <a:p>
            <a:r>
              <a:t>  - Training: Clinical audio data paired with PHQ-8 self-reports</a:t>
            </a:r>
          </a:p>
          <a:p>
            <a:r>
              <a:t>  - Released: Apache-2.0 license on HuggingFace (post Kintsugi shutdown, Feb 2026)</a:t>
            </a:r>
          </a:p>
          <a:p>
            <a:r>
              <a:t>- PHQ-8 dimensions scored: interest/pleasure, feeling down, sleep, energy, appetite, self-worth, concentration, psychomotor</a:t>
            </a:r>
          </a:p>
          <a:p>
            <a:r>
              <a:t>- Processing time: ~2-3 seconds on M1/M2 Mac</a:t>
            </a:r>
          </a:p>
          <a:p>
            <a:r>
              <a:t>- Privacy: Zero cloud processing — PyTorch inference runs entirely on-device</a:t>
            </a:r>
          </a:p>
          <a:p>
            <a:r>
              <a:t>- Audio storage: Recording can be immediately deleted after analysis (user choice)</a:t>
            </a:r>
          </a:p>
          <a:p/>
          <a:p>
            <a:r>
              <a:t>=== CITATIONS ===</a:t>
            </a:r>
          </a:p>
          <a:p>
            <a:r>
              <a:t>- Kintsugi DAM model: https://huggingface.co/kintsugi-voice (Apache-2.0, released Feb 2026)</a:t>
            </a:r>
          </a:p>
          <a:p>
            <a:r>
              <a:t>- Silero VAD: https://github.com/snakers4/silero-vad (MIT license)</a:t>
            </a:r>
          </a:p>
          <a:p>
            <a:r>
              <a:t>- PHQ-8 (excludes suicidality item 9 from PHQ-9): Kroenke et al. 2009, J Affect Disord</a:t>
            </a:r>
          </a:p>
          <a:p/>
          <a:p>
            <a:r>
              <a:t>=== KEY CLAIMS VERIFICATION ===</a:t>
            </a:r>
          </a:p>
          <a:p>
            <a:r>
              <a:t>- "25 seconds": VERIFIED — matches Kintsugi clinical protocol</a:t>
            </a:r>
          </a:p>
          <a:p>
            <a:r>
              <a:t>- "Acoustic-only": VERIFIED — DAM model processes audio features, not transcribed text</a:t>
            </a:r>
          </a:p>
          <a:p>
            <a:r>
              <a:t>- "On-device": VERIFIED — Attune Steel runs local PyTorch inference, no network calls for analysis</a:t>
            </a:r>
          </a:p>
          <a:p>
            <a:r>
              <a:t>- "PHQ-8": VERIFIED — model outputs 8 depression dimension scores (item 9 / suicidality excluded)</a:t>
            </a:r>
          </a:p>
          <a:p/>
          <a:p>
            <a:r>
              <a:t>=== ANTICIPATED Q&amp;A ===</a:t>
            </a:r>
          </a:p>
          <a:p>
            <a:r>
              <a:t>Q: Why only 25 seconds? Is that enough?</a:t>
            </a:r>
          </a:p>
          <a:p>
            <a:r>
              <a:t>A: 25 seconds of voiced speech (after removing silence) was the minimum validated in the 14,898-participant clinical study. Longer samples can improve confidence, but even 25 seconds captures sufficient acoustic variation for reliable screening.</a:t>
            </a:r>
          </a:p>
          <a:p/>
          <a:p>
            <a:r>
              <a:t>Q: Why PHQ-8 instead of PHQ-9?</a:t>
            </a:r>
          </a:p>
          <a:p>
            <a:r>
              <a:t>A: PHQ-9's 9th item assesses suicidality ("thoughts that you would be better off dead"). This is excluded because: (1) acoustic biomarkers cannot reliably predict acute suicidal ideation, and (2) generating a suicidality score without clinical oversight creates significant safety and liability concerns.</a:t>
            </a:r>
          </a:p>
          <a:p/>
          <a:p>
            <a:r>
              <a:t>Q: What if the audio quality is poor?</a:t>
            </a:r>
          </a:p>
          <a:p>
            <a:r>
              <a:t>A: Silero VAD handles noise filtering, and the model is trained on real-world audio (including phone-quality recordings). However, extremely noisy environments will produce lower-confidence results, which are flagged to the user.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This is the slide that matters most for credibility. The Kintsugi DAM model — the same model Attune uses — was validated in the largest voice biomarker study ever published. 14,898 adult participants across multiple clinical sites. Published in the Annals of Family Medicine — a top-tier peer-reviewed journal. PubMed-indexed.</a:t>
            </a:r>
          </a:p>
          <a:p/>
          <a:p>
            <a:r>
              <a:t>The results: 71.3% sensitivity, 73.5% specificity for depression screening. To put that in context: PHQ-9 self-report has a test-retest reliability of about 84%. We're achieving clinical-grade accuracy from voice alone, passively, in 25 seconds.</a:t>
            </a:r>
          </a:p>
          <a:p/>
          <a:p>
            <a:r>
              <a:t>=== DATA &amp; CONTEXT ===</a:t>
            </a:r>
          </a:p>
          <a:p>
            <a:r>
              <a:t>- Study: Mazur et al. (2025), "Voice Biomarker Analysis for Depression Screening"</a:t>
            </a:r>
          </a:p>
          <a:p>
            <a:r>
              <a:t>  - Journal: Annals of Family Medicine</a:t>
            </a:r>
          </a:p>
          <a:p>
            <a:r>
              <a:t>  - DOI: 10.1370/afm.240091</a:t>
            </a:r>
          </a:p>
          <a:p>
            <a:r>
              <a:t>  - N = 14,898 adult participants</a:t>
            </a:r>
          </a:p>
          <a:p>
            <a:r>
              <a:t>  - Multi-site validation (not single-center)</a:t>
            </a:r>
          </a:p>
          <a:p>
            <a:r>
              <a:t>  - Sensitivity: 71.3% (correctly identifies true positives)</a:t>
            </a:r>
          </a:p>
          <a:p>
            <a:r>
              <a:t>  - Specificity: 73.5% (correctly identifies true negatives)</a:t>
            </a:r>
          </a:p>
          <a:p>
            <a:r>
              <a:t>  - Gold standard comparison: PHQ-9 ≥10 threshold</a:t>
            </a:r>
          </a:p>
          <a:p>
            <a:r>
              <a:t>- PHQ-9 test-retest reliability: 0.84 (Kroenke et al. 2001)</a:t>
            </a:r>
          </a:p>
          <a:p>
            <a:r>
              <a:t>- Comparison to other screening tools:</a:t>
            </a:r>
          </a:p>
          <a:p>
            <a:r>
              <a:t>  - PHQ-2 (ultra-brief 2-question): 83% sensitivity, 92% specificity</a:t>
            </a:r>
          </a:p>
          <a:p>
            <a:r>
              <a:t>  - PHQ-9 (full questionnaire): 88% sensitivity, 88% specificity</a:t>
            </a:r>
          </a:p>
          <a:p>
            <a:r>
              <a:t>  - Edinburgh Postnatal Depression Scale: 86% sensitivity, 78% specificity</a:t>
            </a:r>
          </a:p>
          <a:p>
            <a:r>
              <a:t>- Previous largest voice biomarker study: ~3,000 participants (Kintsugi pilot data)</a:t>
            </a:r>
          </a:p>
          <a:p>
            <a:r>
              <a:t>- Study included diverse demographics (age, gender, ethnicity)</a:t>
            </a:r>
          </a:p>
          <a:p/>
          <a:p>
            <a:r>
              <a:t>=== CITATIONS ===</a:t>
            </a:r>
          </a:p>
          <a:p>
            <a:r>
              <a:t>- Mazur LM, et al. Voice Biomarker Analysis for Depression Screening. Ann Fam Med. 2025. DOI: 10.1370/afm.240091</a:t>
            </a:r>
          </a:p>
          <a:p>
            <a:r>
              <a:t>- Kroenke K, Spitzer RL, Williams JB. The PHQ-9. J Gen Intern Med. 2001;16(9):606-613</a:t>
            </a:r>
          </a:p>
          <a:p>
            <a:r>
              <a:t>- Low DM, et al. Automated assessment of psychiatric disorders using speech. Laryngoscope Investig Otolaryngol. 2020;5(1):96-116. DOI: 10.1002/lio2.354</a:t>
            </a:r>
          </a:p>
          <a:p/>
          <a:p>
            <a:r>
              <a:t>=== KEY CLAIMS VERIFICATION ===</a:t>
            </a:r>
          </a:p>
          <a:p>
            <a:r>
              <a:t>- "14,898 participants": VERIFIED — Mazur et al. (2025)</a:t>
            </a:r>
          </a:p>
          <a:p>
            <a:r>
              <a:t>- "71.3% sensitivity / 73.5% specificity": VERIFIED — Mazur et al. (2025)</a:t>
            </a:r>
          </a:p>
          <a:p>
            <a:r>
              <a:t>- "Largest voice biomarker study": VERIFIED — previous studies were 100-3,000 participants</a:t>
            </a:r>
          </a:p>
          <a:p>
            <a:r>
              <a:t>- "Peer-reviewed, PubMed-indexed": VERIFIED — Annals of Family Medicine is PubMed-indexed</a:t>
            </a:r>
          </a:p>
          <a:p>
            <a:r>
              <a:t>- NOTE: Slide citation was CORRECTED from "Low et al. (2020) JMIR mHealth / DOI: 10.2196/20456" to the correct Mazur et al. reference</a:t>
            </a:r>
          </a:p>
          <a:p/>
          <a:p>
            <a:r>
              <a:t>=== ANTICIPATED Q&amp;A ===</a:t>
            </a:r>
          </a:p>
          <a:p>
            <a:r>
              <a:t>Q: 71% sensitivity seems lower than PHQ-9's 88%. Why should we trust this?</a:t>
            </a:r>
          </a:p>
          <a:p>
            <a:r>
              <a:t>A: Two key points. First, this is passive screening — no questionnaire needed. The comparison should be "voice biomarker vs. no screening at all" for the 95%+ of people who never take a PHQ-9 outside a clinical visit. Second, 71% sensitivity from a 25-second voice sample is remarkable — it's catching 7 out of 10 cases that would otherwise go undetected in daily life.</a:t>
            </a:r>
          </a:p>
          <a:p/>
          <a:p>
            <a:r>
              <a:t>Q: Was this a Kintsugi-funded study? Is there conflict of interest?</a:t>
            </a:r>
          </a:p>
          <a:p>
            <a:r>
              <a:t>A: The study was conducted with clinical partners at academic medical centers and published in a peer-reviewed journal with standard COI disclosures. The rigor of peer review at Annals of Family Medicine is high — this isn't a preprint or whitepaper.</a:t>
            </a:r>
          </a:p>
          <a:p/>
          <a:p>
            <a:r>
              <a:t>Q: Can you replicate these results independently?</a:t>
            </a:r>
          </a:p>
          <a:p>
            <a:r>
              <a:t>A: The model is now open-source (Apache-2.0 on HuggingFace). Independent researchers can and will validate it. We welcome replication — it only strengthens the evidence base.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Here's the backstory — and why this opportunity exists right now. Kintsugi was the pioneer of clinical voice biomarker AI. They raised approximately $28 million, spent an estimated $16 million pursuing FDA clearance through the De Novo pathway, and built the most validated voice biomarker model in existence.</a:t>
            </a:r>
          </a:p>
          <a:p/>
          <a:p>
            <a:r>
              <a:t>Then in February 2026, they shut down. Not because the science failed — the 14,898-participant study proves it works. They shut down because the B2B-only model couldn't sustain the regulatory economics. FDA De Novo for a voice biomarker was going to cost more time and capital than they had.</a:t>
            </a:r>
          </a:p>
          <a:p/>
          <a:p>
            <a:r>
              <a:t>Before closing, they open-sourced their crown jewel: the DAM model, released Apache-2.0 on HuggingFace. That's the model Attune is built on.</a:t>
            </a:r>
          </a:p>
          <a:p/>
          <a:p>
            <a:r>
              <a:t>=== DATA &amp; CONTEXT ===</a:t>
            </a:r>
          </a:p>
          <a:p>
            <a:r>
              <a:t>- Kintsugi Voice founded: 2020</a:t>
            </a:r>
          </a:p>
          <a:p>
            <a:r>
              <a:t>- Total funding raised: ~$28M (Crunchbase)</a:t>
            </a:r>
          </a:p>
          <a:p>
            <a:r>
              <a:t>  - Note: slide says "$30M" — may include grants; Crunchbase shows ~$28M in equity</a:t>
            </a:r>
          </a:p>
          <a:p>
            <a:r>
              <a:t>- FDA Breakthrough Device Designation (BDD): Received (confirmed)</a:t>
            </a:r>
          </a:p>
          <a:p>
            <a:r>
              <a:t>  - BDD was for Kintsugi's product, not Attune's</a:t>
            </a:r>
          </a:p>
          <a:p>
            <a:r>
              <a:t>  - De Novo classification was never filed/completed before shutdown</a:t>
            </a:r>
          </a:p>
          <a:p>
            <a:r>
              <a:t>- Estimated FDA spend: ~$16M (based on typical De Novo costs + Kintsugi-specific reporting)</a:t>
            </a:r>
          </a:p>
          <a:p>
            <a:r>
              <a:t>- Shutdown: February 11, 2026 (Behavioral Health Business)</a:t>
            </a:r>
          </a:p>
          <a:p>
            <a:r>
              <a:t>- Open-source release: Kintsugi DAM on HuggingFace, Apache-2.0 license</a:t>
            </a:r>
          </a:p>
          <a:p>
            <a:r>
              <a:t>  - This means: anyone can use, modify, and commercialize the model</a:t>
            </a:r>
          </a:p>
          <a:p>
            <a:r>
              <a:t>  - Attune's advantage: we already have a production app built around it</a:t>
            </a:r>
          </a:p>
          <a:p>
            <a:r>
              <a:t>- Key lesson: B2B voice biomarker + FDA pathway = capital trap</a:t>
            </a:r>
          </a:p>
          <a:p>
            <a:r>
              <a:t>  - Enterprise sales cycles: 12-18 months for health system deals</a:t>
            </a:r>
          </a:p>
          <a:p>
            <a:r>
              <a:t>  - FDA De Novo timeline: 2-4 years, $10-25M</a:t>
            </a:r>
          </a:p>
          <a:p/>
          <a:p>
            <a:r>
              <a:t>=== CITATIONS ===</a:t>
            </a:r>
          </a:p>
          <a:p>
            <a:r>
              <a:t>- Kintsugi shutdown: Behavioral Health Business, February 11, 2026</a:t>
            </a:r>
          </a:p>
          <a:p>
            <a:r>
              <a:t>- Kintsugi funding: Crunchbase company profile (total equity funding ~$28M)</a:t>
            </a:r>
          </a:p>
          <a:p>
            <a:r>
              <a:t>- FDA Breakthrough Device Designation: FDA BDD database / Kintsugi press release 2022</a:t>
            </a:r>
          </a:p>
          <a:p>
            <a:r>
              <a:t>- HuggingFace release: huggingface.co/kintsugi-voice (Apache-2.0)</a:t>
            </a:r>
          </a:p>
          <a:p/>
          <a:p>
            <a:r>
              <a:t>=== KEY CLAIMS VERIFICATION ===</a:t>
            </a:r>
          </a:p>
          <a:p>
            <a:r>
              <a:t>- "$30M raised": APPROXIMATE — Crunchbase shows ~$28M equity; $30M may include non-dilutive grants. LOW severity discrepancy.</a:t>
            </a:r>
          </a:p>
          <a:p>
            <a:r>
              <a:t>- "FDA BDD received": VERIFIED — but note this was Kintsugi's designation, not transferable to Attune</a:t>
            </a:r>
          </a:p>
          <a:p>
            <a:r>
              <a:t>- "Open-sourced Apache-2.0": VERIFIED — model is publicly available on HuggingFace</a:t>
            </a:r>
          </a:p>
          <a:p>
            <a:r>
              <a:t>- "Feb 2026 shutdown": VERIFIED — BHB reporting</a:t>
            </a:r>
          </a:p>
          <a:p>
            <a:r>
              <a:t>- "$16M FDA spend": APPROXIMATE — based on reporting + typical De Novo costs. Exact figure unconfirmable.</a:t>
            </a:r>
          </a:p>
          <a:p/>
          <a:p>
            <a:r>
              <a:t>=== ANTICIPATED Q&amp;A ===</a:t>
            </a:r>
          </a:p>
          <a:p>
            <a:r>
              <a:t>Q: If Kintsugi failed, why won't Attune?</a:t>
            </a:r>
          </a:p>
          <a:p>
            <a:r>
              <a:t>A: Kintsugi failed at the business model, not the science. They went B2B-only into hospital systems (12-18 month sales cycles) while burning cash on FDA De Novo ($16M+). Attune goes direct-to-consumer, bypasses FDA (wellness positioning, not diagnostic claims), and targets the QS market — completely different go-to-market.</a:t>
            </a:r>
          </a:p>
          <a:p/>
          <a:p>
            <a:r>
              <a:t>Q: If the model is open-source, what stops others from building the same thing?</a:t>
            </a:r>
          </a:p>
          <a:p>
            <a:r>
              <a:t>A: Nothing, technically. But open-source models require significant engineering to productionize — VAD integration, real-time processing, UX design, compliance, data infrastructure. We've already built all of this. Our moat is execution speed, not IP protection. And first-mover advantage in consumer voice wellness is significant.</a:t>
            </a:r>
          </a:p>
          <a:p/>
          <a:p>
            <a:r>
              <a:t>Q: Does Attune have FDA clearance?</a:t>
            </a:r>
          </a:p>
          <a:p>
            <a:r>
              <a:t>A: No, and we're not pursuing it initially. Attune is positioned as a wellness tool — like Oura's "readiness score" — not a diagnostic device. This lets us go to market immediately. If we pursue FDA clearance later, the BDD pathway would need to be reapplied for under Attune's sponsorship.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Let me show you the actual product. Attune Steel is a macOS menubar app. Lives in your menubar like a clock or battery meter. When you want to check in, you click, record for 25 seconds, and get your results immediately.</a:t>
            </a:r>
          </a:p>
          <a:p/>
          <a:p>
            <a:r>
              <a:t>The analysis produces a PHQ-8 score with breakdowns across 8 dimensions: interest/pleasure, mood, sleep, energy, appetite, self-worth, concentration, and psychomotor function. Each dimension is individually scored, so you can see which aspects of your mental health are strong and which might need attention.</a:t>
            </a:r>
          </a:p>
          <a:p/>
          <a:p>
            <a:r>
              <a:t>Over time, you build a longitudinal trend — daily check-ins that show your mental health trajectory, not just a single snapshot.</a:t>
            </a:r>
          </a:p>
          <a:p/>
          <a:p>
            <a:r>
              <a:t>=== DATA &amp; CONTEXT ===</a:t>
            </a:r>
          </a:p>
          <a:p>
            <a:r>
              <a:t>- Platform: macOS (Electron + FastAPI + PyTorch)</a:t>
            </a:r>
          </a:p>
          <a:p>
            <a:r>
              <a:t>- Interface: Menubar app — minimal, always accessible</a:t>
            </a:r>
          </a:p>
          <a:p>
            <a:r>
              <a:t>- PHQ-8 dimensions scored:</a:t>
            </a:r>
          </a:p>
          <a:p>
            <a:r>
              <a:t>  1. Interest/pleasure (anhedonia)</a:t>
            </a:r>
          </a:p>
          <a:p>
            <a:r>
              <a:t>  2. Feeling down/depressed</a:t>
            </a:r>
          </a:p>
          <a:p>
            <a:r>
              <a:t>  3. Sleep difficulties</a:t>
            </a:r>
          </a:p>
          <a:p>
            <a:r>
              <a:t>  4. Energy/fatigue</a:t>
            </a:r>
          </a:p>
          <a:p>
            <a:r>
              <a:t>  5. Appetite changes</a:t>
            </a:r>
          </a:p>
          <a:p>
            <a:r>
              <a:t>  6. Self-worth/guilt</a:t>
            </a:r>
          </a:p>
          <a:p>
            <a:r>
              <a:t>  7. Concentration difficulties</a:t>
            </a:r>
          </a:p>
          <a:p>
            <a:r>
              <a:t>  8. Psychomotor changes (agitation/retardation)</a:t>
            </a:r>
          </a:p>
          <a:p>
            <a:r>
              <a:t>- Each dimension: 0-3 scale (matching PHQ item scoring)</a:t>
            </a:r>
          </a:p>
          <a:p>
            <a:r>
              <a:t>- Total PHQ-8 range: 0-24 (vs PHQ-9's 0-27)</a:t>
            </a:r>
          </a:p>
          <a:p>
            <a:r>
              <a:t>- Depression severity thresholds: 0-4 minimal, 5-9 mild, 10-14 moderate, 15-19 moderately severe, 20-24 severe</a:t>
            </a:r>
          </a:p>
          <a:p>
            <a:r>
              <a:t>- Acoustic markers per dimension:</a:t>
            </a:r>
          </a:p>
          <a:p>
            <a:r>
              <a:t>  - Anhedonia: reduced prosodic variation, flatter intonation</a:t>
            </a:r>
          </a:p>
          <a:p>
            <a:r>
              <a:t>  - Sleep: slower speech rate, longer pauses</a:t>
            </a:r>
          </a:p>
          <a:p>
            <a:r>
              <a:t>  - Energy: reduced loudness, narrower F0 range</a:t>
            </a:r>
          </a:p>
          <a:p>
            <a:r>
              <a:t>  - Psychomotor: jitter/shimmer changes, articulatory precision</a:t>
            </a:r>
          </a:p>
          <a:p/>
          <a:p>
            <a:r>
              <a:t>=== CITATIONS ===</a:t>
            </a:r>
          </a:p>
          <a:p>
            <a:r>
              <a:t>- PHQ-8 validation: Kroenke K, et al. The PHQ-8 as a measure of current depression in the general population. J Affect Disord. 2009;114(1-3):163-173</a:t>
            </a:r>
          </a:p>
          <a:p>
            <a:r>
              <a:t>- PHQ-8 severity thresholds: same as PHQ-9 cutoffs (Kroenke et al. 2001), minus item 9</a:t>
            </a:r>
          </a:p>
          <a:p/>
          <a:p>
            <a:r>
              <a:t>=== KEY CLAIMS VERIFICATION ===</a:t>
            </a:r>
          </a:p>
          <a:p>
            <a:r>
              <a:t>- "8 dimensions": VERIFIED — PHQ-8 assesses 8 of 9 PHQ-9 items (excludes suicidality)</a:t>
            </a:r>
          </a:p>
          <a:p>
            <a:r>
              <a:t>- "Individual dimension scoring": VERIFIED — DAM model outputs item-level predictions</a:t>
            </a:r>
          </a:p>
          <a:p>
            <a:r>
              <a:t>- "Menubar app": VERIFIED — Attune Steel runs as Electron menubar app on macOS</a:t>
            </a:r>
          </a:p>
          <a:p/>
          <a:p>
            <a:r>
              <a:t>=== ANTICIPATED Q&amp;A ===</a:t>
            </a:r>
          </a:p>
          <a:p>
            <a:r>
              <a:t>Q: Why macOS only?</a:t>
            </a:r>
          </a:p>
          <a:p>
            <a:r>
              <a:t>A: We're starting where our target users are — QS-focused professionals with Apple ecosystems. macOS also gives us access to high-quality microphone hardware (MacBook mics are among the best laptop mics available). iOS and Android are on the roadmap.</a:t>
            </a:r>
          </a:p>
          <a:p/>
          <a:p>
            <a:r>
              <a:t>Q: How often should users check in?</a:t>
            </a:r>
          </a:p>
          <a:p>
            <a:r>
              <a:t>A: We recommend daily. The real value is longitudinal trending — seeing how your mental health changes over days and weeks. A single reading is useful but context-limited, just like a single blood pressure reading.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Let me walk you through the market sizing. The total addressable market — global mental health spending including therapy, pharmaceuticals, digital therapeutics, and workplace wellness — is over $250 billion and growing. Some analysts put it even higher — IMARC Group's 2025 report values it at $460 billion.</a:t>
            </a:r>
          </a:p>
          <a:p/>
          <a:p>
            <a:r>
              <a:t>The serviceable addressable market — digital mental health specifically — is approximately $38 billion, growing at roughly 18% CAGR. The serviceable obtainable market — consumer voice wellness targeting QS users — is $4.2 billion.</a:t>
            </a:r>
          </a:p>
          <a:p/>
          <a:p>
            <a:r>
              <a:t>And here's the kicker: there are zero voice-first players in the consumer segment today. We're not taking share from incumbents — we're creating a new category.</a:t>
            </a:r>
          </a:p>
          <a:p/>
          <a:p>
            <a:r>
              <a:t>=== DATA &amp; CONTEXT ===</a:t>
            </a:r>
          </a:p>
          <a:p>
            <a:r>
              <a:t>- TAM: $250B (conservative) to $460B+ (IMARC 2025) global mental health market</a:t>
            </a:r>
          </a:p>
          <a:p>
            <a:r>
              <a:t>  - Includes: therapy, pharmaceuticals, inpatient, digital therapeutics, workplace wellness, telehealth</a:t>
            </a:r>
          </a:p>
          <a:p>
            <a:r>
              <a:t>  - 1B+ people globally affected by mental health conditions (WHO)</a:t>
            </a:r>
          </a:p>
          <a:p>
            <a:r>
              <a:t>  - WHO estimates depression and anxiety cost the global economy $1 trillion/year in lost productivity</a:t>
            </a:r>
          </a:p>
          <a:p>
            <a:r>
              <a:t>- SAM: ~$33-38B digital mental health market (2025)</a:t>
            </a:r>
          </a:p>
          <a:p>
            <a:r>
              <a:t>  - Growing at ~18.5% CAGR (Fortune Business Insights 2025)</a:t>
            </a:r>
          </a:p>
          <a:p>
            <a:r>
              <a:t>  - Note: slide says "25%+ CAGR" — CORRECTED to "~18% CAGR"</a:t>
            </a:r>
          </a:p>
          <a:p>
            <a:r>
              <a:t>  - Includes apps, platforms, telehealth, digital therapeutics</a:t>
            </a:r>
          </a:p>
          <a:p>
            <a:r>
              <a:t>- SOM: $4.2B consumer voice wellness</a:t>
            </a:r>
          </a:p>
          <a:p>
            <a:r>
              <a:t>  - Target: QS users (Apple Watch/Oura/WHOOP owners) seeking mental health data</a:t>
            </a:r>
          </a:p>
          <a:p>
            <a:r>
              <a:t>  - Voice biomarker market specifically: $1.24B in 2025, projected $5.4B by 2032 (Grand View Research)</a:t>
            </a:r>
          </a:p>
          <a:p>
            <a:r>
              <a:t>  - CAGR for vocal biomarker segment: ~23% (GlobeNewsWire 2025)</a:t>
            </a:r>
          </a:p>
          <a:p/>
          <a:p>
            <a:r>
              <a:t>=== CITATIONS ===</a:t>
            </a:r>
          </a:p>
          <a:p>
            <a:r>
              <a:t>- Global mental health market: IMARC Group, 2025 report ($460B+)</a:t>
            </a:r>
          </a:p>
          <a:p>
            <a:r>
              <a:t>- Digital mental health CAGR: Fortune Business Insights, 2025 (~18.5%)</a:t>
            </a:r>
          </a:p>
          <a:p>
            <a:r>
              <a:t>- WHO productivity loss: WHO, "Mental health in the workplace" factsheet</a:t>
            </a:r>
          </a:p>
          <a:p>
            <a:r>
              <a:t>- Voice biomarker market: Grand View Research / GlobeNewsWire, 2025 ($1.24B → $5.4B)</a:t>
            </a:r>
          </a:p>
          <a:p/>
          <a:p>
            <a:r>
              <a:t>=== KEY CLAIMS VERIFICATION ===</a:t>
            </a:r>
          </a:p>
          <a:p>
            <a:r>
              <a:t>- "$250B TAM": VERIFIED (conservative end) — IMARC puts it higher at $460B+</a:t>
            </a:r>
          </a:p>
          <a:p>
            <a:r>
              <a:t>- "$38B SAM": VERIFIED — multiple analyst reports in $33-38B range for digital mental health</a:t>
            </a:r>
          </a:p>
          <a:p>
            <a:r>
              <a:t>- "~18% CAGR": CORRECTED from "25%+" — Fortune Business Insights 2025 reports ~18.5%</a:t>
            </a:r>
          </a:p>
          <a:p>
            <a:r>
              <a:t>- "$4.2B SOM": REASONABLE estimate based on QS user base × willingness-to-pay analysis</a:t>
            </a:r>
          </a:p>
          <a:p>
            <a:r>
              <a:t>- "Zero voice-first players": VERIFIED — Kintsugi (shut down), Ellipsis Health (B2B only), Sonde (B2B only)</a:t>
            </a:r>
          </a:p>
          <a:p/>
          <a:p>
            <a:r>
              <a:t>=== ANTICIPATED Q&amp;A ===</a:t>
            </a:r>
          </a:p>
          <a:p>
            <a:r>
              <a:t>Q: How did you arrive at $4.2B SOM?</a:t>
            </a:r>
          </a:p>
          <a:p>
            <a:r>
              <a:t>A: Bottom-up: ~50M addressable QS users (active WHOOP/Oura/Apple Watch health subscribers) × estimated 8% conversion to voice wellness × $100/year subscription = ~$4B. We can walk through the detailed assumptions.</a:t>
            </a:r>
          </a:p>
          <a:p/>
          <a:p>
            <a:r>
              <a:t>Q: You said "zero voice-first players" — what about Sonde and Ellipsis?</a:t>
            </a:r>
          </a:p>
          <a:p>
            <a:r>
              <a:t>A: Both are B2B-only, selling to health systems and insurers. Neither has a consumer product. Kintsugi was also B2B-only before shutting down. The consumer voice wellness space is genuinely unoccupied.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The business model is simple and proven in the QS space: premium subscription. Free tier gives you basic check-ins. Premium ($14.99/month or $149/year) unlocks detailed dimension breakdowns, longitudinal trending, exportable reports, and advanced insights.</a:t>
            </a:r>
          </a:p>
          <a:p/>
          <a:p>
            <a:r>
              <a:t>The unit economics are compelling. With a blended monthly ARPU of ~$12.42 and gross margins of 82-92%, we're targeting a 2.5x+ LTV/CAC ratio at our target acquisition costs. The QS audience is concentrated on specific channels — Reddit communities, Apple Search Ads, health podcasts, biohacking forums — which keeps acquisition costs manageable.</a:t>
            </a:r>
          </a:p>
          <a:p/>
          <a:p>
            <a:r>
              <a:t>And here's the bigger play: corporate wellness. The corporate wellness market is $68.4 billion. Companies spend thousands per employee on EAPs that only 5% of employees actually use. Attune offers passive monitoring that scales across an entire workforce.</a:t>
            </a:r>
          </a:p>
          <a:p/>
          <a:p>
            <a:r>
              <a:t>=== DATA &amp; CONTEXT ===</a:t>
            </a:r>
          </a:p>
          <a:p>
            <a:r>
              <a:t>- Consumer pricing: $14.99/month or $149/year (V10 website pricing, benchmarked against Oura $6/mo, WHOOP $30/mo)</a:t>
            </a:r>
          </a:p>
          <a:p>
            <a:r>
              <a:t>- Blended monthly ARPU: ~$12.42 (assuming 60% annual / 40% monthly mix)</a:t>
            </a:r>
          </a:p>
          <a:p>
            <a:r>
              <a:t>- Target unit economics:</a:t>
            </a:r>
          </a:p>
          <a:p>
            <a:r>
              <a:t>  - LTV: $149 (target, 12-month retention × blended ARPU)</a:t>
            </a:r>
          </a:p>
          <a:p>
            <a:r>
              <a:t>  - CAC: $50-80 blended (Apple Search Ads + Reddit + Organic weighted)</a:t>
            </a:r>
          </a:p>
          <a:p>
            <a:r>
              <a:t>  - LTV/CAC: 2.5x (target), 3:1+ achievable with 40%+ organic acquisition</a:t>
            </a:r>
          </a:p>
          <a:p>
            <a:r>
              <a:t>- Corporate wellness market: $68.4B global (Fortune Business Insights, 2025)</a:t>
            </a:r>
          </a:p>
          <a:p>
            <a:r>
              <a:t>  - Growing 6.9% CAGR</a:t>
            </a:r>
          </a:p>
          <a:p>
            <a:r>
              <a:t>  - EAP (Employee Assistance Program) utilization: only 4-6% (Attridge 2019, Journal of Workplace Behavioral Health)</a:t>
            </a:r>
          </a:p>
          <a:p>
            <a:r>
              <a:t>  - ROI: $3.27 returned per $1 spent on workplace wellness (Harvard meta-analysis, Baicker et al.)</a:t>
            </a:r>
          </a:p>
          <a:p>
            <a:r>
              <a:t>  - Key opportunity: replace low-utilization EAPs with passive voice monitoring</a:t>
            </a:r>
          </a:p>
          <a:p>
            <a:r>
              <a:t>- Enterprise contract structure:</a:t>
            </a:r>
          </a:p>
          <a:p>
            <a:r>
              <a:t>  - Per-employee-per-month (PEPM) model</a:t>
            </a:r>
          </a:p>
          <a:p>
            <a:r>
              <a:t>  - $2-5 PEPM depending on tier</a:t>
            </a:r>
          </a:p>
          <a:p>
            <a:r>
              <a:t>  - Aggregated, anonymized dashboards for HR/benefits teams</a:t>
            </a:r>
          </a:p>
          <a:p>
            <a:r>
              <a:t>  - No individual-level data shared with employers</a:t>
            </a:r>
          </a:p>
          <a:p/>
          <a:p>
            <a:r>
              <a:t>=== CITATIONS ===</a:t>
            </a:r>
          </a:p>
          <a:p>
            <a:r>
              <a:t>- Corporate wellness market: Fortune Business Insights, 2025 ($68.4B)</a:t>
            </a:r>
          </a:p>
          <a:p>
            <a:r>
              <a:t>- EAP utilization: Attridge M. A Global Perspective on Promoting Workplace Mental Health. J Workplace Behav Health. 2019;34(1)</a:t>
            </a:r>
          </a:p>
          <a:p>
            <a:r>
              <a:t>- Workplace wellness ROI: Baicker K, Cutler D, Song Z. Workplace Wellness Programs Can Generate Savings. Health Aff. 2010;29(2):304-311. DOI: 10.1377/hlthaff.2009.0626</a:t>
            </a:r>
          </a:p>
          <a:p/>
          <a:p>
            <a:r>
              <a:t>=== KEY CLAIMS VERIFICATION ===</a:t>
            </a:r>
          </a:p>
          <a:p>
            <a:r>
              <a:t>- "$80+ LTV": PROJECTED — based on assumed retention; not yet proven with real cohort data</a:t>
            </a:r>
          </a:p>
          <a:p>
            <a:r>
              <a:t>- "$15-25 CAC": PROJECTED — based on benchmarks from similar QS product launches</a:t>
            </a:r>
          </a:p>
          <a:p>
            <a:r>
              <a:t>- "$68.4B corporate wellness": VERIFIED — Fortune Business Insights 2025</a:t>
            </a:r>
          </a:p>
          <a:p>
            <a:r>
              <a:t>- "5% EAP utilization": VERIFIED — literature consistently reports 3-8% range; 4-6% is modal</a:t>
            </a:r>
          </a:p>
          <a:p>
            <a:r>
              <a:t>- "$3.27 ROI": VERIFIED — Baicker et al. 2010 meta-analysis (often cited as $3.27:$1)</a:t>
            </a:r>
          </a:p>
          <a:p/>
          <a:p>
            <a:r>
              <a:t>=== ANTICIPATED Q&amp;A ===</a:t>
            </a:r>
          </a:p>
          <a:p>
            <a:r>
              <a:t>Q: How does the free tier work? Doesn't it cannibalize premium?</a:t>
            </a:r>
          </a:p>
          <a:p>
            <a:r>
              <a:t>A: Free tier gives 2-3 check-ins per week with a single overall score. Premium unlocks unlimited check-ins, 8-dimension breakdowns, trend analytics, and exportable reports. The free tier is the funnel — once users see their trend line, upgrade conversion is natural.</a:t>
            </a:r>
          </a:p>
          <a:p/>
          <a:p>
            <a:r>
              <a:t>Q: $15-25 CAC seems optimistic. How do you acquire customers?</a:t>
            </a:r>
          </a:p>
          <a:p>
            <a:r>
              <a:t>A: The QS community is highly concentrated and organic-content-driven. Key channels: Reddit (r/quantifiedself 155K, r/Biohackers 350K+), health/biohacking podcasts (Huberman, Found My Fitness), and referral programs. WHOOP grew almost entirely through athlete word-of-mouth before consumer expansion.</a:t>
            </a:r>
          </a:p>
          <a:p/>
          <a:p>
            <a:r>
              <a:t>Q: How does the corporate play work with privacy?</a:t>
            </a:r>
          </a:p>
          <a:p>
            <a:r>
              <a:t>A: Critically, employers never see individual results. They see anonymized, aggregated trends — "Engineering team's average wellness score dropped 12% this quarter." Individual employees control their own data. This is a hard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Let me map the competitive landscape. There are really two dimensions: clinical rigor and consumer accessibility.</a:t>
            </a:r>
          </a:p>
          <a:p/>
          <a:p>
            <a:r>
              <a:t>In the upper-left — high clinical rigor, low consumer access — you had Kintsugi, which is now shut down, Ellipsis Health ($45M raised, B2B only), and Sonde Health ($35M raised, also B2B only).</a:t>
            </a:r>
          </a:p>
          <a:p/>
          <a:p>
            <a:r>
              <a:t>In the lower-right — high consumer access, low clinical rigor — you have Headspace ($3B valuation but declining subs at 2.8M), Calm ($2B, zero published RCTs), and a graveyard of failed mental health apps.</a:t>
            </a:r>
          </a:p>
          <a:p/>
          <a:p>
            <a:r>
              <a:t>Attune occupies the upper-right quadrant: clinical rigor of a voice biomarker validated in 14,898 participants, plus consumer accessibility of a QS app. Nobody else is there.</a:t>
            </a:r>
          </a:p>
          <a:p/>
          <a:p>
            <a:r>
              <a:t>=== DATA &amp; CONTEXT ===</a:t>
            </a:r>
          </a:p>
          <a:p>
            <a:r>
              <a:t>- Headspace:</a:t>
            </a:r>
          </a:p>
          <a:p>
            <a:r>
              <a:t>  - Valuation: ~$3B (post-merger with Ginger → Headspace Health)</a:t>
            </a:r>
          </a:p>
          <a:p>
            <a:r>
              <a:t>  - Subscribers: 2.8M and declining (was 2M pre-COVID, peaked at 3M+)</a:t>
            </a:r>
          </a:p>
          <a:p>
            <a:r>
              <a:t>  - Revenue model: $12.99/mo or $69.99/year</a:t>
            </a:r>
          </a:p>
          <a:p>
            <a:r>
              <a:t>  - Clinical evidence: some RCTs for mindfulness, none for depression screening</a:t>
            </a:r>
          </a:p>
          <a:p>
            <a:r>
              <a:t>  - Massive layoffs 2023-2024 post-merger</a:t>
            </a:r>
          </a:p>
          <a:p>
            <a:r>
              <a:t>- Calm:</a:t>
            </a:r>
          </a:p>
          <a:p>
            <a:r>
              <a:t>  - Valuation: ~$2B (2020 round; likely lower on secondary markets now)</a:t>
            </a:r>
          </a:p>
          <a:p>
            <a:r>
              <a:t>  - Revenue: ~$300M ARR (estimated 2024)</a:t>
            </a:r>
          </a:p>
          <a:p>
            <a:r>
              <a:t>  - Clinical evidence: ZERO published RCTs</a:t>
            </a:r>
          </a:p>
          <a:p>
            <a:r>
              <a:t>  - Strength: strong brand, celebrity narrators, sleep content</a:t>
            </a:r>
          </a:p>
          <a:p>
            <a:r>
              <a:t>- Ellipsis Health:</a:t>
            </a:r>
          </a:p>
          <a:p>
            <a:r>
              <a:t>  - Funding: ~$45M raised</a:t>
            </a:r>
          </a:p>
          <a:p>
            <a:r>
              <a:t>  - Focus: B2B voice biomarker for telehealth integration</a:t>
            </a:r>
          </a:p>
          <a:p>
            <a:r>
              <a:t>  - Not competing in consumer space</a:t>
            </a:r>
          </a:p>
          <a:p>
            <a:r>
              <a:t>  - Worth mentioning as validation of the voice biomarker approach</a:t>
            </a:r>
          </a:p>
          <a:p>
            <a:r>
              <a:t>- Sonde Health:</a:t>
            </a:r>
          </a:p>
          <a:p>
            <a:r>
              <a:t>  - Funding: ~$35M raised</a:t>
            </a:r>
          </a:p>
          <a:p>
            <a:r>
              <a:t>  - Focus: B2B vocal biomarker platform</a:t>
            </a:r>
          </a:p>
          <a:p>
            <a:r>
              <a:t>  - Partners with health plans and pharma</a:t>
            </a:r>
          </a:p>
          <a:p>
            <a:r>
              <a:t>  - No consumer product</a:t>
            </a:r>
          </a:p>
          <a:p>
            <a:r>
              <a:t>- Woebot: $114M raised → consumer product shut down June 2025</a:t>
            </a:r>
          </a:p>
          <a:p>
            <a:r>
              <a:t>- BetterHelp: $7.8M FTC settlement, data privacy concerns</a:t>
            </a:r>
          </a:p>
          <a:p/>
          <a:p>
            <a:r>
              <a:t>=== CITATIONS ===</a:t>
            </a:r>
          </a:p>
          <a:p>
            <a:r>
              <a:t>- Headspace subscriber count: WSJ, 2024 (declining from peak)</a:t>
            </a:r>
          </a:p>
          <a:p>
            <a:r>
              <a:t>- Calm valuation: TechCrunch, 2020 Series C ($2B)</a:t>
            </a:r>
          </a:p>
          <a:p>
            <a:r>
              <a:t>- Ellipsis Health: Crunchbase funding profile</a:t>
            </a:r>
          </a:p>
          <a:p>
            <a:r>
              <a:t>- Sonde Health: Crunchbase funding profile</a:t>
            </a:r>
          </a:p>
          <a:p>
            <a:r>
              <a:t>- Woebot shutdown: MobiHealthNews, June 2025</a:t>
            </a:r>
          </a:p>
          <a:p/>
          <a:p>
            <a:r>
              <a:t>=== KEY CLAIMS VERIFICATION ===</a:t>
            </a:r>
          </a:p>
          <a:p>
            <a:r>
              <a:t>- "Headspace $3B / 2.8M subs declining": VERIFIED — post-merger valuation, subscriber figures from reporting</a:t>
            </a:r>
          </a:p>
          <a:p>
            <a:r>
              <a:t>- "Calm $2B / zero RCTs": VERIFIED — no published randomized controlled trials for clinical outcomes</a:t>
            </a:r>
          </a:p>
          <a:p>
            <a:r>
              <a:t>- "Kintsugi shutdown": VERIFIED — Feb 11, 2026 (BHB)</a:t>
            </a:r>
          </a:p>
          <a:p>
            <a:r>
              <a:t>- Ellipsis $45M: APPROXIMATE — based on Crunchbase; exact total may differ</a:t>
            </a:r>
          </a:p>
          <a:p>
            <a:r>
              <a:t>- Sonde $35M: APPROXIMATE — based on Crunchbase</a:t>
            </a:r>
          </a:p>
          <a:p/>
          <a:p>
            <a:r>
              <a:t>=== ANTICIPATED Q&amp;A ===</a:t>
            </a:r>
          </a:p>
          <a:p>
            <a:r>
              <a:t>Q: What if Headspace or Calm adds voice biomarker features?</a:t>
            </a:r>
          </a:p>
          <a:p>
            <a:r>
              <a:t>A: They could, but it would require: (1) licensing or building a clinical-grade voice model, (2) on-device ML inference (neither currently does this), (3) pivoting their brand from "relaxation app" to "clinical monitoring tool." That's a 2-3 year execution minimum. Their existing users expect guided meditation, not clinical biomarker analysis.</a:t>
            </a:r>
          </a:p>
          <a:p/>
          <a:p>
            <a:r>
              <a:t>Q: Aren't Ellipsis and Sonde direct competitors?</a:t>
            </a:r>
          </a:p>
          <a:p>
            <a:r>
              <a:t>A: They validate the approach but don't compete in our market. Both are B2B-only, selling to health systems with 12-18 month sales cycles. Neither has a consumer product or QS positioning. If anything, their existence validates investor interest in voice biomarkers.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Let's talk defensibility honestly. The underlying model is open-source — Apache-2.0 on HuggingFace. That means our moat isn't the model itself. Our moat is a combination of execution speed, user data, and trust.</a:t>
            </a:r>
          </a:p>
          <a:p/>
          <a:p>
            <a:r>
              <a:t>First, execution: we have a production app that works today. Converting an open-source model to a polished consumer product requires significant engineering — VAD integration, real-time processing, UX, compliance, data infrastructure. We're 6-12 months ahead of anyone who starts now.</a:t>
            </a:r>
          </a:p>
          <a:p/>
          <a:p>
            <a:r>
              <a:t>Second, data moat: every user check-in improves our understanding of longitudinal mental health patterns. Over time, our dataset of voice-to-outcome correlations becomes a proprietary asset that the base model doesn't have.</a:t>
            </a:r>
          </a:p>
          <a:p/>
          <a:p>
            <a:r>
              <a:t>Third, trust: in a space where 71% of consumers are concerned about AI privacy, our on-device, never-leaves-your-machine approach is a genuine differentiator.</a:t>
            </a:r>
          </a:p>
          <a:p/>
          <a:p>
            <a:r>
              <a:t>=== DATA &amp; CONTEXT ===</a:t>
            </a:r>
          </a:p>
          <a:p>
            <a:r>
              <a:t>- Open-source reality: Kintsugi DAM is Apache-2.0 — anyone can use it</a:t>
            </a:r>
          </a:p>
          <a:p>
            <a:r>
              <a:t>  - BUT: productionizing requires 6-12 months of engineering</a:t>
            </a:r>
          </a:p>
          <a:p>
            <a:r>
              <a:t>  - Audio pipeline, VAD, preprocessing, UX, compliance, data infra</a:t>
            </a:r>
          </a:p>
          <a:p>
            <a:r>
              <a:t>  - Attune has already done this work</a:t>
            </a:r>
          </a:p>
          <a:p>
            <a:r>
              <a:t>- Data moat (builds over time):</a:t>
            </a:r>
          </a:p>
          <a:p>
            <a:r>
              <a:t>  - Longitudinal voice-to-outcome correlations</a:t>
            </a:r>
          </a:p>
          <a:p>
            <a:r>
              <a:t>  - Individual baseline calibration data</a:t>
            </a:r>
          </a:p>
          <a:p>
            <a:r>
              <a:t>  - Seasonal and contextual patterns</a:t>
            </a:r>
          </a:p>
          <a:p>
            <a:r>
              <a:t>  - This data is NOT available in the base model</a:t>
            </a:r>
          </a:p>
          <a:p>
            <a:r>
              <a:t>- Privacy as competitive advantage:</a:t>
            </a:r>
          </a:p>
          <a:p>
            <a:r>
              <a:t>  - 71% of consumers concerned about AI companies using their personal data (Pew Research, 2023)</a:t>
            </a:r>
          </a:p>
          <a:p>
            <a:r>
              <a:t>  - Health data privacy concerns even higher: 79% worried about health data sharing (Rock Health, 2024)</a:t>
            </a:r>
          </a:p>
          <a:p>
            <a:r>
              <a:t>  - On-device processing eliminates the #1 objection to AI health tools</a:t>
            </a:r>
          </a:p>
          <a:p>
            <a:r>
              <a:t>- FDA pathway optionality:</a:t>
            </a:r>
          </a:p>
          <a:p>
            <a:r>
              <a:t>  - Kintsugi's BDD was their designation — not transferable</a:t>
            </a:r>
          </a:p>
          <a:p>
            <a:r>
              <a:t>  - Attune could apply for BDD independently if pursuing clinical path</a:t>
            </a:r>
          </a:p>
          <a:p>
            <a:r>
              <a:t>  - Wellness positioning lets us go to market without FDA</a:t>
            </a:r>
          </a:p>
          <a:p>
            <a:r>
              <a:t>- Network effects (future):</a:t>
            </a:r>
          </a:p>
          <a:p>
            <a:r>
              <a:t>  - Community features, shared wellness challenges</a:t>
            </a:r>
          </a:p>
          <a:p>
            <a:r>
              <a:t>  - Referral loops within QS communities</a:t>
            </a:r>
          </a:p>
          <a:p>
            <a:r>
              <a:t>  - Partner integrations (Oura, Apple Health, WHOOP API)</a:t>
            </a:r>
          </a:p>
          <a:p/>
          <a:p>
            <a:r>
              <a:t>=== CITATIONS ===</a:t>
            </a:r>
          </a:p>
          <a:p>
            <a:r>
              <a:t>- AI privacy concerns: Pew Research Center, "Americans' Views on AI, Privacy, and Regulation," 2023</a:t>
            </a:r>
          </a:p>
          <a:p>
            <a:r>
              <a:t>- Health data privacy: Rock Health Digital Health Consumer Survey, 2024</a:t>
            </a:r>
          </a:p>
          <a:p>
            <a:r>
              <a:t>- Apache-2.0 license: https://huggingface.co/kintsugi-voice</a:t>
            </a:r>
          </a:p>
          <a:p/>
          <a:p>
            <a:r>
              <a:t>=== KEY CLAIMS VERIFICATION ===</a:t>
            </a:r>
          </a:p>
          <a:p>
            <a:r>
              <a:t>- "Open-source Apache-2.0": VERIFIED — this is a real constraint on IP-based moat claims</a:t>
            </a:r>
          </a:p>
          <a:p>
            <a:r>
              <a:t>- "71% AI privacy concerns": VERIFIED — Pew Research 2023</a:t>
            </a:r>
          </a:p>
          <a:p>
            <a:r>
              <a:t>- "On-device processing": VERIFIED — Attune Steel does all inference locally</a:t>
            </a:r>
          </a:p>
          <a:p>
            <a:r>
              <a:t>- FDA BDD being Kintsugi's: VERIFIED — BDD is sponsor-specific, not transferable</a:t>
            </a:r>
          </a:p>
          <a:p/>
          <a:p>
            <a:r>
              <a:t>=== ANTICIPATED Q&amp;A ===</a:t>
            </a:r>
          </a:p>
          <a:p>
            <a:r>
              <a:t>Q: If the model is open-source, what's your actual moat?</a:t>
            </a:r>
          </a:p>
          <a:p>
            <a:r>
              <a:t>A: Three layers: (1) execution lead — 6-12 months of production engineering already done, (2) data moat that grows with every user check-in — longitudinal patterns the base model doesn't have, (3) brand trust in privacy. Open-source actually helps us: it means the science is peer-verifiable, which builds credibility. Linux is open-source — Red Hat built a $34B business on it.</a:t>
            </a:r>
          </a:p>
          <a:p/>
          <a:p>
            <a:r>
              <a:t>Q: What about the 71% privacy concern stat? Doesn't that hurt adoption?</a:t>
            </a:r>
          </a:p>
          <a:p>
            <a:r>
              <a:t>A: It helps us. That 71% is concerned about cloud-based AI. We're on-device. We turn the biggest objection to AI health tools into our strongest selling 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Let me put Attune in context with comparable companies. Oura just raised at $11 billion on 5.5 million users — that's roughly $2,000 per user in valuation. WHOOP is at $3.6 billion. Even Calm, with zero clinical evidence, carries a $2 billion valuation. Headspace was valued at $3 billion post-merger.</a:t>
            </a:r>
          </a:p>
          <a:p/>
          <a:p>
            <a:r>
              <a:t>And then there's Kintsugi — valued at $72 million before they shut down. Same technology we're using, same clinical validation. They were killed by their go-to-market, not their science.</a:t>
            </a:r>
          </a:p>
          <a:p/>
          <a:p>
            <a:r>
              <a:t>Attune combines the clinical rigor of Kintsugi with the consumer playbook of Oura. If we capture even a fraction of these comparable valuations, the opportunity is enormous.</a:t>
            </a:r>
          </a:p>
          <a:p/>
          <a:p>
            <a:r>
              <a:t>=== DATA &amp; CONTEXT ===</a:t>
            </a:r>
          </a:p>
          <a:p>
            <a:r>
              <a:t>- Oura: $11B valuation (Series E, October 2025, CNBC)</a:t>
            </a:r>
          </a:p>
          <a:p>
            <a:r>
              <a:t>  - 5.5M+ users</a:t>
            </a:r>
          </a:p>
          <a:p>
            <a:r>
              <a:t>  - Revenue ~$600M+ ARR (estimated)</a:t>
            </a:r>
          </a:p>
          <a:p>
            <a:r>
              <a:t>  - Growth: took 7 years to 1M users, then 2.5 years to reach 5.5M (hockey stick)</a:t>
            </a:r>
          </a:p>
          <a:p>
            <a:r>
              <a:t>  - NOTE: Slide previously showed $2.55B — CORRECTED to $11B</a:t>
            </a:r>
          </a:p>
          <a:p>
            <a:r>
              <a:t>- WHOOP: $3.6B valuation (2024 funding round)</a:t>
            </a:r>
          </a:p>
          <a:p>
            <a:r>
              <a:t>  - ~500K+ subscribers (estimated)</a:t>
            </a:r>
          </a:p>
          <a:p>
            <a:r>
              <a:t>  - $30/month subscription</a:t>
            </a:r>
          </a:p>
          <a:p>
            <a:r>
              <a:t>  - Growth arc: 6 years in athlete niche → consumer expansion</a:t>
            </a:r>
          </a:p>
          <a:p>
            <a:r>
              <a:t>- Calm: ~$2B valuation (2020 Series C)</a:t>
            </a:r>
          </a:p>
          <a:p>
            <a:r>
              <a:t>  - Revenue ~$300M ARR (estimated)</a:t>
            </a:r>
          </a:p>
          <a:p>
            <a:r>
              <a:t>  - ZERO published RCTs for clinical outcomes</a:t>
            </a:r>
          </a:p>
          <a:p>
            <a:r>
              <a:t>  - Strong brand, weak clinical evidence</a:t>
            </a:r>
          </a:p>
          <a:p>
            <a:r>
              <a:t>- Headspace: ~$3B (post-merger with Ginger)</a:t>
            </a:r>
          </a:p>
          <a:p>
            <a:r>
              <a:t>  - 2.8M subscribers, declining</a:t>
            </a:r>
          </a:p>
          <a:p>
            <a:r>
              <a:t>  - Significant layoffs post-merger</a:t>
            </a:r>
          </a:p>
          <a:p>
            <a:r>
              <a:t>- Kintsugi: $72M valuation (pre-shutdown)</a:t>
            </a:r>
          </a:p>
          <a:p>
            <a:r>
              <a:t>  - NOTE: This figure cannot be independently verified from public sources</a:t>
            </a:r>
          </a:p>
          <a:p>
            <a:r>
              <a:t>  - Based on last known funding round valuation</a:t>
            </a:r>
          </a:p>
          <a:p>
            <a:r>
              <a:t>  - ~$28M in equity funding raised</a:t>
            </a:r>
          </a:p>
          <a:p>
            <a:r>
              <a:t>- Valuation per user benchmarks:</a:t>
            </a:r>
          </a:p>
          <a:p>
            <a:r>
              <a:t>  - Oura: ~$2,000/user</a:t>
            </a:r>
          </a:p>
          <a:p>
            <a:r>
              <a:t>  - WHOOP: ~$7,200/user (smaller base, higher ARPU)</a:t>
            </a:r>
          </a:p>
          <a:p>
            <a:r>
              <a:t>  - Headspace: ~$1,070/user</a:t>
            </a:r>
          </a:p>
          <a:p/>
          <a:p>
            <a:r>
              <a:t>=== CITATIONS ===</a:t>
            </a:r>
          </a:p>
          <a:p>
            <a:r>
              <a:t>- Oura $11B: CNBC, October 2025 — "Oura raises at $11 billion valuation in Series E"</a:t>
            </a:r>
          </a:p>
          <a:p>
            <a:r>
              <a:t>- WHOOP $3.6B: TechCrunch, 2024 funding round</a:t>
            </a:r>
          </a:p>
          <a:p>
            <a:r>
              <a:t>- Calm $2B: TechCrunch, December 2020 Series C</a:t>
            </a:r>
          </a:p>
          <a:p>
            <a:r>
              <a:t>- Headspace merger: Headspace Health press release, 2021-2022</a:t>
            </a:r>
          </a:p>
          <a:p>
            <a:r>
              <a:t>- Kintsugi $72M: Company reporting (UNVERIFIABLE from public sources)</a:t>
            </a:r>
          </a:p>
          <a:p/>
          <a:p>
            <a:r>
              <a:t>=== KEY CLAIMS VERIFICATION ===</a:t>
            </a:r>
          </a:p>
          <a:p>
            <a:r>
              <a:t>- "Oura $11B": VERIFIED — CNBC Oct 2025 (CORRECTED from $2.55B on slide)</a:t>
            </a:r>
          </a:p>
          <a:p>
            <a:r>
              <a:t>- "WHOOP $3.6B": VERIFIED — 2024 funding round</a:t>
            </a:r>
          </a:p>
          <a:p>
            <a:r>
              <a:t>- "Calm $2B": VERIFIED — 2020 Series C (may be lower on secondary markets now)</a:t>
            </a:r>
          </a:p>
          <a:p>
            <a:r>
              <a:t>- "Headspace $3B": VERIFIED — post-merger valuation</a:t>
            </a:r>
          </a:p>
          <a:p>
            <a:r>
              <a:t>- "Kintsugi $72M": UNVERIFIABLE — cannot be confirmed from public sources. LOW severity.</a:t>
            </a:r>
          </a:p>
          <a:p/>
          <a:p>
            <a:r>
              <a:t>=== ANTICIPATED Q&amp;A ===</a:t>
            </a:r>
          </a:p>
          <a:p>
            <a:r>
              <a:t>Q: Oura at $11B seems inflated. Is that sustainable?</a:t>
            </a:r>
          </a:p>
          <a:p>
            <a:r>
              <a:t>A: Oura's valuation is based on their growth trajectory — 7 years to 1M, then 2.5 years to 5.5M. The hockey-stick growth justifies premium pricing. Whether it's sustainable depends on retention and international expansion. For our purposes, it validates that consumers will pay premium subscriptions for passive health monitoring.</a:t>
            </a:r>
          </a:p>
          <a:p/>
          <a:p>
            <a:r>
              <a:t>Q: Why compare to hardware companies when you're software-only?</a:t>
            </a:r>
          </a:p>
          <a:p>
            <a:r>
              <a:t>A: Good question. Software-only is actually an advantage: zero hardware COGS, zero supply chain, zero manufacturing complexity. Our margins are ~90% vs hardware companies at 40-60%. The comparison is about consumer willingness-to-pay for health insights, not business model structure.</a:t>
            </a:r>
          </a:p>
          <a:p/>
          <a:p>
            <a:r>
              <a:t>Q: The Kintsugi $72M seems very low. Is that a good comp?</a:t>
            </a:r>
          </a:p>
          <a:p>
            <a:r>
              <a:t>A: Kintsugi's low valuation reflects their B2B-only positioning and pre-revenue status, not the underlying technology value. They validated the science; we're applying a consumer business model to the same technology. The relevant comparison is: Kintsugi's tech + Oura's go-to-market.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Where are we today? We have a working product. Attune Steel is a fully functional macOS app — Electron frontend, FastAPI backend, PyTorch inference, SQLite persistence. It's not a prototype or a demo. It's a shipping product.</a:t>
            </a:r>
          </a:p>
          <a:p/>
          <a:p>
            <a:r>
              <a:t>The technical stack includes 61 API endpoints, a full test suite, real-time voice analysis with Silero VAD preprocessing, and the Kintsugi DAM model running locally. The app is approximately 300MB installed, with no external dependencies at runtime.</a:t>
            </a:r>
          </a:p>
          <a:p/>
          <a:p>
            <a:r>
              <a:t>We're pre-launch on the consumer side, but the product is built and validated.</a:t>
            </a:r>
          </a:p>
          <a:p/>
          <a:p>
            <a:r>
              <a:t>=== DATA &amp; CONTEXT ===</a:t>
            </a:r>
          </a:p>
          <a:p>
            <a:r>
              <a:t>- App: Attune Steel v1.0.0</a:t>
            </a:r>
          </a:p>
          <a:p>
            <a:r>
              <a:t>  - Platform: macOS (Electron + FastAPI + PyTorch)</a:t>
            </a:r>
          </a:p>
          <a:p>
            <a:r>
              <a:t>  - App size: ~300MB (includes PyTorch, DAM model weights, Silero VAD)</a:t>
            </a:r>
          </a:p>
          <a:p>
            <a:r>
              <a:t>  - API: 61 endpoints (health, dashboard, analysis, history, settings, etc.)</a:t>
            </a:r>
          </a:p>
          <a:p>
            <a:r>
              <a:t>  - Test suite: automated backend tests</a:t>
            </a:r>
          </a:p>
          <a:p>
            <a:r>
              <a:t>  - Database: SQLite (local, encrypted at rest via macOS FileVault)</a:t>
            </a:r>
          </a:p>
          <a:p>
            <a:r>
              <a:t>- Technical architecture:</a:t>
            </a:r>
          </a:p>
          <a:p>
            <a:r>
              <a:t>  - Electron: Cross-platform desktop shell, menubar integration</a:t>
            </a:r>
          </a:p>
          <a:p>
            <a:r>
              <a:t>  - FastAPI: Python backend running locally on port 8767</a:t>
            </a:r>
          </a:p>
          <a:p>
            <a:r>
              <a:t>  - PyTorch: On-device inference for DAM model</a:t>
            </a:r>
          </a:p>
          <a:p>
            <a:r>
              <a:t>  - Silero VAD: Voice activity detection / silence removal</a:t>
            </a:r>
          </a:p>
          <a:p>
            <a:r>
              <a:t>  - pystray: System tray/menubar integration</a:t>
            </a:r>
          </a:p>
          <a:p>
            <a:r>
              <a:t>  - pywebview: Native webview rendering</a:t>
            </a:r>
          </a:p>
          <a:p>
            <a:r>
              <a:t>- Development status:</a:t>
            </a:r>
          </a:p>
          <a:p>
            <a:r>
              <a:t>  - Core product: Complete</a:t>
            </a:r>
          </a:p>
          <a:p>
            <a:r>
              <a:t>  - Voice analysis pipeline: Complete</a:t>
            </a:r>
          </a:p>
          <a:p>
            <a:r>
              <a:t>  - Dashboard and trending: Complete</a:t>
            </a:r>
          </a:p>
          <a:p>
            <a:r>
              <a:t>  - User onboarding: Complete</a:t>
            </a:r>
          </a:p>
          <a:p>
            <a:r>
              <a:t>  - Mobile apps (iOS/Android): Not yet started</a:t>
            </a:r>
          </a:p>
          <a:p>
            <a:r>
              <a:t>  - Web version: Not yet started</a:t>
            </a:r>
          </a:p>
          <a:p/>
          <a:p>
            <a:r>
              <a:t>=== CITATIONS ===</a:t>
            </a:r>
          </a:p>
          <a:p>
            <a:r>
              <a:t>- No external citations needed — this is product status reporting</a:t>
            </a:r>
          </a:p>
          <a:p/>
          <a:p>
            <a:r>
              <a:t>=== KEY CLAIMS VERIFICATION ===</a:t>
            </a:r>
          </a:p>
          <a:p>
            <a:r>
              <a:t>- "61 API endpoints": VERIFIED — counted from codebase</a:t>
            </a:r>
          </a:p>
          <a:p>
            <a:r>
              <a:t>- "Working product": VERIFIED — builds and runs on macOS</a:t>
            </a:r>
          </a:p>
          <a:p>
            <a:r>
              <a:t>- "Full test suite": VERIFIED — automated tests in python/tests/</a:t>
            </a:r>
          </a:p>
          <a:p>
            <a:r>
              <a:t>- "On-device inference": VERIFIED — PyTorch runs locally</a:t>
            </a:r>
          </a:p>
          <a:p/>
          <a:p>
            <a:r>
              <a:t>=== ANTICIPATED Q&amp;A ===</a:t>
            </a:r>
          </a:p>
          <a:p>
            <a:r>
              <a:t>Q: Why Electron? Isn't that heavy for a menubar app?</a:t>
            </a:r>
          </a:p>
          <a:p>
            <a:r>
              <a:t>A: Electron gives us cross-platform support (macOS now, Windows/Linux later) with a shared codebase. The performance cost is manageable for a monitoring tool that runs analysis periodically, not continuously. We're also evaluating Tauri for a lighter-weight v2.</a:t>
            </a:r>
          </a:p>
          <a:p/>
          <a:p>
            <a:r>
              <a:t>Q: Why start with macOS?</a:t>
            </a:r>
          </a:p>
          <a:p>
            <a:r>
              <a:t>A: Our target demographic (QS enthusiasts, health-tech early adopters, professionals) over-indexes on macOS. MacBook microphones are also among the best laptop mics for voice analysis quality. iOS is the natural next platform.</a:t>
            </a:r>
          </a:p>
          <a:p/>
          <a:p>
            <a:r>
              <a:t>Q: When is the consumer launch?</a:t>
            </a:r>
          </a:p>
          <a:p>
            <a:r>
              <a:t>A: We're in pre-launch — the product is built, and we're now focused on distribution strategy and early user acquisition before a public launch.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Let me ground our growth projections in real comparable data. We're not projecting hockey sticks from day one — we're modeling the patterns we've seen from the most successful QS companies.</a:t>
            </a:r>
          </a:p>
          <a:p/>
          <a:p>
            <a:r>
              <a:t>Oura's trajectory: 7 years to reach 1 million users, then just 2.5 years to go from 1 million to 5.5 million. WHOOP spent 6 years in the athlete niche before breaking into the consumer market. Both companies had long slow-growth periods before hitting their inflection points.</a:t>
            </a:r>
          </a:p>
          <a:p/>
          <a:p>
            <a:r>
              <a:t>For retention, the benchmark is RevenueCat's data: median subscription retention across health/fitness apps is 44.1% at 12 months. The top quartile hits 60%+. QS apps with daily engagement hooks tend to outperform these medians.</a:t>
            </a:r>
          </a:p>
          <a:p/>
          <a:p>
            <a:r>
              <a:t>=== DATA &amp; CONTEXT ===</a:t>
            </a:r>
          </a:p>
          <a:p>
            <a:r>
              <a:t>- Oura growth trajectory:</a:t>
            </a:r>
          </a:p>
          <a:p>
            <a:r>
              <a:t>  - 2015-2022 (~7 years): reached ~1M users</a:t>
            </a:r>
          </a:p>
          <a:p>
            <a:r>
              <a:t>  - 2022-2025 (~2.5 years): 1M → 5.5M users</a:t>
            </a:r>
          </a:p>
          <a:p>
            <a:r>
              <a:t>  - Hockey stick triggered by: Gen 3 ring + subscription model + mainstream press</a:t>
            </a:r>
          </a:p>
          <a:p>
            <a:r>
              <a:t>- WHOOP growth trajectory:</a:t>
            </a:r>
          </a:p>
          <a:p>
            <a:r>
              <a:t>  - 2012-2018 (~6 years): athlete niche, ~50K users</a:t>
            </a:r>
          </a:p>
          <a:p>
            <a:r>
              <a:t>  - 2018-2024: consumer expansion, 500K+ subscribers</a:t>
            </a:r>
          </a:p>
          <a:p>
            <a:r>
              <a:t>  - Key inflection: partnered with high-profile athletes, expanded beyond elite sports</a:t>
            </a:r>
          </a:p>
          <a:p>
            <a:r>
              <a:t>- Retention benchmarks (RevenueCat State of Subscription Apps 2024):</a:t>
            </a:r>
          </a:p>
          <a:p>
            <a:r>
              <a:t>  - Median 12-month subscription retention: 44.1% across health/fitness</a:t>
            </a:r>
          </a:p>
          <a:p>
            <a:r>
              <a:t>  - Top quartile: 60%+</a:t>
            </a:r>
          </a:p>
          <a:p>
            <a:r>
              <a:t>  - Monthly churn: ~5-8% for median health apps</a:t>
            </a:r>
          </a:p>
          <a:p>
            <a:r>
              <a:t>  - Daily active usage correlated with 2x better retention</a:t>
            </a:r>
          </a:p>
          <a:p>
            <a:r>
              <a:t>- Attune retention thesis:</a:t>
            </a:r>
          </a:p>
          <a:p>
            <a:r>
              <a:t>  - Daily engagement hook: 25-second check-in → immediate feedback</a:t>
            </a:r>
          </a:p>
          <a:p>
            <a:r>
              <a:t>  - Longitudinal value: trends become more meaningful over time (like Oura's sleep score)</a:t>
            </a:r>
          </a:p>
          <a:p>
            <a:r>
              <a:t>  - QS users have higher intrinsic motivation for health data</a:t>
            </a:r>
          </a:p>
          <a:p>
            <a:r>
              <a:t>  - Comparable to Oura/WHOOP engagement patterns, not Calm/Headspace</a:t>
            </a:r>
          </a:p>
          <a:p/>
          <a:p>
            <a:r>
              <a:t>=== CITATIONS ===</a:t>
            </a:r>
          </a:p>
          <a:p>
            <a:r>
              <a:t>- RevenueCat: "State of Subscription Apps 2024" — revenuecat.com/state-of-subscription-apps</a:t>
            </a:r>
          </a:p>
          <a:p>
            <a:r>
              <a:t>- Oura growth: CNBC Oct 2025 reporting + Oura press releases</a:t>
            </a:r>
          </a:p>
          <a:p>
            <a:r>
              <a:t>- WHOOP growth: TechCrunch coverage + company press releases</a:t>
            </a:r>
          </a:p>
          <a:p/>
          <a:p>
            <a:r>
              <a:t>=== KEY CLAIMS VERIFICATION ===</a:t>
            </a:r>
          </a:p>
          <a:p>
            <a:r>
              <a:t>- "44.1% median retention": VERIFIED — RevenueCat 2024 report</a:t>
            </a:r>
          </a:p>
          <a:p>
            <a:r>
              <a:t>- "Oura 7 years to 1M": APPROXIMATE — based on public timeline and press reporting</a:t>
            </a:r>
          </a:p>
          <a:p>
            <a:r>
              <a:t>- "Oura 2.5 years to 5.5M": VERIFIED — consistent with Oct 2025 reporting</a:t>
            </a:r>
          </a:p>
          <a:p>
            <a:r>
              <a:t>- "WHOOP 6-year athlete niche": VERIFIED — company founded 2012, consumer push ~2018</a:t>
            </a:r>
          </a:p>
          <a:p/>
          <a:p>
            <a:r>
              <a:t>=== ANTICIPATED Q&amp;A ===</a:t>
            </a:r>
          </a:p>
          <a:p>
            <a:r>
              <a:t>Q: What if retention is closer to Calm/Headspace (i.e., terrible)?</a:t>
            </a:r>
          </a:p>
          <a:p>
            <a:r>
              <a:t>A: The key difference is engagement model. Calm/Headspace require active content consumption (meditation sessions, sleep stories). Attune requires 25 seconds of passive monitoring. The engagement cost is dramatically lower, and the output (health data) has compounding value over time. QS products systematically outperform content apps on retention because the value is personal and progressive.</a:t>
            </a:r>
          </a:p>
          <a:p/>
          <a:p>
            <a:r>
              <a:t>Q: How do you model the slow-growth period?</a:t>
            </a:r>
          </a:p>
          <a:p>
            <a:r>
              <a:t>A: We expect 12-24 months of community-driven growth before any inflection. The Oura/WHOOP pattern suggests that QS products grow slowly in niche communities before mainstream catalysts (press coverage, viral moments, influencer adoption) drive acceleration. We're planning for that timeline.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Our go-to-market is community-first, not ad-spend-first. The QS community is concentrated and organic. Reddit alone has massive relevant communities — r/quantifiedself with 155K members, r/Biohackers with 350K+, r/nootropics, r/longevity, r/selfimprovement. These are exactly our early adopters.</a:t>
            </a:r>
          </a:p>
          <a:p/>
          <a:p>
            <a:r>
              <a:t>Phase one is community seeding: free Attune accounts for QS community leaders, content partnerships with health podcasts, and a referral program. We're modeling the WHOOP playbook — start with a niche community that evangelizes, then expand outward.</a:t>
            </a:r>
          </a:p>
          <a:p/>
          <a:p>
            <a:r>
              <a:t>Phase two is corporate wellness: B2B2C through employers. The $68 billion corporate wellness market has an engagement crisis — EAPs that only 5% of employees use. Passive voice monitoring that works in the background is the answer.</a:t>
            </a:r>
          </a:p>
          <a:p/>
          <a:p>
            <a:r>
              <a:t>=== DATA &amp; CONTEXT ===</a:t>
            </a:r>
          </a:p>
          <a:p>
            <a:r>
              <a:t>- Phase 1 — Community-Led Consumer Growth:</a:t>
            </a:r>
          </a:p>
          <a:p>
            <a:r>
              <a:t>  - Reddit communities:</a:t>
            </a:r>
          </a:p>
          <a:p>
            <a:r>
              <a:t>    - r/quantifiedself: 155K members</a:t>
            </a:r>
          </a:p>
          <a:p>
            <a:r>
              <a:t>    - r/Biohackers: 350K+ members</a:t>
            </a:r>
          </a:p>
          <a:p>
            <a:r>
              <a:t>    - r/nootropics: 300K+ members</a:t>
            </a:r>
          </a:p>
          <a:p>
            <a:r>
              <a:t>    - r/longevity: 150K+ members</a:t>
            </a:r>
          </a:p>
          <a:p>
            <a:r>
              <a:t>    - r/selfimprovement: 2M+ members</a:t>
            </a:r>
          </a:p>
          <a:p>
            <a:r>
              <a:t>  - Podcast partnerships: Huberman Lab, Found My Fitness, Quantified Self Show</a:t>
            </a:r>
          </a:p>
          <a:p>
            <a:r>
              <a:t>  - Referral program: give 1 month free, get 1 month free</a:t>
            </a:r>
          </a:p>
          <a:p>
            <a:r>
              <a:t>  - Referral economics: viral coefficient target of 1.2-1.5</a:t>
            </a:r>
          </a:p>
          <a:p>
            <a:r>
              <a:t>  - Influencer seeding: free premium accounts for QS thought leaders</a:t>
            </a:r>
          </a:p>
          <a:p>
            <a:r>
              <a:t>- Phase 2 — Corporate Wellness B2B2C:</a:t>
            </a:r>
          </a:p>
          <a:p>
            <a:r>
              <a:t>  - Market: $68.4B corporate wellness (Fortune Business Insights 2025)</a:t>
            </a:r>
          </a:p>
          <a:p>
            <a:r>
              <a:t>  - EAP utilization crisis: 4-6% of employees use EAP benefits</a:t>
            </a:r>
          </a:p>
          <a:p>
            <a:r>
              <a:t>  - Attune advantage: passive, no "therapy stigma," works in background</a:t>
            </a:r>
          </a:p>
          <a:p>
            <a:r>
              <a:t>  - Enterprise sales model: PEPM pricing ($2-5/employee/month)</a:t>
            </a:r>
          </a:p>
          <a:p>
            <a:r>
              <a:t>  - Caveat: enterprise sales cycles are 6-12 months minimum</a:t>
            </a:r>
          </a:p>
          <a:p>
            <a:r>
              <a:t>  - Target: mid-market companies (500-5,000 employees) initially</a:t>
            </a:r>
          </a:p>
          <a:p>
            <a:r>
              <a:t>- Phase 3 — Platform / API:</a:t>
            </a:r>
          </a:p>
          <a:p>
            <a:r>
              <a:t>  - Voice biomarker API for third-party health apps</a:t>
            </a:r>
          </a:p>
          <a:p>
            <a:r>
              <a:t>  - Integration with Oura, Apple Health, WHOOP (data context enrichment)</a:t>
            </a:r>
          </a:p>
          <a:p>
            <a:r>
              <a:t>  - White-label for telehealth platforms</a:t>
            </a:r>
          </a:p>
          <a:p/>
          <a:p>
            <a:r>
              <a:t>=== CITATIONS ===</a:t>
            </a:r>
          </a:p>
          <a:p>
            <a:r>
              <a:t>- Reddit community sizes: reddit.com (accessed Feb 2026, subscriber counts)</a:t>
            </a:r>
          </a:p>
          <a:p>
            <a:r>
              <a:t>- Corporate wellness market: Fortune Business Insights, 2025 ($68.4B)</a:t>
            </a:r>
          </a:p>
          <a:p>
            <a:r>
              <a:t>- EAP utilization: Attridge M. (2019) J Workplace Behav Health</a:t>
            </a:r>
          </a:p>
          <a:p/>
          <a:p>
            <a:r>
              <a:t>=== KEY CLAIMS VERIFICATION ===</a:t>
            </a:r>
          </a:p>
          <a:p>
            <a:r>
              <a:t>- Reddit community sizes: VERIFIED as of Feb 2026 (approximate, communities grow)</a:t>
            </a:r>
          </a:p>
          <a:p>
            <a:r>
              <a:t>- "$68.4B corporate wellness": VERIFIED — Fortune Business Insights</a:t>
            </a:r>
          </a:p>
          <a:p>
            <a:r>
              <a:t>- "5% EAP utilization": VERIFIED — literature reports 4-6% modal range</a:t>
            </a:r>
          </a:p>
          <a:p>
            <a:r>
              <a:t>- Enterprise sales cycle caveat: IMPORTANT — enterprise B2B adds complexity and longer timelines</a:t>
            </a:r>
          </a:p>
          <a:p/>
          <a:p>
            <a:r>
              <a:t>=== ANTICIPATED Q&amp;A ===</a:t>
            </a:r>
          </a:p>
          <a:p>
            <a:r>
              <a:t>Q: How long until the corporate wellness channel generates revenue?</a:t>
            </a:r>
          </a:p>
          <a:p>
            <a:r>
              <a:t>A: Honestly? 12-18 months minimum. Enterprise sales cycles in benefits/HR tech are long. This is Phase 2, not Phase 1. Consumer revenue should be generating before we ramp enterprise.</a:t>
            </a:r>
          </a:p>
          <a:p/>
          <a:p>
            <a:r>
              <a:t>Q: What's the referral program structure?</a:t>
            </a:r>
          </a:p>
          <a:p>
            <a:r>
              <a:t>A: Simple: give a month, get a month. Dropbox grew to 500M+ users with a similar referral structure. The QS community is particularly referral-driven because members actively share tools and data.</a:t>
            </a:r>
          </a:p>
          <a:p/>
          <a:p>
            <a:r>
              <a:t>Q: Won't Reddit communities see through marketing?</a:t>
            </a:r>
          </a:p>
          <a:p>
            <a:r>
              <a:t>A: That's why we lead with value, not ads. Free tools, useful content, genuine engagement. The QS community is allergic to marketing but loves genuinely useful products. WHOOP and Oura both grew organically in these same communities.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VOICEOVER ===</a:t>
            </a:r>
          </a:p>
          <a:p>
            <a:r>
              <a:t>Let me leave you with five things to remember.</a:t>
            </a:r>
          </a:p>
          <a:p/>
          <a:p>
            <a:r>
              <a:t>One: the quantified-self market is massive and growing, but mental health is completely untracked. That's a $4+ billion gap.</a:t>
            </a:r>
          </a:p>
          <a:p/>
          <a:p>
            <a:r>
              <a:t>Two: voice biomarkers work. The science is validated in nearly 15,000 participants and published in a top-tier medical journal.</a:t>
            </a:r>
          </a:p>
          <a:p/>
          <a:p>
            <a:r>
              <a:t>Three: the technology exists today, it's open-source, and we've already built a production app around it.</a:t>
            </a:r>
          </a:p>
          <a:p/>
          <a:p>
            <a:r>
              <a:t>Four: the timing is perfect. Kintsugi's shutdown created a unique window — their clinical validation survives, their model is open-source, and the market has zero consumer players.</a:t>
            </a:r>
          </a:p>
          <a:p/>
          <a:p>
            <a:r>
              <a:t>Five: Attune is the right team to execute this. We're going consumer-first where Kintsugi went B2B-first, and we're going to market where everyone else went to the FDA.</a:t>
            </a:r>
          </a:p>
          <a:p/>
          <a:p>
            <a:r>
              <a:t>Thank you. I'd love to show you a live demo and discuss how we can work together.</a:t>
            </a:r>
          </a:p>
          <a:p/>
          <a:p>
            <a:r>
              <a:t>=== DATA &amp; CONTEXT ===</a:t>
            </a:r>
          </a:p>
          <a:p>
            <a:r>
              <a:t>Five key takeaways for investors:</a:t>
            </a:r>
          </a:p>
          <a:p>
            <a:r>
              <a:t>1. Market gap: 200M+ QS users, zero mental health tracking</a:t>
            </a:r>
          </a:p>
          <a:p>
            <a:r>
              <a:t>2. Science: 14,898-participant validation, 71.3%/73.5% sensitivity/specificity</a:t>
            </a:r>
          </a:p>
          <a:p>
            <a:r>
              <a:t>3. Technology: Production app built on open-source clinical model</a:t>
            </a:r>
          </a:p>
          <a:p>
            <a:r>
              <a:t>4. Timing: Kintsugi shutdown creates unique market window (Feb 2026)</a:t>
            </a:r>
          </a:p>
          <a:p>
            <a:r>
              <a:t>5. Strategy: Consumer-first, on-device, QS positioning — not clinical, not B2B</a:t>
            </a:r>
          </a:p>
          <a:p/>
          <a:p>
            <a:r>
              <a:t>- [CUSTOMIZABLE]: Replace "hello@attunehealth.com" with actual contact</a:t>
            </a:r>
          </a:p>
          <a:p>
            <a:r>
              <a:t>- [CUSTOMIZABLE]: Add specific ask amount if appropriate (e.g., "Raising $X at $Y valuation")</a:t>
            </a:r>
          </a:p>
          <a:p>
            <a:r>
              <a:t>- [CUSTOMIZABLE]: Add team slide reference if presenting to investors who haven't met the team</a:t>
            </a:r>
          </a:p>
          <a:p>
            <a:r>
              <a:t>- [CUSTOMIZABLE]: Prepare live demo on standby (have Attune Steel running, do a live 25-second check-in)</a:t>
            </a:r>
          </a:p>
          <a:p/>
          <a:p>
            <a:r>
              <a:t>=== CITATIONS ===</a:t>
            </a:r>
          </a:p>
          <a:p>
            <a:r>
              <a:t>Summary of all key citations used throughout the deck:</a:t>
            </a:r>
          </a:p>
          <a:p>
            <a:r>
              <a:t>- Mazur et al. (2025) — Annals of Family Medicine, DOI: 10.1370/afm.240091</a:t>
            </a:r>
          </a:p>
          <a:p>
            <a:r>
              <a:t>- Low et al. (2020) — Laryngoscope Investig Otolaryngol, DOI: 10.1002/lio2.354</a:t>
            </a:r>
          </a:p>
          <a:p>
            <a:r>
              <a:t>- Swift &amp; Greenberg (2012) — J Consult Clin Psychol, DOI: 10.1037/a0028226</a:t>
            </a:r>
          </a:p>
          <a:p>
            <a:r>
              <a:t>- Baumel et al. (2019) — JMIR, DOI: 10.2196/13567</a:t>
            </a:r>
          </a:p>
          <a:p>
            <a:r>
              <a:t>- Kroenke et al. (2001) — J Gen Intern Med (PHQ-9 validation)</a:t>
            </a:r>
          </a:p>
          <a:p>
            <a:r>
              <a:t>- Oura $11B — CNBC, October 2025</a:t>
            </a:r>
          </a:p>
          <a:p>
            <a:r>
              <a:t>- WHOOP $3.6B — TechCrunch, 2024</a:t>
            </a:r>
          </a:p>
          <a:p>
            <a:r>
              <a:t>- Kintsugi shutdown — Behavioral Health Business, Feb 11, 2026</a:t>
            </a:r>
          </a:p>
          <a:p>
            <a:r>
              <a:t>- Corporate wellness $68.4B — Fortune Business Insights, 2025</a:t>
            </a:r>
          </a:p>
          <a:p>
            <a:r>
              <a:t>- Voice biomarker market $1.24B → $5.4B — Grand View Research, 2025</a:t>
            </a:r>
          </a:p>
          <a:p/>
          <a:p>
            <a:r>
              <a:t>=== KEY CLAIMS VERIFICATION ===</a:t>
            </a:r>
          </a:p>
          <a:p>
            <a:r>
              <a:t>All critical claims verified. Known issues:</a:t>
            </a:r>
          </a:p>
          <a:p>
            <a:r>
              <a:t>- Kintsugi $72M valuation: unverifiable from public sources (LOW severity)</a:t>
            </a:r>
          </a:p>
          <a:p>
            <a:r>
              <a:t>- Kintsugi funding ~$28M vs "$30M": minor discrepancy (LOW severity)</a:t>
            </a:r>
          </a:p>
          <a:p>
            <a:r>
              <a:t>- All other quantitative claims verified with citations</a:t>
            </a:r>
          </a:p>
          <a:p/>
          <a:p>
            <a:r>
              <a:t>=== ANTICIPATED Q&amp;A ===</a:t>
            </a:r>
          </a:p>
          <a:p>
            <a:r>
              <a:t>Q: What's your ask?</a:t>
            </a:r>
          </a:p>
          <a:p>
            <a:r>
              <a:t>A: [CUSTOMIZE — specify raise amount, use of funds, and timeline]</a:t>
            </a:r>
          </a:p>
          <a:p/>
          <a:p>
            <a:r>
              <a:t>Q: What's the team background?</a:t>
            </a:r>
          </a:p>
          <a:p>
            <a:r>
              <a:t>A: [CUSTOMIZE — add team credentials, relevant experience]</a:t>
            </a:r>
          </a:p>
          <a:p/>
          <a:p>
            <a:r>
              <a:t>Q: Can I see a demo?</a:t>
            </a:r>
          </a:p>
          <a:p>
            <a:r>
              <a:t>A: [Have Attune Steel running — do a live 25-second check-in to demonstrate real-time voice analysis. This is the most compelling part of any pitch meeting.]</a:t>
            </a:r>
          </a:p>
          <a:p/>
          <a:p>
            <a:r>
              <a:t>Q: What are the biggest risks?</a:t>
            </a:r>
          </a:p>
          <a:p>
            <a:r>
              <a:t>A: Three honest risks: (1) open-source model means low IP barrier — we compete on execution, data, and trust; (2) voice biomarker accuracy may vary across demographics not well-represented in the training data; (3) consumer mental health is a hard market — multiple well-funded companies have failed. Our counter: different approach (passive monitoring vs active therapy), different market (QS vs clinical), and different economics (software-only, no hardware COGS).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APPENDIX: PAIN QUANTIFICATION — The Economic Cost ===</a:t>
            </a:r>
          </a:p>
          <a:p/>
          <a:p>
            <a:r>
              <a:t>THE ECONOMIC CRATER OF MENTAL HEALTH (Section 1A):</a:t>
            </a:r>
          </a:p>
          <a:p>
            <a:r>
              <a:t>- US annual economic cost of mental illness: $282B/year, 1.7% of GDP (Yale/Columbia/UW-Madison, April 2024)</a:t>
            </a:r>
          </a:p>
          <a:p>
            <a:r>
              <a:t>- Global productivity loss from depression + anxiety: $1T/year, 12B working days lost (WHO "Mental Health at Work" factsheet)</a:t>
            </a:r>
          </a:p>
          <a:p>
            <a:r>
              <a:t>- US employer cost from untreated mental health: $105B/year (Center for Prevention &amp; Health Services)</a:t>
            </a:r>
          </a:p>
          <a:p>
            <a:r>
              <a:t>- Presenteeism cost per employee: $12,000-$19,875/year — 7.5x the cost of absenteeism (CDC/Global Corporate Challenge)</a:t>
            </a:r>
          </a:p>
          <a:p>
            <a:r>
              <a:t>- Depressed employee productivity reduction: 35% (American Psychiatric Association)</a:t>
            </a:r>
          </a:p>
          <a:p>
            <a:r>
              <a:t>- Cost per missed workday: $340/day (Kaiser Permanente)</a:t>
            </a:r>
          </a:p>
          <a:p>
            <a:r>
              <a:t>- Projected global cost by 2030: $6T/year (World Economic Forum, 2024)</a:t>
            </a:r>
          </a:p>
          <a:p/>
          <a:p>
            <a:r>
              <a:t>The takeaway: Mental illness costs more than cancer, diabetes, and respiratory disease combined in lost productivity. The economic case for better monitoring is enormous.</a:t>
            </a:r>
          </a:p>
          <a:p/>
          <a:p>
            <a:r>
              <a:t>THE PHYSICAL VS MENTAL HEALTH DATA GAP (Section 1D):</a:t>
            </a:r>
          </a:p>
          <a:p>
            <a:r>
              <a:t>- Rich physical data: Wearables provide continuous, objective data on HR, HRV, sleep, SpO2, skin temp, activity</a:t>
            </a:r>
          </a:p>
          <a:p>
            <a:r>
              <a:t>- Impoverished mental data: "There is no available standard biomarker for the detection of mental health conditions" (PMC survey on wearable sensors, 2023)</a:t>
            </a:r>
          </a:p>
          <a:p>
            <a:r>
              <a:t>- QS user frustration: Users are "virtually drowning in data" but lacking tools for mental/emotional insight (Choe et al. 2014, CHI)</a:t>
            </a:r>
          </a:p>
          <a:p>
            <a:r>
              <a:t>- The gap Attune fills: Voice is the only passive, hardware-free biomarker with direct neurological links to mental state</a:t>
            </a:r>
          </a:p>
          <a:p/>
          <a:p>
            <a:r>
              <a:t>TECH WORKER BURNOUT — TARGET DEMOGRAPHIC (Section 1E):</a:t>
            </a:r>
          </a:p>
          <a:p>
            <a:r>
              <a:t>- 82% of tech employees feeling close to burnout (Talkspace Business)</a:t>
            </a:r>
          </a:p>
          <a:p>
            <a:r>
              <a:t>- 52% of tech workers with depression/anxiety (Talkspace Business)</a:t>
            </a:r>
          </a:p>
          <a:p>
            <a:r>
              <a:t>- 65% of engineers experienced burnout past year (Interview Guys 2025)</a:t>
            </a:r>
          </a:p>
          <a:p>
            <a:r>
              <a:t>- 45% of tech founders rate mental health "bad/very bad" (CEREVITY 2025)</a:t>
            </a:r>
          </a:p>
          <a:p>
            <a:r>
              <a:t>- &gt;50% of Millennials/Gen Z have been in therapy; 39% plan to go (Thriving Center of Psych)</a:t>
            </a:r>
          </a:p>
          <a:p/>
          <a:p>
            <a:r>
              <a:t>Our early adopter demographic — tech-forward, QS-oriented professionals — is also the demographic most affected by burnout and mental health challenges.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APPENDIX: PAIN QUANTIFICATION — Spending &amp; Failures ===</a:t>
            </a:r>
          </a:p>
          <a:p/>
          <a:p>
            <a:r>
              <a:t>WHAT QS USERS ALREADY SPEND ON WELLNESS (Section 1B):</a:t>
            </a:r>
          </a:p>
          <a:p>
            <a:r>
              <a:t>- Average American wellness spending: $5,321/year (Fortune Well / Global Wellness Institute, Feb 2024)</a:t>
            </a:r>
          </a:p>
          <a:p>
            <a:r>
              <a:t>- US wellness market: $480B, growing ~10%/year (McKinsey 2024)</a:t>
            </a:r>
          </a:p>
          <a:p>
            <a:r>
              <a:t>- Gen Z + Millennials: 41% of wellness spend despite being 36% of adult population (McKinsey Future of Wellness 2024)</a:t>
            </a:r>
          </a:p>
          <a:p>
            <a:r>
              <a:t>- Oura average ticket: &gt;$400 (hardware + subscription) with 52% YoY spending growth (Earnest Analytics 2024)</a:t>
            </a:r>
          </a:p>
          <a:p>
            <a:r>
              <a:t>- WHOOP annual cost: $199-$399/year (WHOOP pricing page)</a:t>
            </a:r>
          </a:p>
          <a:p>
            <a:r>
              <a:t>- Willingness to pay for health apps: $6.50/month median, 58.9% willing to pay (Liu, Xie &amp; Or 2024, SAGE Digital Health)</a:t>
            </a:r>
          </a:p>
          <a:p>
            <a:r>
              <a:t>- 40% of consumers willing to pay specifically for mental health services (research2guidance)</a:t>
            </a:r>
          </a:p>
          <a:p>
            <a:r>
              <a:t>- H&amp;F payer LTV is highest of all app categories: Median $16.44, upper quartile $31.12 (RevenueCat 2025)</a:t>
            </a:r>
          </a:p>
          <a:p/>
          <a:p>
            <a:r>
              <a:t>$14.99/month for the only mental health data stream is well within their established spending envelope.</a:t>
            </a:r>
          </a:p>
          <a:p/>
          <a:p>
            <a:r>
              <a:t>WHAT THEY'VE TRIED FOR MENTAL HEALTH — AND FAILED (Section 1C):</a:t>
            </a:r>
          </a:p>
          <a:p>
            <a:r>
              <a:t>- Therapy: $100-$250/session (avg ~$140); 58% cite cost as #1 barrier; 34.8% dropout rate; only 4.3% of primary care visits include screening (Swift &amp; Greenberg 2012; Samples et al. 2020)</a:t>
            </a:r>
          </a:p>
          <a:p>
            <a:r>
              <a:t>- Mental health apps (Calm $596M revenue, Headspace $348M): 3.3% median 30-day retention; requires active engagement (Baumel et al. 2019)</a:t>
            </a:r>
          </a:p>
          <a:p>
            <a:r>
              <a:t>- Telehealth therapy: $134/session without insurance; same engagement problems as in-person; scheduling friction (GoodRx 2024)</a:t>
            </a:r>
          </a:p>
          <a:p>
            <a:r>
              <a:t>- Corporate EAPs: $12-$40/employee/year, $68.4B market; only 4-6% utilization rate (EASNA; Fortune Business Insights)</a:t>
            </a:r>
          </a:p>
          <a:p>
            <a:r>
              <a:t>- Psychiatric medication: $5-$489/month; does not provide the "data" QS users crave; no tracking loop (K Health pricing data)</a:t>
            </a:r>
          </a:p>
          <a:p>
            <a:r>
              <a:t>- AI chatbots (Woebot): $114M raised; consumer product shut down June 2025 (MobiHealthNews)</a:t>
            </a:r>
          </a:p>
          <a:p/>
          <a:p>
            <a:r>
              <a:t>Every existing solution requires active effort — scheduling, showing up, typing, meditating. QS users don't want another chore; they want another data stream. Attune is the only passive mental health monitoring tool.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APPENDIX: BEHAVIORAL SCIENCE — Engagement Architecture ===</a:t>
            </a:r>
          </a:p>
          <a:p/>
          <a:p>
            <a:r>
              <a:t>THE ENGAGEMENT PROBLEM MENTAL HEALTH APPS NEVER SOLVED (Section 2A):</a:t>
            </a:r>
          </a:p>
          <a:p>
            <a:r>
              <a:t>- Mental health apps: 3.3% 30-day retention (Baumel et al. 2019)</a:t>
            </a:r>
          </a:p>
          <a:p>
            <a:r>
              <a:t>- Monitoring apps (Oura, Apple Watch): 88-89%+ 12-month retention</a:t>
            </a:r>
          </a:p>
          <a:p>
            <a:r>
              <a:t>- Root cause: Mental health apps require active effort (meditation, journaling, CBT exercises). Monitoring apps are passive and create compounding data value.</a:t>
            </a:r>
          </a:p>
          <a:p>
            <a:r>
              <a:t>- Key insight: Attune is a MONITORING TOOL (like Oura), not a TREATMENT APP (like Calm). This is the single most important architectural decision we made.</a:t>
            </a:r>
          </a:p>
          <a:p/>
          <a:p>
            <a:r>
              <a:t>BEHAVIORAL SCIENCE FRAMEWORKS (Section 2B):</a:t>
            </a:r>
          </a:p>
          <a:p>
            <a:r>
              <a:t>1. Nir Eyal's Hook Model: Trigger (morning notification) -&gt; Action (25-sec recording) -&gt; Variable Reward (Canopy Score reveal with particle animation) -&gt; Investment (historical data accumulates)</a:t>
            </a:r>
          </a:p>
          <a:p>
            <a:r>
              <a:t>2. BJ Fogg's Behavior Model: Behavior = Motivation x Ability x Prompt. High motivation (health data) x ultra-low ability barrier (25 seconds) x system prompt (morning notification)</a:t>
            </a:r>
          </a:p>
          <a:p>
            <a:r>
              <a:t>3. Loss Aversion (Kahneman &amp; Tversky): Losses feel 2x as painful as equivalent gains. Grove feature: missed days create wilted trees; users feel compelled to maintain streaks.</a:t>
            </a:r>
          </a:p>
          <a:p>
            <a:r>
              <a:t>4. Endowed Progress (Nunes &amp; Dreze 2006): Pre-giving progress nearly doubles completion (19% -&gt; 34%). First 2 waypoints auto-complete on signup; Canopy Score starts building immediately.</a:t>
            </a:r>
          </a:p>
          <a:p>
            <a:r>
              <a:t>5. Variable Ratio Reinforcement (Skinner): Unpredictable rewards are most engaging. Echoes (pattern discovery) appear at unpredictable intervals; Sanctuary celebrations have varied triggers.</a:t>
            </a:r>
          </a:p>
          <a:p>
            <a:r>
              <a:t>6. Zeigarnik Effect: Incomplete tasks are remembered 1.9x more than completed ones. Rhythm Rings show partial progress; Grove trees in mid-growth stages.</a:t>
            </a:r>
          </a:p>
          <a:p/>
          <a:p>
            <a:r>
              <a:t>WHY PREVIOUS SOLUTIONS LACK THESE MECHANICS (Section 2D):</a:t>
            </a:r>
          </a:p>
          <a:p>
            <a:r>
              <a:t>- Therapy: No data, no score, no streak, no progress visualization — session-based, not continuous</a:t>
            </a:r>
          </a:p>
          <a:p>
            <a:r>
              <a:t>- Calm/Headspace: Same experience every time (no variable reward); no personal data; 3.3% 30-day retention</a:t>
            </a:r>
          </a:p>
          <a:p>
            <a:r>
              <a:t>- BetterHelp/Talkspace: Scheduling friction; therapist dependency; no passive monitoring</a:t>
            </a:r>
          </a:p>
          <a:p>
            <a:r>
              <a:t>- Woebot: Chatbot = active engagement required; no biometric data; shut down June 2025</a:t>
            </a:r>
          </a:p>
          <a:p>
            <a:r>
              <a:t>- EAPs: Stigma; no data; no habit loop; requires self-referral; 4-6% utilization despite being free</a:t>
            </a:r>
          </a:p>
          <a:p/>
          <a:p>
            <a:r>
              <a:t>WHY QS USERS ARE UNIQUELY SUSCEPTIBLE (Section 2E):</a:t>
            </a:r>
          </a:p>
          <a:p>
            <a:r>
              <a:t>- QS identity = "self-knowledge through numbers" — intrinsically motivated by data</a:t>
            </a:r>
          </a:p>
          <a:p>
            <a:r>
              <a:t>- Already habituated to daily health rituals (checking Oura score, closing Apple Watch rings)</a:t>
            </a:r>
          </a:p>
          <a:p>
            <a:r>
              <a:t>- High conscientiousness and emotional stability personality correlates</a:t>
            </a:r>
          </a:p>
          <a:p>
            <a:r>
              <a:t>- 2-3x higher willingness to pay for health subscriptions vs general population</a:t>
            </a:r>
          </a:p>
          <a:p>
            <a:r>
              <a:t>- Social proof is powerful in QS communities (r/quantifiedself 155K, r/Biohackers 350K+)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APPENDIX: BEHAVIORAL SCIENCE — 10 Features Mapped ===</a:t>
            </a:r>
          </a:p>
          <a:p/>
          <a:p>
            <a:r>
              <a:t>ATTUNE'S 10 ENGAGEMENT FEATURES MAPPED TO DOPAMINE LOOPS (Section 2C):</a:t>
            </a:r>
          </a:p>
          <a:p>
            <a:r>
              <a:t>1. Canopy Score (0-100 daily wellness score): Progressive disclosure + count-up animation + leaf particles. Comparable: Oura Readiness Score. Dopamine: Anticipation -&gt; Relief -&gt; Baseline comparison.</a:t>
            </a:r>
          </a:p>
          <a:p>
            <a:r>
              <a:t>2. Grove (streak forest with wilting): Loss aversion + collection + recovery ritual. Comparable: Duolingo streaks (8x retention for streak users). Dopamine: Status + loss pain + recovery satisfaction.</a:t>
            </a:r>
          </a:p>
          <a:p>
            <a:r>
              <a:t>3. Sanctuary Overlay (micro-celebrations): Variable reward + sensory delight; 5-min cooldown prevents fatigue. Comparable: Instagram like notification. Dopamine: Immediate positive feedback at milestone moments.</a:t>
            </a:r>
          </a:p>
          <a:p>
            <a:r>
              <a:t>4. Rhythm Rings (3 daily goal rings): Progress visualization + adaptive goals (+5%/week). Comparable: Apple Watch Activity Rings. Dopamine: Completion -&gt; Celebration -&gt; Next-day reset.</a:t>
            </a:r>
          </a:p>
          <a:p>
            <a:r>
              <a:t>5. Waypoints (30-tier achievement trail): Endowed progress + tiered unlocking across 6 stages over 90 days. Comparable: Strava/Xbox achievements. Dopamine: Progression gates + long-term goal orientation.</a:t>
            </a:r>
          </a:p>
          <a:p>
            <a:r>
              <a:t>6. Morning Briefing: Ritual creation + narrative framing ("Yesterday you..."). Comparable: Oura morning readiness ritual. Dopamine: Curiosity -&gt; Validation -&gt; Motivation.</a:t>
            </a:r>
          </a:p>
          <a:p>
            <a:r>
              <a:t>7. Weekly Wrapped: Retrospective validation + Spotify Wrapped-style social design. Comparable: Spotify Wrapped (200M users engaged in 24 hours). Dopamine: Self-narrative + shareable format.</a:t>
            </a:r>
          </a:p>
          <a:p>
            <a:r>
              <a:t>8. Echoes (pattern discovery): Variable reward + discovery delight; appear after 7+ days. Comparable: Strava segment discoveries. Dopamine: Curiosity -&gt; Insight -&gt; Secondary waypoint unlock.</a:t>
            </a:r>
          </a:p>
          <a:p>
            <a:r>
              <a:t>9. Notifications ("The Pulse"): Contextual alerts + positive reinforcement; rate-limited to 4/hour. Comparable: Apple Watch stand reminders. Dopamine: Awareness -&gt; Personalized comparison -&gt; Action.</a:t>
            </a:r>
          </a:p>
          <a:p>
            <a:r>
              <a:t>10. Onboarding (6-step flow): Micro-commitments + endowed progress + baseline calibration. Comparable: Duolingo onboarding (placement test -&gt; immediate lesson). Dopamine: Low friction entry -&gt; Early wins -&gt; Commitment.</a:t>
            </a:r>
          </a:p>
          <a:p/>
          <a:p>
            <a:r>
              <a:t>KEY ENGAGEMENT STATS FROM COMPARABLE APPS (Section 2F):</a:t>
            </a:r>
          </a:p>
          <a:p>
            <a:r>
              <a:t>- Duolingo streaks: Streak users retain at 8x (40% vs 5% at Day 30) — Duolingo S-1/earnings</a:t>
            </a:r>
          </a:p>
          <a:p>
            <a:r>
              <a:t>- Apple Watch ring closing: Users check wrists ~80 times/day; 89%+ 12-month retention — Apple investor materials</a:t>
            </a:r>
          </a:p>
          <a:p>
            <a:r>
              <a:t>- Oura morning readiness: Users open app 3+ times/day — Oura press materials</a:t>
            </a:r>
          </a:p>
          <a:p>
            <a:r>
              <a:t>- Spotify Wrapped: 200M users engaged in 24 hours; 500M social shares — Spotify year-end reports</a:t>
            </a:r>
          </a:p>
          <a:p>
            <a:r>
              <a:t>- Strava Segments + Kudos: 120M users; social features drive 2x retention vs solo — Strava press releases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APPENDIX: FINANCIAL MODEL — Unit Economics &amp; Margins ===</a:t>
            </a:r>
          </a:p>
          <a:p/>
          <a:p>
            <a:r>
              <a:t>PRICING &amp; REVENUE MODEL (Section 3A):</a:t>
            </a:r>
          </a:p>
          <a:p>
            <a:r>
              <a:t>- Consumer Monthly: $14.99/month (V10 website pricing)</a:t>
            </a:r>
          </a:p>
          <a:p>
            <a:r>
              <a:t>- Consumer Annual: $149/year (~$12.42/mo, 17% discount vs monthly)</a:t>
            </a:r>
          </a:p>
          <a:p>
            <a:r>
              <a:t>- Blended Monthly ARPU: ~$12.42 (assuming 60% annual / 40% monthly mix)</a:t>
            </a:r>
          </a:p>
          <a:p>
            <a:r>
              <a:t>- Annual ARPU: ~$149</a:t>
            </a:r>
          </a:p>
          <a:p>
            <a:r>
              <a:t>- Free Tier: $0, basic check-ins, conversion funnel</a:t>
            </a:r>
          </a:p>
          <a:p>
            <a:r>
              <a:t>- Corporate (Phase 2): $2-$5 PEPM (per-employee-per-month)</a:t>
            </a:r>
          </a:p>
          <a:p/>
          <a:p>
            <a:r>
              <a:t>GROSS MARGIN ANALYSIS (Section 3C):</a:t>
            </a:r>
          </a:p>
          <a:p>
            <a:r>
              <a:t>App Store Path (Year 1 &amp; 2+):</a:t>
            </a:r>
          </a:p>
          <a:p>
            <a:r>
              <a:t>- Revenue per user/month: $14.99</a:t>
            </a:r>
          </a:p>
          <a:p>
            <a:r>
              <a:t>- Payment processing: -$2.25 (15% small biz rate)</a:t>
            </a:r>
          </a:p>
          <a:p>
            <a:r>
              <a:t>- Server/infra costs: ~$0 (on-device processing)</a:t>
            </a:r>
          </a:p>
          <a:p>
            <a:r>
              <a:t>- Support allocation: -$0.50</a:t>
            </a:r>
          </a:p>
          <a:p>
            <a:r>
              <a:t>- COGS total: $2.75 | Gross Margin: 81.7%</a:t>
            </a:r>
          </a:p>
          <a:p/>
          <a:p>
            <a:r>
              <a:t>Direct Web/Stripe Path:</a:t>
            </a:r>
          </a:p>
          <a:p>
            <a:r>
              <a:t>- Payment processing: -$0.73 (Stripe 2.9% + $0.30)</a:t>
            </a:r>
          </a:p>
          <a:p>
            <a:r>
              <a:t>- COGS total: $1.23 | Gross Margin: 91.8%</a:t>
            </a:r>
          </a:p>
          <a:p/>
          <a:p>
            <a:r>
              <a:t>Key advantage: On-device processing = zero compute COGS. Margin profile closer to pure software than AI company.</a:t>
            </a:r>
          </a:p>
          <a:p>
            <a:r>
              <a:t>Benchmarks: Typical SaaS 75-85% (Benchmarkit 2024), Top-quartile software 85%+, Oura ~60% (HW blend), Peloton ~40% (HW drag), Attune 82-92%.</a:t>
            </a:r>
          </a:p>
          <a:p/>
          <a:p>
            <a:r>
              <a:t>UNIT ECONOMICS — THREE SCENARIOS (Section 3D):</a:t>
            </a:r>
          </a:p>
          <a:p>
            <a:r>
              <a:t>Conservative: Blended ARPU $10/mo, 35% 12-mo retention, 8-mo avg lifespan, LTV $80, CAC $80, LTV/CAC 1.0x, 8-mo payback, 82% margin</a:t>
            </a:r>
          </a:p>
          <a:p>
            <a:r>
              <a:t>Target: ARPU $12.42/mo, 44% 12-mo retention (RevenueCat median), 12-mo lifespan, LTV $149, CAC $60, LTV/CAC 2.5x, 5-mo payback, 85% margin</a:t>
            </a:r>
          </a:p>
          <a:p>
            <a:r>
              <a:t>Optimistic: ARPU $14.99/mo, 60% 12-mo retention (top quartile), 18-mo lifespan, LTV $270, CAC $40, LTV/CAC 6.8x, 3-mo payback, 92% margin</a:t>
            </a:r>
          </a:p>
          <a:p/>
          <a:p>
            <a:r>
              <a:t>Path to 3:1+: Organic/referral channels must comprise 40%+ of acquisition. Consistent with WHOOP and Oura growth patterns — both grew primarily through organic/community channels before scaling paid.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APPENDIX: FINANCIAL MODEL — Channels, Breakeven &amp; Comps ===</a:t>
            </a:r>
          </a:p>
          <a:p/>
          <a:p>
            <a:r>
              <a:t>CUSTOMER ACQUISITION COST BY CHANNEL (Section 3B):</a:t>
            </a:r>
          </a:p>
          <a:p>
            <a:r>
              <a:t>1. Apple Search Ads: CPI $3-$8, 9.4% install-to-paid, CAC $32-$85 [HIGH confidence] (Watsspace 2025; SplitMetrics 2025)</a:t>
            </a:r>
          </a:p>
          <a:p>
            <a:r>
              <a:t>2. Meta/Facebook: CPM $15.77, CPC $1.10, CPI $10.42, CAC $111 [HIGH] (Mesha 2025; SuperAds 2025)</a:t>
            </a:r>
          </a:p>
          <a:p>
            <a:r>
              <a:t>3. Instagram: CPC $1.83-$3.35, CPI ~$3.50, CAC $37 [MEDIUM] (Quimby Digital 2025; Birch 2025)</a:t>
            </a:r>
          </a:p>
          <a:p>
            <a:r>
              <a:t>4. Google Search: CPC $4.22 (mental health, +42% YoY), CAC $160-$265 [MEDIUM] (WordStream 2025)</a:t>
            </a:r>
          </a:p>
          <a:p>
            <a:r>
              <a:t>5. TikTok: CPC $0.40-$1.00, CPM $4-$7, CAC $21-$53 [LOW] (Quimby Digital 2025)</a:t>
            </a:r>
          </a:p>
          <a:p>
            <a:r>
              <a:t>6. YouTube: CPV $0.071 (healthcare), CAC $160-$300 [LOW] (Awisee 2025; AdBacklog 2025)</a:t>
            </a:r>
          </a:p>
          <a:p>
            <a:r>
              <a:t>7. Reddit: CPC $0.10-$0.80, CPM $2-$6, CAC $32-$85 [MEDIUM] (AdBacklog 2025)</a:t>
            </a:r>
          </a:p>
          <a:p>
            <a:r>
              <a:t>8. Podcast Sponsorships: CPM $25-$50 (host-read), CAC $160-$320 [LOW] (Ad Results Media 2025)</a:t>
            </a:r>
          </a:p>
          <a:p>
            <a:r>
              <a:t>9. LinkedIn: CPC $5.58-$10.00, CAC $200-$500 for B2B leads [MEDIUM] (The B2B House 2025)</a:t>
            </a:r>
          </a:p>
          <a:p>
            <a:r>
              <a:t>10. Organic/SEO: $1,500-$3K/mo budget, CAC $15-$50 at scale after 12+ months [MEDIUM] (SearchAtlas 2025)</a:t>
            </a:r>
          </a:p>
          <a:p/>
          <a:p>
            <a:r>
              <a:t>Blended CAC Strategy: Weight toward Apple Search Ads + Reddit + Organic (lowest CAC). Target blended CAC of $50-$80.</a:t>
            </a:r>
          </a:p>
          <a:p/>
          <a:p>
            <a:r>
              <a:t>BREAKEVEN ANALYSIS (Section 3E):</a:t>
            </a:r>
          </a:p>
          <a:p>
            <a:r>
              <a:t>- Lean (3 FTE, $25K/mo burn): 2,034 subs needed, $364K ARR</a:t>
            </a:r>
          </a:p>
          <a:p>
            <a:r>
              <a:t>- Seed (5-7 FTE, $50K/mo burn): 4,068 subs needed, $729K ARR</a:t>
            </a:r>
          </a:p>
          <a:p>
            <a:r>
              <a:t>- Growth (10 FTE, $100K/mo burn): 7,843 subs needed, $1.4M ARR</a:t>
            </a:r>
          </a:p>
          <a:p>
            <a:r>
              <a:t>Formula: Subs needed = Monthly burn / (ARPU x Gross margin) = $25K / ($14.99 x 0.82) = 2,034</a:t>
            </a:r>
          </a:p>
          <a:p>
            <a:r>
              <a:t>Key insight: Software-only model = breakeven at MUCH lower subscriber count than hardware companies. Oura needed millions of ring sales; Attune needs ~2,000-4,000 subscribers.</a:t>
            </a:r>
          </a:p>
          <a:p/>
          <a:p>
            <a:r>
              <a:t>COMPARABLE COMPANY BENCHMARKS (Section 3F):</a:t>
            </a:r>
          </a:p>
          <a:p>
            <a:r>
              <a:t>- Oura: ~$500M rev (2024), 2M paying, ~$55 ARPU*, $11B valuation, 10.4x revenue multiple, ~60% GM (HW blend), expanding profitability (Sacra; CNBC Oct 2025)</a:t>
            </a:r>
          </a:p>
          <a:p>
            <a:r>
              <a:t>- WHOOP: $260M+ rev (2025), ~1M est. subs, ~$260 ARPU, $3.7B valuation, ~14x multiple (GetLatka; Sacra)</a:t>
            </a:r>
          </a:p>
          <a:p>
            <a:r>
              <a:t>- Calm: $596M rev (2024), 4M+ subs, ~$75 ARPU, $2B valuation, 3.4x multiple, profitable since 2018 (GetLatka; CNBC)</a:t>
            </a:r>
          </a:p>
          <a:p>
            <a:r>
              <a:t>- Headspace: $348M rev (2024), 2.8M subs (declining), ~$124 ARPU, $3B valuation, 8.6x multiple (GetLatka; Business of Apps)</a:t>
            </a:r>
          </a:p>
          <a:p>
            <a:r>
              <a:t>- Noom: ~$1B rev (2023), 1.5M subs, ~$420 ARPU (Sacra)</a:t>
            </a:r>
          </a:p>
          <a:p>
            <a:r>
              <a:t>*Oura ARPU appears low because hardware revenue is separate; subscription is $5.99/mo = $72/yr</a:t>
            </a:r>
          </a:p>
          <a:p/>
          <a:p>
            <a:r>
              <a:t>Revenue multiple implications: At $1M ARR -&gt; 10x = $10M; At $5M ARR -&gt; $50M; At $50M ARR -&gt; $500M.</a:t>
            </a:r>
          </a:p>
          <a:p/>
          <a:p>
            <a:r>
              <a:t>DATA QUALITY DISCLOSURE (Section 3G):</a:t>
            </a:r>
          </a:p>
          <a:p>
            <a:r>
              <a:t>- HIGH confidence: Apple/Google commission rates, Stripe fees, RevenueCat churn/retention/ARPU, SaaS gross margin benchmarks, Calm revenue trajectory</a:t>
            </a:r>
          </a:p>
          <a:p>
            <a:r>
              <a:t>- MEDIUM confidence: Meta/Google/Reddit CPM/CPC, startup burn rates, LTV/CAC thresholds</a:t>
            </a:r>
          </a:p>
          <a:p>
            <a:r>
              <a:t>- DERIVED: CAC per paid subscriber (CPI / conversion rate), Attune gross margin projections, breakeven subscriber counts</a:t>
            </a:r>
          </a:p>
          <a:p>
            <a:r>
              <a:t>- NOT FOUND (flagged): TikTok health-specific CPI, YouTube health conversion rate, podcast-to-install rate, WHOOP exact subscriber count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0" y="1371600"/>
            <a:ext cx="393192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con.png"/>
          <p:cNvPicPr>
            <a:picLocks noChangeAspect="1"/>
          </p:cNvPicPr>
          <p:nvPr/>
        </p:nvPicPr>
        <p:blipFill>
          <a:blip r:embed="rId2"/>
          <a:stretch>
            <a:fillRect/>
          </a:stretch>
        </p:blipFill>
        <p:spPr>
          <a:xfrm>
            <a:off x="5394960" y="1645920"/>
            <a:ext cx="1371600" cy="1371600"/>
          </a:xfrm>
          <a:prstGeom prst="rect">
            <a:avLst/>
          </a:prstGeom>
        </p:spPr>
      </p:pic>
      <p:sp>
        <p:nvSpPr>
          <p:cNvPr id="5" name="TextBox 4"/>
          <p:cNvSpPr txBox="1"/>
          <p:nvPr/>
        </p:nvSpPr>
        <p:spPr>
          <a:xfrm>
            <a:off x="2286000" y="3200400"/>
            <a:ext cx="7589520" cy="822960"/>
          </a:xfrm>
          <a:prstGeom prst="rect">
            <a:avLst/>
          </a:prstGeom>
          <a:noFill/>
        </p:spPr>
        <p:txBody>
          <a:bodyPr wrap="square" anchor="t"/>
          <a:lstStyle/>
          <a:p>
            <a:pPr algn="ctr">
              <a:spcBef>
                <a:spcPts val="0"/>
              </a:spcBef>
              <a:spcAft>
                <a:spcPts val="0"/>
              </a:spcAft>
              <a:lnSpc>
                <a:spcPct val="120000"/>
              </a:lnSpc>
            </a:pPr>
            <a:r>
              <a:rPr sz="5400" b="1">
                <a:solidFill>
                  <a:srgbClr val="FFFFFF"/>
                </a:solidFill>
                <a:latin typeface="Georgia"/>
              </a:rPr>
              <a:t>Attune.</a:t>
            </a:r>
          </a:p>
        </p:txBody>
      </p:sp>
      <p:sp>
        <p:nvSpPr>
          <p:cNvPr id="6" name="TextBox 5"/>
          <p:cNvSpPr txBox="1"/>
          <p:nvPr/>
        </p:nvSpPr>
        <p:spPr>
          <a:xfrm>
            <a:off x="2743200" y="4114800"/>
            <a:ext cx="6675120" cy="548640"/>
          </a:xfrm>
          <a:prstGeom prst="rect">
            <a:avLst/>
          </a:prstGeom>
          <a:noFill/>
        </p:spPr>
        <p:txBody>
          <a:bodyPr wrap="square" anchor="t"/>
          <a:lstStyle/>
          <a:p>
            <a:pPr algn="ctr">
              <a:spcBef>
                <a:spcPts val="0"/>
              </a:spcBef>
              <a:spcAft>
                <a:spcPts val="0"/>
              </a:spcAft>
              <a:lnSpc>
                <a:spcPct val="130000"/>
              </a:lnSpc>
            </a:pPr>
            <a:r>
              <a:rPr sz="2200" b="0">
                <a:solidFill>
                  <a:srgbClr val="5B8DB8"/>
                </a:solidFill>
                <a:latin typeface="Helvetica Neue"/>
              </a:rPr>
              <a:t>Clinical-Grade Mental Health Monitoring</a:t>
            </a:r>
          </a:p>
        </p:txBody>
      </p:sp>
      <p:sp>
        <p:nvSpPr>
          <p:cNvPr id="7" name="TextBox 6"/>
          <p:cNvSpPr txBox="1"/>
          <p:nvPr/>
        </p:nvSpPr>
        <p:spPr>
          <a:xfrm>
            <a:off x="2743200" y="4663440"/>
            <a:ext cx="6675120" cy="457200"/>
          </a:xfrm>
          <a:prstGeom prst="rect">
            <a:avLst/>
          </a:prstGeom>
          <a:noFill/>
        </p:spPr>
        <p:txBody>
          <a:bodyPr wrap="square" anchor="t"/>
          <a:lstStyle/>
          <a:p>
            <a:pPr algn="ctr">
              <a:spcBef>
                <a:spcPts val="0"/>
              </a:spcBef>
              <a:spcAft>
                <a:spcPts val="0"/>
              </a:spcAft>
              <a:lnSpc>
                <a:spcPct val="120000"/>
              </a:lnSpc>
            </a:pPr>
            <a:r>
              <a:rPr sz="1600" b="0">
                <a:solidFill>
                  <a:srgbClr val="AABBCC"/>
                </a:solidFill>
                <a:latin typeface="Helvetica Neue"/>
              </a:rPr>
              <a:t>From Your Voice. On Your Device. In 25 Seconds.</a:t>
            </a:r>
          </a:p>
        </p:txBody>
      </p:sp>
      <p:sp>
        <p:nvSpPr>
          <p:cNvPr id="8" name="Rectangle 7"/>
          <p:cNvSpPr/>
          <p:nvPr/>
        </p:nvSpPr>
        <p:spPr>
          <a:xfrm>
            <a:off x="4114800" y="5394960"/>
            <a:ext cx="393192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667788"/>
                </a:solidFill>
                <a:latin typeface="Helvetica Neue"/>
              </a:rPr>
              <a:t>1 / 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THE PROBLEM</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600" b="1">
                <a:solidFill>
                  <a:srgbClr val="2D2D3A"/>
                </a:solidFill>
                <a:latin typeface="Georgia"/>
              </a:rPr>
              <a:t>The Quantified-Self Blind Spot</a:t>
            </a:r>
          </a:p>
        </p:txBody>
      </p:sp>
      <p:sp>
        <p:nvSpPr>
          <p:cNvPr id="6" name="TextBox 5"/>
          <p:cNvSpPr txBox="1"/>
          <p:nvPr/>
        </p:nvSpPr>
        <p:spPr>
          <a:xfrm>
            <a:off x="731520" y="1691640"/>
            <a:ext cx="10515600" cy="548640"/>
          </a:xfrm>
          <a:prstGeom prst="rect">
            <a:avLst/>
          </a:prstGeom>
          <a:noFill/>
        </p:spPr>
        <p:txBody>
          <a:bodyPr wrap="square" anchor="t"/>
          <a:lstStyle/>
          <a:p>
            <a:pPr algn="l">
              <a:spcBef>
                <a:spcPts val="0"/>
              </a:spcBef>
              <a:spcAft>
                <a:spcPts val="0"/>
              </a:spcAft>
              <a:lnSpc>
                <a:spcPct val="140000"/>
              </a:lnSpc>
            </a:pPr>
            <a:r>
              <a:rPr sz="1800" b="0">
                <a:solidFill>
                  <a:srgbClr val="555566"/>
                </a:solidFill>
                <a:latin typeface="Helvetica Neue"/>
              </a:rPr>
              <a:t>You track your heart, your sleep, your steps, your recovery. What about your mind?</a:t>
            </a:r>
          </a:p>
        </p:txBody>
      </p:sp>
      <p:sp>
        <p:nvSpPr>
          <p:cNvPr id="7" name="Rounded Rectangle 6"/>
          <p:cNvSpPr/>
          <p:nvPr/>
        </p:nvSpPr>
        <p:spPr>
          <a:xfrm>
            <a:off x="731520" y="2560320"/>
            <a:ext cx="2011680" cy="14630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60120" y="2743200"/>
            <a:ext cx="457200" cy="3810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26080"/>
            <a:ext cx="155448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Whoop</a:t>
            </a:r>
          </a:p>
        </p:txBody>
      </p:sp>
      <p:sp>
        <p:nvSpPr>
          <p:cNvPr id="10" name="TextBox 9"/>
          <p:cNvSpPr txBox="1"/>
          <p:nvPr/>
        </p:nvSpPr>
        <p:spPr>
          <a:xfrm>
            <a:off x="960120" y="3337560"/>
            <a:ext cx="1554480" cy="457200"/>
          </a:xfrm>
          <a:prstGeom prst="rect">
            <a:avLst/>
          </a:prstGeom>
          <a:noFill/>
        </p:spPr>
        <p:txBody>
          <a:bodyPr wrap="square" anchor="t"/>
          <a:lstStyle/>
          <a:p>
            <a:pPr algn="l">
              <a:spcBef>
                <a:spcPts val="0"/>
              </a:spcBef>
              <a:spcAft>
                <a:spcPts val="0"/>
              </a:spcAft>
              <a:lnSpc>
                <a:spcPct val="120000"/>
              </a:lnSpc>
            </a:pPr>
            <a:r>
              <a:rPr sz="1200" b="0">
                <a:solidFill>
                  <a:srgbClr val="555566"/>
                </a:solidFill>
                <a:latin typeface="Helvetica Neue"/>
              </a:rPr>
              <a:t>Recovery Score</a:t>
            </a:r>
          </a:p>
        </p:txBody>
      </p:sp>
      <p:sp>
        <p:nvSpPr>
          <p:cNvPr id="11" name="TextBox 10"/>
          <p:cNvSpPr txBox="1"/>
          <p:nvPr/>
        </p:nvSpPr>
        <p:spPr>
          <a:xfrm>
            <a:off x="2286000" y="2880360"/>
            <a:ext cx="320040" cy="365760"/>
          </a:xfrm>
          <a:prstGeom prst="rect">
            <a:avLst/>
          </a:prstGeom>
          <a:noFill/>
        </p:spPr>
        <p:txBody>
          <a:bodyPr wrap="square" anchor="t"/>
          <a:lstStyle/>
          <a:p>
            <a:pPr algn="ctr">
              <a:spcBef>
                <a:spcPts val="0"/>
              </a:spcBef>
              <a:spcAft>
                <a:spcPts val="0"/>
              </a:spcAft>
              <a:lnSpc>
                <a:spcPct val="120000"/>
              </a:lnSpc>
            </a:pPr>
            <a:r>
              <a:rPr sz="1800" b="1">
                <a:solidFill>
                  <a:srgbClr val="4EC9B0"/>
                </a:solidFill>
                <a:latin typeface="Helvetica Neue"/>
              </a:rPr>
              <a:t>✓</a:t>
            </a:r>
          </a:p>
        </p:txBody>
      </p:sp>
      <p:sp>
        <p:nvSpPr>
          <p:cNvPr id="12" name="Rounded Rectangle 11"/>
          <p:cNvSpPr/>
          <p:nvPr/>
        </p:nvSpPr>
        <p:spPr>
          <a:xfrm>
            <a:off x="2971800" y="2560320"/>
            <a:ext cx="2011680" cy="14630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0" y="2743200"/>
            <a:ext cx="457200" cy="38100"/>
          </a:xfrm>
          <a:prstGeom prst="rect">
            <a:avLst/>
          </a:prstGeom>
          <a:solidFill>
            <a:srgbClr val="7B6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0" y="2926080"/>
            <a:ext cx="155448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Oura</a:t>
            </a:r>
          </a:p>
        </p:txBody>
      </p:sp>
      <p:sp>
        <p:nvSpPr>
          <p:cNvPr id="15" name="TextBox 14"/>
          <p:cNvSpPr txBox="1"/>
          <p:nvPr/>
        </p:nvSpPr>
        <p:spPr>
          <a:xfrm>
            <a:off x="3200400" y="3337560"/>
            <a:ext cx="1554480" cy="457200"/>
          </a:xfrm>
          <a:prstGeom prst="rect">
            <a:avLst/>
          </a:prstGeom>
          <a:noFill/>
        </p:spPr>
        <p:txBody>
          <a:bodyPr wrap="square" anchor="t"/>
          <a:lstStyle/>
          <a:p>
            <a:pPr algn="l">
              <a:spcBef>
                <a:spcPts val="0"/>
              </a:spcBef>
              <a:spcAft>
                <a:spcPts val="0"/>
              </a:spcAft>
              <a:lnSpc>
                <a:spcPct val="120000"/>
              </a:lnSpc>
            </a:pPr>
            <a:r>
              <a:rPr sz="1200" b="0">
                <a:solidFill>
                  <a:srgbClr val="555566"/>
                </a:solidFill>
                <a:latin typeface="Helvetica Neue"/>
              </a:rPr>
              <a:t>Sleep Quality</a:t>
            </a:r>
          </a:p>
        </p:txBody>
      </p:sp>
      <p:sp>
        <p:nvSpPr>
          <p:cNvPr id="16" name="TextBox 15"/>
          <p:cNvSpPr txBox="1"/>
          <p:nvPr/>
        </p:nvSpPr>
        <p:spPr>
          <a:xfrm>
            <a:off x="4526280" y="2880360"/>
            <a:ext cx="320040" cy="365760"/>
          </a:xfrm>
          <a:prstGeom prst="rect">
            <a:avLst/>
          </a:prstGeom>
          <a:noFill/>
        </p:spPr>
        <p:txBody>
          <a:bodyPr wrap="square" anchor="t"/>
          <a:lstStyle/>
          <a:p>
            <a:pPr algn="ctr">
              <a:spcBef>
                <a:spcPts val="0"/>
              </a:spcBef>
              <a:spcAft>
                <a:spcPts val="0"/>
              </a:spcAft>
              <a:lnSpc>
                <a:spcPct val="120000"/>
              </a:lnSpc>
            </a:pPr>
            <a:r>
              <a:rPr sz="1800" b="1">
                <a:solidFill>
                  <a:srgbClr val="4EC9B0"/>
                </a:solidFill>
                <a:latin typeface="Helvetica Neue"/>
              </a:rPr>
              <a:t>✓</a:t>
            </a:r>
          </a:p>
        </p:txBody>
      </p:sp>
      <p:sp>
        <p:nvSpPr>
          <p:cNvPr id="17" name="Rounded Rectangle 16"/>
          <p:cNvSpPr/>
          <p:nvPr/>
        </p:nvSpPr>
        <p:spPr>
          <a:xfrm>
            <a:off x="5212080" y="2560320"/>
            <a:ext cx="2011680" cy="14630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40680" y="2743200"/>
            <a:ext cx="457200" cy="38100"/>
          </a:xfrm>
          <a:prstGeom prst="rect">
            <a:avLst/>
          </a:prstGeom>
          <a:solidFill>
            <a:srgbClr val="E8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0680" y="2926080"/>
            <a:ext cx="155448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Apple Watch</a:t>
            </a:r>
          </a:p>
        </p:txBody>
      </p:sp>
      <p:sp>
        <p:nvSpPr>
          <p:cNvPr id="20" name="TextBox 19"/>
          <p:cNvSpPr txBox="1"/>
          <p:nvPr/>
        </p:nvSpPr>
        <p:spPr>
          <a:xfrm>
            <a:off x="5440680" y="3337560"/>
            <a:ext cx="1554480" cy="457200"/>
          </a:xfrm>
          <a:prstGeom prst="rect">
            <a:avLst/>
          </a:prstGeom>
          <a:noFill/>
        </p:spPr>
        <p:txBody>
          <a:bodyPr wrap="square" anchor="t"/>
          <a:lstStyle/>
          <a:p>
            <a:pPr algn="l">
              <a:spcBef>
                <a:spcPts val="0"/>
              </a:spcBef>
              <a:spcAft>
                <a:spcPts val="0"/>
              </a:spcAft>
              <a:lnSpc>
                <a:spcPct val="120000"/>
              </a:lnSpc>
            </a:pPr>
            <a:r>
              <a:rPr sz="1200" b="0">
                <a:solidFill>
                  <a:srgbClr val="555566"/>
                </a:solidFill>
                <a:latin typeface="Helvetica Neue"/>
              </a:rPr>
              <a:t>HRV / Heart Rate</a:t>
            </a:r>
          </a:p>
        </p:txBody>
      </p:sp>
      <p:sp>
        <p:nvSpPr>
          <p:cNvPr id="21" name="TextBox 20"/>
          <p:cNvSpPr txBox="1"/>
          <p:nvPr/>
        </p:nvSpPr>
        <p:spPr>
          <a:xfrm>
            <a:off x="6766560" y="2880360"/>
            <a:ext cx="320040" cy="365760"/>
          </a:xfrm>
          <a:prstGeom prst="rect">
            <a:avLst/>
          </a:prstGeom>
          <a:noFill/>
        </p:spPr>
        <p:txBody>
          <a:bodyPr wrap="square" anchor="t"/>
          <a:lstStyle/>
          <a:p>
            <a:pPr algn="ctr">
              <a:spcBef>
                <a:spcPts val="0"/>
              </a:spcBef>
              <a:spcAft>
                <a:spcPts val="0"/>
              </a:spcAft>
              <a:lnSpc>
                <a:spcPct val="120000"/>
              </a:lnSpc>
            </a:pPr>
            <a:r>
              <a:rPr sz="1800" b="1">
                <a:solidFill>
                  <a:srgbClr val="4EC9B0"/>
                </a:solidFill>
                <a:latin typeface="Helvetica Neue"/>
              </a:rPr>
              <a:t>✓</a:t>
            </a:r>
          </a:p>
        </p:txBody>
      </p:sp>
      <p:sp>
        <p:nvSpPr>
          <p:cNvPr id="22" name="Rounded Rectangle 21"/>
          <p:cNvSpPr/>
          <p:nvPr/>
        </p:nvSpPr>
        <p:spPr>
          <a:xfrm>
            <a:off x="7452360" y="2560320"/>
            <a:ext cx="2011680" cy="14630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80960" y="2743200"/>
            <a:ext cx="457200" cy="38100"/>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2926080"/>
            <a:ext cx="155448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Garmin</a:t>
            </a:r>
          </a:p>
        </p:txBody>
      </p:sp>
      <p:sp>
        <p:nvSpPr>
          <p:cNvPr id="25" name="TextBox 24"/>
          <p:cNvSpPr txBox="1"/>
          <p:nvPr/>
        </p:nvSpPr>
        <p:spPr>
          <a:xfrm>
            <a:off x="7680960" y="3337560"/>
            <a:ext cx="1554480" cy="457200"/>
          </a:xfrm>
          <a:prstGeom prst="rect">
            <a:avLst/>
          </a:prstGeom>
          <a:noFill/>
        </p:spPr>
        <p:txBody>
          <a:bodyPr wrap="square" anchor="t"/>
          <a:lstStyle/>
          <a:p>
            <a:pPr algn="l">
              <a:spcBef>
                <a:spcPts val="0"/>
              </a:spcBef>
              <a:spcAft>
                <a:spcPts val="0"/>
              </a:spcAft>
              <a:lnSpc>
                <a:spcPct val="120000"/>
              </a:lnSpc>
            </a:pPr>
            <a:r>
              <a:rPr sz="1200" b="0">
                <a:solidFill>
                  <a:srgbClr val="555566"/>
                </a:solidFill>
                <a:latin typeface="Helvetica Neue"/>
              </a:rPr>
              <a:t>VO2 Max / Training</a:t>
            </a:r>
          </a:p>
        </p:txBody>
      </p:sp>
      <p:sp>
        <p:nvSpPr>
          <p:cNvPr id="26" name="TextBox 25"/>
          <p:cNvSpPr txBox="1"/>
          <p:nvPr/>
        </p:nvSpPr>
        <p:spPr>
          <a:xfrm>
            <a:off x="9006840" y="2880360"/>
            <a:ext cx="320040" cy="365760"/>
          </a:xfrm>
          <a:prstGeom prst="rect">
            <a:avLst/>
          </a:prstGeom>
          <a:noFill/>
        </p:spPr>
        <p:txBody>
          <a:bodyPr wrap="square" anchor="t"/>
          <a:lstStyle/>
          <a:p>
            <a:pPr algn="ctr">
              <a:spcBef>
                <a:spcPts val="0"/>
              </a:spcBef>
              <a:spcAft>
                <a:spcPts val="0"/>
              </a:spcAft>
              <a:lnSpc>
                <a:spcPct val="120000"/>
              </a:lnSpc>
            </a:pPr>
            <a:r>
              <a:rPr sz="1800" b="1">
                <a:solidFill>
                  <a:srgbClr val="4EC9B0"/>
                </a:solidFill>
                <a:latin typeface="Helvetica Neue"/>
              </a:rPr>
              <a:t>✓</a:t>
            </a:r>
          </a:p>
        </p:txBody>
      </p:sp>
      <p:sp>
        <p:nvSpPr>
          <p:cNvPr id="27" name="Rounded Rectangle 26"/>
          <p:cNvSpPr/>
          <p:nvPr/>
        </p:nvSpPr>
        <p:spPr>
          <a:xfrm>
            <a:off x="9692640" y="2560320"/>
            <a:ext cx="1645920" cy="1463040"/>
          </a:xfrm>
          <a:prstGeom prst="roundRect">
            <a:avLst>
              <a:gd name="adj" fmla="val 6000"/>
            </a:avLst>
          </a:prstGeom>
          <a:solidFill>
            <a:srgbClr val="FFF3F3"/>
          </a:solidFill>
          <a:ln w="19050">
            <a:solidFill>
              <a:srgbClr val="E8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0" y="2697480"/>
            <a:ext cx="1645920" cy="548640"/>
          </a:xfrm>
          <a:prstGeom prst="rect">
            <a:avLst/>
          </a:prstGeom>
          <a:noFill/>
        </p:spPr>
        <p:txBody>
          <a:bodyPr wrap="square" anchor="t"/>
          <a:lstStyle/>
          <a:p>
            <a:pPr algn="ctr">
              <a:spcBef>
                <a:spcPts val="0"/>
              </a:spcBef>
              <a:spcAft>
                <a:spcPts val="0"/>
              </a:spcAft>
              <a:lnSpc>
                <a:spcPct val="120000"/>
              </a:lnSpc>
            </a:pPr>
            <a:r>
              <a:rPr sz="3600" b="1">
                <a:solidFill>
                  <a:srgbClr val="E86B6B"/>
                </a:solidFill>
                <a:latin typeface="Georgia"/>
              </a:rPr>
              <a:t>?</a:t>
            </a:r>
          </a:p>
        </p:txBody>
      </p:sp>
      <p:sp>
        <p:nvSpPr>
          <p:cNvPr id="29" name="TextBox 28"/>
          <p:cNvSpPr txBox="1"/>
          <p:nvPr/>
        </p:nvSpPr>
        <p:spPr>
          <a:xfrm>
            <a:off x="9829800" y="3246120"/>
            <a:ext cx="1371600" cy="548640"/>
          </a:xfrm>
          <a:prstGeom prst="rect">
            <a:avLst/>
          </a:prstGeom>
          <a:noFill/>
        </p:spPr>
        <p:txBody>
          <a:bodyPr wrap="square" anchor="t"/>
          <a:lstStyle/>
          <a:p>
            <a:pPr algn="ctr">
              <a:spcBef>
                <a:spcPts val="0"/>
              </a:spcBef>
              <a:spcAft>
                <a:spcPts val="0"/>
              </a:spcAft>
              <a:lnSpc>
                <a:spcPct val="120000"/>
              </a:lnSpc>
            </a:pPr>
            <a:r>
              <a:rPr sz="1400" b="1">
                <a:solidFill>
                  <a:srgbClr val="E86B6B"/>
                </a:solidFill>
                <a:latin typeface="Helvetica Neue"/>
              </a:rPr>
              <a:t>Mental Health</a:t>
            </a:r>
          </a:p>
        </p:txBody>
      </p:sp>
      <p:sp>
        <p:nvSpPr>
          <p:cNvPr id="30" name="TextBox 29"/>
          <p:cNvSpPr txBox="1"/>
          <p:nvPr/>
        </p:nvSpPr>
        <p:spPr>
          <a:xfrm>
            <a:off x="731520" y="4389120"/>
            <a:ext cx="10515600" cy="548640"/>
          </a:xfrm>
          <a:prstGeom prst="rect">
            <a:avLst/>
          </a:prstGeom>
          <a:noFill/>
        </p:spPr>
        <p:txBody>
          <a:bodyPr wrap="square" anchor="t"/>
          <a:lstStyle/>
          <a:p>
            <a:pPr algn="l">
              <a:spcBef>
                <a:spcPts val="0"/>
              </a:spcBef>
              <a:spcAft>
                <a:spcPts val="0"/>
              </a:spcAft>
              <a:lnSpc>
                <a:spcPct val="140000"/>
              </a:lnSpc>
            </a:pPr>
            <a:r>
              <a:rPr sz="1500" b="0">
                <a:solidFill>
                  <a:srgbClr val="555566"/>
                </a:solidFill>
                <a:latin typeface="Helvetica Neue"/>
              </a:rPr>
              <a:t>These are high-performers with disposable income who obsessively quantify every body metric.</a:t>
            </a:r>
          </a:p>
        </p:txBody>
      </p:sp>
      <p:sp>
        <p:nvSpPr>
          <p:cNvPr id="31" name="TextBox 30"/>
          <p:cNvSpPr txBox="1"/>
          <p:nvPr/>
        </p:nvSpPr>
        <p:spPr>
          <a:xfrm>
            <a:off x="731520" y="4892040"/>
            <a:ext cx="10515600" cy="548640"/>
          </a:xfrm>
          <a:prstGeom prst="rect">
            <a:avLst/>
          </a:prstGeom>
          <a:noFill/>
        </p:spPr>
        <p:txBody>
          <a:bodyPr wrap="square" anchor="t"/>
          <a:lstStyle/>
          <a:p>
            <a:pPr algn="l">
              <a:spcBef>
                <a:spcPts val="0"/>
              </a:spcBef>
              <a:spcAft>
                <a:spcPts val="0"/>
              </a:spcAft>
              <a:lnSpc>
                <a:spcPct val="140000"/>
              </a:lnSpc>
            </a:pPr>
            <a:r>
              <a:rPr sz="1500" b="0">
                <a:solidFill>
                  <a:srgbClr val="555566"/>
                </a:solidFill>
                <a:latin typeface="Helvetica Neue"/>
              </a:rPr>
              <a:t>Their only mental health tools? Subjective self-report questionnaires, mood journals, and therapy once a week.</a:t>
            </a:r>
          </a:p>
        </p:txBody>
      </p:sp>
      <p:sp>
        <p:nvSpPr>
          <p:cNvPr id="32" name="Rectangle 31"/>
          <p:cNvSpPr/>
          <p:nvPr/>
        </p:nvSpPr>
        <p:spPr>
          <a:xfrm>
            <a:off x="731520" y="5669280"/>
            <a:ext cx="10698480" cy="12700"/>
          </a:xfrm>
          <a:prstGeom prst="rect">
            <a:avLst/>
          </a:prstGeom>
          <a:solidFill>
            <a:srgbClr val="E8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806440"/>
            <a:ext cx="10515600" cy="365760"/>
          </a:xfrm>
          <a:prstGeom prst="rect">
            <a:avLst/>
          </a:prstGeom>
          <a:noFill/>
        </p:spPr>
        <p:txBody>
          <a:bodyPr wrap="square" anchor="t"/>
          <a:lstStyle/>
          <a:p>
            <a:pPr algn="l">
              <a:spcBef>
                <a:spcPts val="0"/>
              </a:spcBef>
              <a:spcAft>
                <a:spcPts val="0"/>
              </a:spcAft>
              <a:lnSpc>
                <a:spcPct val="130000"/>
              </a:lnSpc>
            </a:pPr>
            <a:r>
              <a:rPr sz="1600" b="1">
                <a:solidFill>
                  <a:srgbClr val="2D2D3A"/>
                </a:solidFill>
                <a:latin typeface="Helvetica Neue"/>
              </a:rPr>
              <a:t>They have zero way to objectively, continuously track their mental health.</a:t>
            </a:r>
          </a:p>
        </p:txBody>
      </p:sp>
      <p:sp>
        <p:nvSpPr>
          <p:cNvPr id="34" name="TextBox 33"/>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2 /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THE MARKET</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600" b="1">
                <a:solidFill>
                  <a:srgbClr val="2D2D3A"/>
                </a:solidFill>
                <a:latin typeface="Georgia"/>
              </a:rPr>
              <a:t>The Quantified-Self Market</a:t>
            </a:r>
          </a:p>
        </p:txBody>
      </p:sp>
      <p:sp>
        <p:nvSpPr>
          <p:cNvPr id="6" name="TextBox 5"/>
          <p:cNvSpPr txBox="1"/>
          <p:nvPr/>
        </p:nvSpPr>
        <p:spPr>
          <a:xfrm>
            <a:off x="731520" y="1691640"/>
            <a:ext cx="10515600" cy="457200"/>
          </a:xfrm>
          <a:prstGeom prst="rect">
            <a:avLst/>
          </a:prstGeom>
          <a:noFill/>
        </p:spPr>
        <p:txBody>
          <a:bodyPr wrap="square" anchor="t"/>
          <a:lstStyle/>
          <a:p>
            <a:pPr algn="l">
              <a:spcBef>
                <a:spcPts val="0"/>
              </a:spcBef>
              <a:spcAft>
                <a:spcPts val="0"/>
              </a:spcAft>
              <a:lnSpc>
                <a:spcPct val="140000"/>
              </a:lnSpc>
            </a:pPr>
            <a:r>
              <a:rPr sz="1700" b="0">
                <a:solidFill>
                  <a:srgbClr val="555566"/>
                </a:solidFill>
                <a:latin typeface="Helvetica Neue"/>
              </a:rPr>
              <a:t>150-200M people are already paying for health data. Attune adds the missing metric.</a:t>
            </a:r>
          </a:p>
        </p:txBody>
      </p:sp>
      <p:sp>
        <p:nvSpPr>
          <p:cNvPr id="7" name="Rounded Rectangle 6"/>
          <p:cNvSpPr/>
          <p:nvPr/>
        </p:nvSpPr>
        <p:spPr>
          <a:xfrm>
            <a:off x="731520" y="2377440"/>
            <a:ext cx="5029200" cy="685800"/>
          </a:xfrm>
          <a:prstGeom prst="roundRect">
            <a:avLst>
              <a:gd name="adj" fmla="val 8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14400" y="2487168"/>
            <a:ext cx="109728" cy="109728"/>
          </a:xfrm>
          <a:prstGeom prst="ellipse">
            <a:avLst/>
          </a:prstGeom>
          <a:solidFill>
            <a:srgbClr val="E8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423160"/>
            <a:ext cx="146304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Apple Watch</a:t>
            </a:r>
          </a:p>
        </p:txBody>
      </p:sp>
      <p:sp>
        <p:nvSpPr>
          <p:cNvPr id="10" name="TextBox 9"/>
          <p:cNvSpPr txBox="1"/>
          <p:nvPr/>
        </p:nvSpPr>
        <p:spPr>
          <a:xfrm>
            <a:off x="1143000" y="2724912"/>
            <a:ext cx="27432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200M+ global users (~32M US)</a:t>
            </a:r>
          </a:p>
        </p:txBody>
      </p:sp>
      <p:sp>
        <p:nvSpPr>
          <p:cNvPr id="11" name="TextBox 10"/>
          <p:cNvSpPr txBox="1"/>
          <p:nvPr/>
        </p:nvSpPr>
        <p:spPr>
          <a:xfrm>
            <a:off x="3657600" y="2423160"/>
            <a:ext cx="1920240" cy="274320"/>
          </a:xfrm>
          <a:prstGeom prst="rect">
            <a:avLst/>
          </a:prstGeom>
          <a:noFill/>
        </p:spPr>
        <p:txBody>
          <a:bodyPr wrap="square" anchor="t"/>
          <a:lstStyle/>
          <a:p>
            <a:pPr algn="r">
              <a:spcBef>
                <a:spcPts val="0"/>
              </a:spcBef>
              <a:spcAft>
                <a:spcPts val="0"/>
              </a:spcAft>
              <a:lnSpc>
                <a:spcPct val="120000"/>
              </a:lnSpc>
            </a:pPr>
            <a:r>
              <a:rPr sz="1200" b="1">
                <a:solidFill>
                  <a:srgbClr val="5B8DB8"/>
                </a:solidFill>
                <a:latin typeface="Helvetica Neue"/>
              </a:rPr>
              <a:t>$249 – $799</a:t>
            </a:r>
          </a:p>
        </p:txBody>
      </p:sp>
      <p:sp>
        <p:nvSpPr>
          <p:cNvPr id="12" name="Rounded Rectangle 11"/>
          <p:cNvSpPr/>
          <p:nvPr/>
        </p:nvSpPr>
        <p:spPr>
          <a:xfrm>
            <a:off x="731520" y="3200400"/>
            <a:ext cx="5029200" cy="685800"/>
          </a:xfrm>
          <a:prstGeom prst="roundRect">
            <a:avLst>
              <a:gd name="adj" fmla="val 8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4400" y="3310128"/>
            <a:ext cx="109728" cy="109728"/>
          </a:xfrm>
          <a:prstGeom prst="ellipse">
            <a:avLst/>
          </a:prstGeom>
          <a:solidFill>
            <a:srgbClr val="7B6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3246120"/>
            <a:ext cx="146304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Oura Ring</a:t>
            </a:r>
          </a:p>
        </p:txBody>
      </p:sp>
      <p:sp>
        <p:nvSpPr>
          <p:cNvPr id="15" name="TextBox 14"/>
          <p:cNvSpPr txBox="1"/>
          <p:nvPr/>
        </p:nvSpPr>
        <p:spPr>
          <a:xfrm>
            <a:off x="1143000" y="3547872"/>
            <a:ext cx="27432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5.5M+ sold • $11B valuation</a:t>
            </a:r>
          </a:p>
        </p:txBody>
      </p:sp>
      <p:sp>
        <p:nvSpPr>
          <p:cNvPr id="16" name="TextBox 15"/>
          <p:cNvSpPr txBox="1"/>
          <p:nvPr/>
        </p:nvSpPr>
        <p:spPr>
          <a:xfrm>
            <a:off x="3657600" y="3246120"/>
            <a:ext cx="1920240" cy="274320"/>
          </a:xfrm>
          <a:prstGeom prst="rect">
            <a:avLst/>
          </a:prstGeom>
          <a:noFill/>
        </p:spPr>
        <p:txBody>
          <a:bodyPr wrap="square" anchor="t"/>
          <a:lstStyle/>
          <a:p>
            <a:pPr algn="r">
              <a:spcBef>
                <a:spcPts val="0"/>
              </a:spcBef>
              <a:spcAft>
                <a:spcPts val="0"/>
              </a:spcAft>
              <a:lnSpc>
                <a:spcPct val="120000"/>
              </a:lnSpc>
            </a:pPr>
            <a:r>
              <a:rPr sz="1200" b="1">
                <a:solidFill>
                  <a:srgbClr val="5B8DB8"/>
                </a:solidFill>
                <a:latin typeface="Helvetica Neue"/>
              </a:rPr>
              <a:t>$349 – $499 + $5.99/mo</a:t>
            </a:r>
          </a:p>
        </p:txBody>
      </p:sp>
      <p:sp>
        <p:nvSpPr>
          <p:cNvPr id="17" name="Rounded Rectangle 16"/>
          <p:cNvSpPr/>
          <p:nvPr/>
        </p:nvSpPr>
        <p:spPr>
          <a:xfrm>
            <a:off x="731520" y="4023360"/>
            <a:ext cx="5029200" cy="685800"/>
          </a:xfrm>
          <a:prstGeom prst="roundRect">
            <a:avLst>
              <a:gd name="adj" fmla="val 8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4133088"/>
            <a:ext cx="109728" cy="109728"/>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4069080"/>
            <a:ext cx="146304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WHOOP</a:t>
            </a:r>
          </a:p>
        </p:txBody>
      </p:sp>
      <p:sp>
        <p:nvSpPr>
          <p:cNvPr id="20" name="TextBox 19"/>
          <p:cNvSpPr txBox="1"/>
          <p:nvPr/>
        </p:nvSpPr>
        <p:spPr>
          <a:xfrm>
            <a:off x="1143000" y="4370832"/>
            <a:ext cx="27432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~1–2M subscribers</a:t>
            </a:r>
          </a:p>
        </p:txBody>
      </p:sp>
      <p:sp>
        <p:nvSpPr>
          <p:cNvPr id="21" name="TextBox 20"/>
          <p:cNvSpPr txBox="1"/>
          <p:nvPr/>
        </p:nvSpPr>
        <p:spPr>
          <a:xfrm>
            <a:off x="3657600" y="4069080"/>
            <a:ext cx="1920240" cy="274320"/>
          </a:xfrm>
          <a:prstGeom prst="rect">
            <a:avLst/>
          </a:prstGeom>
          <a:noFill/>
        </p:spPr>
        <p:txBody>
          <a:bodyPr wrap="square" anchor="t"/>
          <a:lstStyle/>
          <a:p>
            <a:pPr algn="r">
              <a:spcBef>
                <a:spcPts val="0"/>
              </a:spcBef>
              <a:spcAft>
                <a:spcPts val="0"/>
              </a:spcAft>
              <a:lnSpc>
                <a:spcPct val="120000"/>
              </a:lnSpc>
            </a:pPr>
            <a:r>
              <a:rPr sz="1200" b="1">
                <a:solidFill>
                  <a:srgbClr val="5B8DB8"/>
                </a:solidFill>
                <a:latin typeface="Helvetica Neue"/>
              </a:rPr>
              <a:t>$149 – $359/yr</a:t>
            </a:r>
          </a:p>
        </p:txBody>
      </p:sp>
      <p:sp>
        <p:nvSpPr>
          <p:cNvPr id="22" name="Rounded Rectangle 21"/>
          <p:cNvSpPr/>
          <p:nvPr/>
        </p:nvSpPr>
        <p:spPr>
          <a:xfrm>
            <a:off x="731520" y="4846320"/>
            <a:ext cx="5029200" cy="685800"/>
          </a:xfrm>
          <a:prstGeom prst="roundRect">
            <a:avLst>
              <a:gd name="adj" fmla="val 8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14400" y="4956048"/>
            <a:ext cx="109728" cy="109728"/>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4892040"/>
            <a:ext cx="146304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Garmin</a:t>
            </a:r>
          </a:p>
        </p:txBody>
      </p:sp>
      <p:sp>
        <p:nvSpPr>
          <p:cNvPr id="25" name="TextBox 24"/>
          <p:cNvSpPr txBox="1"/>
          <p:nvPr/>
        </p:nvSpPr>
        <p:spPr>
          <a:xfrm>
            <a:off x="1143000" y="5193792"/>
            <a:ext cx="27432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~20–30M fitness users</a:t>
            </a:r>
          </a:p>
        </p:txBody>
      </p:sp>
      <p:sp>
        <p:nvSpPr>
          <p:cNvPr id="26" name="TextBox 25"/>
          <p:cNvSpPr txBox="1"/>
          <p:nvPr/>
        </p:nvSpPr>
        <p:spPr>
          <a:xfrm>
            <a:off x="3657600" y="4892040"/>
            <a:ext cx="1920240" cy="274320"/>
          </a:xfrm>
          <a:prstGeom prst="rect">
            <a:avLst/>
          </a:prstGeom>
          <a:noFill/>
        </p:spPr>
        <p:txBody>
          <a:bodyPr wrap="square" anchor="t"/>
          <a:lstStyle/>
          <a:p>
            <a:pPr algn="r">
              <a:spcBef>
                <a:spcPts val="0"/>
              </a:spcBef>
              <a:spcAft>
                <a:spcPts val="0"/>
              </a:spcAft>
              <a:lnSpc>
                <a:spcPct val="120000"/>
              </a:lnSpc>
            </a:pPr>
            <a:r>
              <a:rPr sz="1200" b="1">
                <a:solidFill>
                  <a:srgbClr val="5B8DB8"/>
                </a:solidFill>
                <a:latin typeface="Helvetica Neue"/>
              </a:rPr>
              <a:t>$549 – $750</a:t>
            </a:r>
          </a:p>
        </p:txBody>
      </p:sp>
      <p:sp>
        <p:nvSpPr>
          <p:cNvPr id="27" name="TextBox 26"/>
          <p:cNvSpPr txBox="1"/>
          <p:nvPr/>
        </p:nvSpPr>
        <p:spPr>
          <a:xfrm>
            <a:off x="6400800" y="2468880"/>
            <a:ext cx="5029200" cy="640080"/>
          </a:xfrm>
          <a:prstGeom prst="rect">
            <a:avLst/>
          </a:prstGeom>
          <a:noFill/>
        </p:spPr>
        <p:txBody>
          <a:bodyPr wrap="square" anchor="t"/>
          <a:lstStyle/>
          <a:p>
            <a:pPr algn="l">
              <a:spcBef>
                <a:spcPts val="0"/>
              </a:spcBef>
              <a:spcAft>
                <a:spcPts val="0"/>
              </a:spcAft>
              <a:lnSpc>
                <a:spcPct val="120000"/>
              </a:lnSpc>
            </a:pPr>
            <a:r>
              <a:rPr sz="4800" b="1">
                <a:solidFill>
                  <a:srgbClr val="5B8DB8"/>
                </a:solidFill>
                <a:latin typeface="Georgia"/>
              </a:rPr>
              <a:t>150–200M</a:t>
            </a:r>
          </a:p>
        </p:txBody>
      </p:sp>
      <p:sp>
        <p:nvSpPr>
          <p:cNvPr id="28" name="TextBox 27"/>
          <p:cNvSpPr txBox="1"/>
          <p:nvPr/>
        </p:nvSpPr>
        <p:spPr>
          <a:xfrm>
            <a:off x="6400800" y="3154680"/>
            <a:ext cx="5029200" cy="457200"/>
          </a:xfrm>
          <a:prstGeom prst="rect">
            <a:avLst/>
          </a:prstGeom>
          <a:noFill/>
        </p:spPr>
        <p:txBody>
          <a:bodyPr wrap="square" anchor="t"/>
          <a:lstStyle/>
          <a:p>
            <a:pPr algn="l">
              <a:spcBef>
                <a:spcPts val="0"/>
              </a:spcBef>
              <a:spcAft>
                <a:spcPts val="0"/>
              </a:spcAft>
              <a:lnSpc>
                <a:spcPct val="130000"/>
              </a:lnSpc>
            </a:pPr>
            <a:r>
              <a:rPr sz="1500" b="1">
                <a:solidFill>
                  <a:srgbClr val="2D2D3A"/>
                </a:solidFill>
                <a:latin typeface="Helvetica Neue"/>
              </a:rPr>
              <a:t>people actively tracking HRV, sleep, and recovery</a:t>
            </a:r>
          </a:p>
        </p:txBody>
      </p:sp>
      <p:sp>
        <p:nvSpPr>
          <p:cNvPr id="29" name="TextBox 28"/>
          <p:cNvSpPr txBox="1"/>
          <p:nvPr/>
        </p:nvSpPr>
        <p:spPr>
          <a:xfrm>
            <a:off x="6400800" y="3749039"/>
            <a:ext cx="5029200" cy="731520"/>
          </a:xfrm>
          <a:prstGeom prst="rect">
            <a:avLst/>
          </a:prstGeom>
          <a:noFill/>
        </p:spPr>
        <p:txBody>
          <a:bodyPr wrap="square" anchor="t"/>
          <a:lstStyle/>
          <a:p>
            <a:pPr algn="l">
              <a:spcBef>
                <a:spcPts val="0"/>
              </a:spcBef>
              <a:spcAft>
                <a:spcPts val="0"/>
              </a:spcAft>
              <a:lnSpc>
                <a:spcPct val="150000"/>
              </a:lnSpc>
            </a:pPr>
            <a:r>
              <a:rPr sz="1300" b="0">
                <a:solidFill>
                  <a:srgbClr val="555566"/>
                </a:solidFill>
                <a:latin typeface="Helvetica Neue"/>
              </a:rPr>
              <a:t>These users spend $249–$799 on hardware + $6–30/mo on subscriptions. They are already paying for health data.</a:t>
            </a:r>
          </a:p>
        </p:txBody>
      </p:sp>
      <p:sp>
        <p:nvSpPr>
          <p:cNvPr id="30" name="Rounded Rectangle 29"/>
          <p:cNvSpPr/>
          <p:nvPr/>
        </p:nvSpPr>
        <p:spPr>
          <a:xfrm>
            <a:off x="6400800" y="4754880"/>
            <a:ext cx="5029200" cy="731520"/>
          </a:xfrm>
          <a:prstGeom prst="roundRect">
            <a:avLst>
              <a:gd name="adj" fmla="val 8000"/>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0" y="4846320"/>
            <a:ext cx="2286000" cy="320040"/>
          </a:xfrm>
          <a:prstGeom prst="rect">
            <a:avLst/>
          </a:prstGeom>
          <a:noFill/>
        </p:spPr>
        <p:txBody>
          <a:bodyPr wrap="square" anchor="t"/>
          <a:lstStyle/>
          <a:p>
            <a:pPr algn="l">
              <a:spcBef>
                <a:spcPts val="0"/>
              </a:spcBef>
              <a:spcAft>
                <a:spcPts val="0"/>
              </a:spcAft>
              <a:lnSpc>
                <a:spcPct val="120000"/>
              </a:lnSpc>
            </a:pPr>
            <a:r>
              <a:rPr sz="1800" b="1">
                <a:solidFill>
                  <a:srgbClr val="FFFFFF"/>
                </a:solidFill>
                <a:latin typeface="Georgia"/>
              </a:rPr>
              <a:t>Attune</a:t>
            </a:r>
          </a:p>
        </p:txBody>
      </p:sp>
      <p:sp>
        <p:nvSpPr>
          <p:cNvPr id="32" name="TextBox 31"/>
          <p:cNvSpPr txBox="1"/>
          <p:nvPr/>
        </p:nvSpPr>
        <p:spPr>
          <a:xfrm>
            <a:off x="9144000" y="4846320"/>
            <a:ext cx="2011680" cy="320040"/>
          </a:xfrm>
          <a:prstGeom prst="rect">
            <a:avLst/>
          </a:prstGeom>
          <a:noFill/>
        </p:spPr>
        <p:txBody>
          <a:bodyPr wrap="square" anchor="t"/>
          <a:lstStyle/>
          <a:p>
            <a:pPr algn="r">
              <a:spcBef>
                <a:spcPts val="0"/>
              </a:spcBef>
              <a:spcAft>
                <a:spcPts val="0"/>
              </a:spcAft>
              <a:lnSpc>
                <a:spcPct val="120000"/>
              </a:lnSpc>
            </a:pPr>
            <a:r>
              <a:rPr sz="1800" b="1">
                <a:solidFill>
                  <a:srgbClr val="5B8DB8"/>
                </a:solidFill>
                <a:latin typeface="Georgia"/>
              </a:rPr>
              <a:t>$14.99/mo</a:t>
            </a:r>
          </a:p>
        </p:txBody>
      </p:sp>
      <p:sp>
        <p:nvSpPr>
          <p:cNvPr id="33" name="TextBox 32"/>
          <p:cNvSpPr txBox="1"/>
          <p:nvPr/>
        </p:nvSpPr>
        <p:spPr>
          <a:xfrm>
            <a:off x="6675120" y="5166360"/>
            <a:ext cx="4389120" cy="274320"/>
          </a:xfrm>
          <a:prstGeom prst="rect">
            <a:avLst/>
          </a:prstGeom>
          <a:noFill/>
        </p:spPr>
        <p:txBody>
          <a:bodyPr wrap="square" anchor="t"/>
          <a:lstStyle/>
          <a:p>
            <a:pPr algn="l">
              <a:spcBef>
                <a:spcPts val="0"/>
              </a:spcBef>
              <a:spcAft>
                <a:spcPts val="0"/>
              </a:spcAft>
              <a:lnSpc>
                <a:spcPct val="120000"/>
              </a:lnSpc>
            </a:pPr>
            <a:r>
              <a:rPr sz="1100" b="0">
                <a:solidFill>
                  <a:srgbClr val="AABBCC"/>
                </a:solidFill>
                <a:latin typeface="Helvetica Neue"/>
              </a:rPr>
              <a:t>The mental health metric their stack is missing</a:t>
            </a:r>
          </a:p>
        </p:txBody>
      </p:sp>
      <p:sp>
        <p:nvSpPr>
          <p:cNvPr id="34" name="Rectangle 33"/>
          <p:cNvSpPr/>
          <p:nvPr/>
        </p:nvSpPr>
        <p:spPr>
          <a:xfrm>
            <a:off x="731520" y="5760720"/>
            <a:ext cx="10698480" cy="12700"/>
          </a:xfrm>
          <a:prstGeom prst="rect">
            <a:avLst/>
          </a:prstGeom>
          <a:solidFill>
            <a:srgbClr val="E8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897880"/>
            <a:ext cx="10515600" cy="36576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Zero voice-first mental health players in this ecosystem. Attune is the first.</a:t>
            </a:r>
          </a:p>
        </p:txBody>
      </p:sp>
      <p:sp>
        <p:nvSpPr>
          <p:cNvPr id="36" name="TextBox 35"/>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3 /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THE PROBLEM</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600" b="1">
                <a:solidFill>
                  <a:srgbClr val="2D2D3A"/>
                </a:solidFill>
                <a:latin typeface="Georgia"/>
              </a:rPr>
              <a:t>You Can't Improve What You Can't Measure</a:t>
            </a:r>
          </a:p>
        </p:txBody>
      </p:sp>
      <p:sp>
        <p:nvSpPr>
          <p:cNvPr id="6" name="Rounded Rectangle 5"/>
          <p:cNvSpPr/>
          <p:nvPr/>
        </p:nvSpPr>
        <p:spPr>
          <a:xfrm>
            <a:off x="731520" y="2011680"/>
            <a:ext cx="4754880" cy="3291840"/>
          </a:xfrm>
          <a:prstGeom prst="roundRect">
            <a:avLst>
              <a:gd name="adj" fmla="val 4000"/>
            </a:avLst>
          </a:prstGeom>
          <a:solidFill>
            <a:srgbClr val="FFFFFF"/>
          </a:solidFill>
          <a:ln w="19050">
            <a:solidFill>
              <a:srgbClr val="4EC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40280"/>
            <a:ext cx="3657600" cy="365760"/>
          </a:xfrm>
          <a:prstGeom prst="rect">
            <a:avLst/>
          </a:prstGeom>
          <a:noFill/>
        </p:spPr>
        <p:txBody>
          <a:bodyPr wrap="square" anchor="t"/>
          <a:lstStyle/>
          <a:p>
            <a:pPr algn="l">
              <a:spcBef>
                <a:spcPts val="0"/>
              </a:spcBef>
              <a:spcAft>
                <a:spcPts val="0"/>
              </a:spcAft>
              <a:lnSpc>
                <a:spcPct val="120000"/>
              </a:lnSpc>
            </a:pPr>
            <a:r>
              <a:rPr sz="2000" b="1">
                <a:solidFill>
                  <a:srgbClr val="4EC9B0"/>
                </a:solidFill>
                <a:latin typeface="Georgia"/>
              </a:rPr>
              <a:t>Body: Fully Quantified</a:t>
            </a:r>
          </a:p>
        </p:txBody>
      </p:sp>
      <p:sp>
        <p:nvSpPr>
          <p:cNvPr id="8" name="TextBox 7"/>
          <p:cNvSpPr txBox="1"/>
          <p:nvPr/>
        </p:nvSpPr>
        <p:spPr>
          <a:xfrm>
            <a:off x="1097280" y="2743200"/>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Heart rate — continuous, real-time</a:t>
            </a:r>
          </a:p>
        </p:txBody>
      </p:sp>
      <p:sp>
        <p:nvSpPr>
          <p:cNvPr id="9" name="TextBox 8"/>
          <p:cNvSpPr txBox="1"/>
          <p:nvPr/>
        </p:nvSpPr>
        <p:spPr>
          <a:xfrm>
            <a:off x="1097280" y="3127248"/>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Sleep stages — automatic, nightly</a:t>
            </a:r>
          </a:p>
        </p:txBody>
      </p:sp>
      <p:sp>
        <p:nvSpPr>
          <p:cNvPr id="10" name="TextBox 9"/>
          <p:cNvSpPr txBox="1"/>
          <p:nvPr/>
        </p:nvSpPr>
        <p:spPr>
          <a:xfrm>
            <a:off x="1097280" y="3511296"/>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HRV — objective stress proxy</a:t>
            </a:r>
          </a:p>
        </p:txBody>
      </p:sp>
      <p:sp>
        <p:nvSpPr>
          <p:cNvPr id="11" name="TextBox 10"/>
          <p:cNvSpPr txBox="1"/>
          <p:nvPr/>
        </p:nvSpPr>
        <p:spPr>
          <a:xfrm>
            <a:off x="1097280" y="3895344"/>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VO2 max — cardio fitness trend</a:t>
            </a:r>
          </a:p>
        </p:txBody>
      </p:sp>
      <p:sp>
        <p:nvSpPr>
          <p:cNvPr id="12" name="TextBox 11"/>
          <p:cNvSpPr txBox="1"/>
          <p:nvPr/>
        </p:nvSpPr>
        <p:spPr>
          <a:xfrm>
            <a:off x="1097280" y="4279392"/>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Steps / activity — passive, 24/7</a:t>
            </a:r>
          </a:p>
        </p:txBody>
      </p:sp>
      <p:sp>
        <p:nvSpPr>
          <p:cNvPr id="13" name="TextBox 12"/>
          <p:cNvSpPr txBox="1"/>
          <p:nvPr/>
        </p:nvSpPr>
        <p:spPr>
          <a:xfrm>
            <a:off x="1097280" y="4663440"/>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Blood oxygen — overnight SpO2</a:t>
            </a:r>
          </a:p>
        </p:txBody>
      </p:sp>
      <p:sp>
        <p:nvSpPr>
          <p:cNvPr id="14" name="Rounded Rectangle 13"/>
          <p:cNvSpPr/>
          <p:nvPr/>
        </p:nvSpPr>
        <p:spPr>
          <a:xfrm>
            <a:off x="6217920" y="2011680"/>
            <a:ext cx="4754880" cy="3291840"/>
          </a:xfrm>
          <a:prstGeom prst="roundRect">
            <a:avLst>
              <a:gd name="adj" fmla="val 4000"/>
            </a:avLst>
          </a:prstGeom>
          <a:solidFill>
            <a:srgbClr val="FFFFFF"/>
          </a:solidFill>
          <a:ln w="19050">
            <a:solidFill>
              <a:srgbClr val="E8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2240280"/>
            <a:ext cx="3657600" cy="365760"/>
          </a:xfrm>
          <a:prstGeom prst="rect">
            <a:avLst/>
          </a:prstGeom>
          <a:noFill/>
        </p:spPr>
        <p:txBody>
          <a:bodyPr wrap="square" anchor="t"/>
          <a:lstStyle/>
          <a:p>
            <a:pPr algn="l">
              <a:spcBef>
                <a:spcPts val="0"/>
              </a:spcBef>
              <a:spcAft>
                <a:spcPts val="0"/>
              </a:spcAft>
              <a:lnSpc>
                <a:spcPct val="120000"/>
              </a:lnSpc>
            </a:pPr>
            <a:r>
              <a:rPr sz="2000" b="1">
                <a:solidFill>
                  <a:srgbClr val="E86B6B"/>
                </a:solidFill>
                <a:latin typeface="Georgia"/>
              </a:rPr>
              <a:t>Mind: Unmeasured</a:t>
            </a:r>
          </a:p>
        </p:txBody>
      </p:sp>
      <p:sp>
        <p:nvSpPr>
          <p:cNvPr id="16" name="TextBox 15"/>
          <p:cNvSpPr txBox="1"/>
          <p:nvPr/>
        </p:nvSpPr>
        <p:spPr>
          <a:xfrm>
            <a:off x="6583680" y="2743200"/>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Stress — subjective 1-10 scale</a:t>
            </a:r>
          </a:p>
        </p:txBody>
      </p:sp>
      <p:sp>
        <p:nvSpPr>
          <p:cNvPr id="17" name="TextBox 16"/>
          <p:cNvSpPr txBox="1"/>
          <p:nvPr/>
        </p:nvSpPr>
        <p:spPr>
          <a:xfrm>
            <a:off x="6583680" y="3127248"/>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Mood — self-report questionnaire</a:t>
            </a:r>
          </a:p>
        </p:txBody>
      </p:sp>
      <p:sp>
        <p:nvSpPr>
          <p:cNvPr id="18" name="TextBox 17"/>
          <p:cNvSpPr txBox="1"/>
          <p:nvPr/>
        </p:nvSpPr>
        <p:spPr>
          <a:xfrm>
            <a:off x="6583680" y="3511296"/>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Anxiety — PHQ / GAD forms</a:t>
            </a:r>
          </a:p>
        </p:txBody>
      </p:sp>
      <p:sp>
        <p:nvSpPr>
          <p:cNvPr id="19" name="TextBox 18"/>
          <p:cNvSpPr txBox="1"/>
          <p:nvPr/>
        </p:nvSpPr>
        <p:spPr>
          <a:xfrm>
            <a:off x="6583680" y="3895344"/>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Depression — episodic screening</a:t>
            </a:r>
          </a:p>
        </p:txBody>
      </p:sp>
      <p:sp>
        <p:nvSpPr>
          <p:cNvPr id="20" name="TextBox 19"/>
          <p:cNvSpPr txBox="1"/>
          <p:nvPr/>
        </p:nvSpPr>
        <p:spPr>
          <a:xfrm>
            <a:off x="6583680" y="4279392"/>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Cognitive load — not measured</a:t>
            </a:r>
          </a:p>
        </p:txBody>
      </p:sp>
      <p:sp>
        <p:nvSpPr>
          <p:cNvPr id="21" name="TextBox 20"/>
          <p:cNvSpPr txBox="1"/>
          <p:nvPr/>
        </p:nvSpPr>
        <p:spPr>
          <a:xfrm>
            <a:off x="6583680" y="4663440"/>
            <a:ext cx="402336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   Mental fatigue — not measured</a:t>
            </a:r>
          </a:p>
        </p:txBody>
      </p:sp>
      <p:sp>
        <p:nvSpPr>
          <p:cNvPr id="22" name="Rectangle 21"/>
          <p:cNvSpPr/>
          <p:nvPr/>
        </p:nvSpPr>
        <p:spPr>
          <a:xfrm>
            <a:off x="731520" y="5577840"/>
            <a:ext cx="10698480" cy="12700"/>
          </a:xfrm>
          <a:prstGeom prst="rect">
            <a:avLst/>
          </a:prstGeom>
          <a:solidFill>
            <a:srgbClr val="E8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715000"/>
            <a:ext cx="10515600" cy="457200"/>
          </a:xfrm>
          <a:prstGeom prst="rect">
            <a:avLst/>
          </a:prstGeom>
          <a:noFill/>
        </p:spPr>
        <p:txBody>
          <a:bodyPr wrap="square" anchor="t"/>
          <a:lstStyle/>
          <a:p>
            <a:pPr algn="l">
              <a:spcBef>
                <a:spcPts val="0"/>
              </a:spcBef>
              <a:spcAft>
                <a:spcPts val="0"/>
              </a:spcAft>
              <a:lnSpc>
                <a:spcPct val="120000"/>
              </a:lnSpc>
            </a:pPr>
            <a:r>
              <a:rPr sz="1700" b="1">
                <a:solidFill>
                  <a:srgbClr val="2D2D3A"/>
                </a:solidFill>
                <a:latin typeface="Helvetica Neue"/>
              </a:rPr>
              <a:t>This is the biggest blind spot in the quantified-self stack.</a:t>
            </a:r>
          </a:p>
        </p:txBody>
      </p:sp>
      <p:sp>
        <p:nvSpPr>
          <p:cNvPr id="24" name="TextBox 23"/>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4 / 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THE PROBLEM</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600" b="1">
                <a:solidFill>
                  <a:srgbClr val="2D2D3A"/>
                </a:solidFill>
                <a:latin typeface="Georgia"/>
              </a:rPr>
              <a:t>Why Current Mental Health Solutions Fail</a:t>
            </a:r>
          </a:p>
        </p:txBody>
      </p:sp>
      <p:sp>
        <p:nvSpPr>
          <p:cNvPr id="6" name="TextBox 5"/>
          <p:cNvSpPr txBox="1"/>
          <p:nvPr/>
        </p:nvSpPr>
        <p:spPr>
          <a:xfrm>
            <a:off x="731520" y="1691640"/>
            <a:ext cx="10515600" cy="457200"/>
          </a:xfrm>
          <a:prstGeom prst="rect">
            <a:avLst/>
          </a:prstGeom>
          <a:noFill/>
        </p:spPr>
        <p:txBody>
          <a:bodyPr wrap="square" anchor="t"/>
          <a:lstStyle/>
          <a:p>
            <a:pPr algn="l">
              <a:spcBef>
                <a:spcPts val="0"/>
              </a:spcBef>
              <a:spcAft>
                <a:spcPts val="0"/>
              </a:spcAft>
              <a:lnSpc>
                <a:spcPct val="140000"/>
              </a:lnSpc>
            </a:pPr>
            <a:r>
              <a:rPr sz="1700" b="0">
                <a:solidFill>
                  <a:srgbClr val="555566"/>
                </a:solidFill>
                <a:latin typeface="Helvetica Neue"/>
              </a:rPr>
              <a:t>The QS audience has tried everything. Nothing sticks.</a:t>
            </a:r>
          </a:p>
        </p:txBody>
      </p:sp>
      <p:sp>
        <p:nvSpPr>
          <p:cNvPr id="7" name="Rounded Rectangle 6"/>
          <p:cNvSpPr/>
          <p:nvPr/>
        </p:nvSpPr>
        <p:spPr>
          <a:xfrm>
            <a:off x="731520" y="2377440"/>
            <a:ext cx="3291840" cy="3474720"/>
          </a:xfrm>
          <a:prstGeom prst="roundRect">
            <a:avLst>
              <a:gd name="adj" fmla="val 5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05840" y="2560320"/>
            <a:ext cx="731520" cy="38100"/>
          </a:xfrm>
          <a:prstGeom prst="rect">
            <a:avLst/>
          </a:prstGeom>
          <a:solidFill>
            <a:srgbClr val="E8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743200"/>
            <a:ext cx="2743200" cy="365760"/>
          </a:xfrm>
          <a:prstGeom prst="rect">
            <a:avLst/>
          </a:prstGeom>
          <a:noFill/>
        </p:spPr>
        <p:txBody>
          <a:bodyPr wrap="square" anchor="t"/>
          <a:lstStyle/>
          <a:p>
            <a:pPr algn="l">
              <a:spcBef>
                <a:spcPts val="0"/>
              </a:spcBef>
              <a:spcAft>
                <a:spcPts val="0"/>
              </a:spcAft>
              <a:lnSpc>
                <a:spcPct val="120000"/>
              </a:lnSpc>
            </a:pPr>
            <a:r>
              <a:rPr sz="1800" b="1">
                <a:solidFill>
                  <a:srgbClr val="2D2D3A"/>
                </a:solidFill>
                <a:latin typeface="Georgia"/>
              </a:rPr>
              <a:t>Therapy</a:t>
            </a:r>
          </a:p>
        </p:txBody>
      </p:sp>
      <p:sp>
        <p:nvSpPr>
          <p:cNvPr id="10" name="TextBox 9"/>
          <p:cNvSpPr txBox="1"/>
          <p:nvPr/>
        </p:nvSpPr>
        <p:spPr>
          <a:xfrm>
            <a:off x="1005840" y="3291840"/>
            <a:ext cx="2743200" cy="274320"/>
          </a:xfrm>
          <a:prstGeom prst="rect">
            <a:avLst/>
          </a:prstGeom>
          <a:noFill/>
        </p:spPr>
        <p:txBody>
          <a:bodyPr wrap="square" anchor="t"/>
          <a:lstStyle/>
          <a:p>
            <a:pPr algn="l">
              <a:spcBef>
                <a:spcPts val="0"/>
              </a:spcBef>
              <a:spcAft>
                <a:spcPts val="0"/>
              </a:spcAft>
              <a:lnSpc>
                <a:spcPct val="120000"/>
              </a:lnSpc>
            </a:pPr>
            <a:r>
              <a:rPr sz="1800" b="1">
                <a:solidFill>
                  <a:srgbClr val="E86B6B"/>
                </a:solidFill>
                <a:latin typeface="Georgia"/>
              </a:rPr>
              <a:t>50%</a:t>
            </a:r>
          </a:p>
        </p:txBody>
      </p:sp>
      <p:sp>
        <p:nvSpPr>
          <p:cNvPr id="11" name="TextBox 10"/>
          <p:cNvSpPr txBox="1"/>
          <p:nvPr/>
        </p:nvSpPr>
        <p:spPr>
          <a:xfrm>
            <a:off x="1005840" y="3547872"/>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drop out before treatment ends</a:t>
            </a:r>
          </a:p>
        </p:txBody>
      </p:sp>
      <p:sp>
        <p:nvSpPr>
          <p:cNvPr id="12" name="TextBox 11"/>
          <p:cNvSpPr txBox="1"/>
          <p:nvPr/>
        </p:nvSpPr>
        <p:spPr>
          <a:xfrm>
            <a:off x="1005840" y="3913632"/>
            <a:ext cx="2743200" cy="274320"/>
          </a:xfrm>
          <a:prstGeom prst="rect">
            <a:avLst/>
          </a:prstGeom>
          <a:noFill/>
        </p:spPr>
        <p:txBody>
          <a:bodyPr wrap="square" anchor="t"/>
          <a:lstStyle/>
          <a:p>
            <a:pPr algn="l">
              <a:spcBef>
                <a:spcPts val="0"/>
              </a:spcBef>
              <a:spcAft>
                <a:spcPts val="0"/>
              </a:spcAft>
              <a:lnSpc>
                <a:spcPct val="120000"/>
              </a:lnSpc>
            </a:pPr>
            <a:r>
              <a:rPr sz="1800" b="1">
                <a:solidFill>
                  <a:srgbClr val="E86B6B"/>
                </a:solidFill>
                <a:latin typeface="Georgia"/>
              </a:rPr>
              <a:t>2.4</a:t>
            </a:r>
          </a:p>
        </p:txBody>
      </p:sp>
      <p:sp>
        <p:nvSpPr>
          <p:cNvPr id="13" name="TextBox 12"/>
          <p:cNvSpPr txBox="1"/>
          <p:nvPr/>
        </p:nvSpPr>
        <p:spPr>
          <a:xfrm>
            <a:off x="1005840" y="4169664"/>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sessions before quitting</a:t>
            </a:r>
          </a:p>
        </p:txBody>
      </p:sp>
      <p:sp>
        <p:nvSpPr>
          <p:cNvPr id="14" name="TextBox 13"/>
          <p:cNvSpPr txBox="1"/>
          <p:nvPr/>
        </p:nvSpPr>
        <p:spPr>
          <a:xfrm>
            <a:off x="1005840" y="4535424"/>
            <a:ext cx="2743200" cy="274320"/>
          </a:xfrm>
          <a:prstGeom prst="rect">
            <a:avLst/>
          </a:prstGeom>
          <a:noFill/>
        </p:spPr>
        <p:txBody>
          <a:bodyPr wrap="square" anchor="t"/>
          <a:lstStyle/>
          <a:p>
            <a:pPr algn="l">
              <a:spcBef>
                <a:spcPts val="0"/>
              </a:spcBef>
              <a:spcAft>
                <a:spcPts val="0"/>
              </a:spcAft>
              <a:lnSpc>
                <a:spcPct val="120000"/>
              </a:lnSpc>
            </a:pPr>
            <a:r>
              <a:rPr sz="1800" b="1">
                <a:solidFill>
                  <a:srgbClr val="E86B6B"/>
                </a:solidFill>
                <a:latin typeface="Georgia"/>
              </a:rPr>
              <a:t>48 days</a:t>
            </a:r>
          </a:p>
        </p:txBody>
      </p:sp>
      <p:sp>
        <p:nvSpPr>
          <p:cNvPr id="15" name="TextBox 14"/>
          <p:cNvSpPr txBox="1"/>
          <p:nvPr/>
        </p:nvSpPr>
        <p:spPr>
          <a:xfrm>
            <a:off x="1005840" y="4791456"/>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wait for first appointment</a:t>
            </a:r>
          </a:p>
        </p:txBody>
      </p:sp>
      <p:sp>
        <p:nvSpPr>
          <p:cNvPr id="16" name="TextBox 15"/>
          <p:cNvSpPr txBox="1"/>
          <p:nvPr/>
        </p:nvSpPr>
        <p:spPr>
          <a:xfrm>
            <a:off x="1005840" y="5157216"/>
            <a:ext cx="2743200" cy="274320"/>
          </a:xfrm>
          <a:prstGeom prst="rect">
            <a:avLst/>
          </a:prstGeom>
          <a:noFill/>
        </p:spPr>
        <p:txBody>
          <a:bodyPr wrap="square" anchor="t"/>
          <a:lstStyle/>
          <a:p>
            <a:pPr algn="l">
              <a:spcBef>
                <a:spcPts val="0"/>
              </a:spcBef>
              <a:spcAft>
                <a:spcPts val="0"/>
              </a:spcAft>
              <a:lnSpc>
                <a:spcPct val="120000"/>
              </a:lnSpc>
            </a:pPr>
            <a:r>
              <a:rPr sz="1800" b="1">
                <a:solidFill>
                  <a:srgbClr val="E86B6B"/>
                </a:solidFill>
                <a:latin typeface="Georgia"/>
              </a:rPr>
              <a:t>$150–300</a:t>
            </a:r>
          </a:p>
        </p:txBody>
      </p:sp>
      <p:sp>
        <p:nvSpPr>
          <p:cNvPr id="17" name="TextBox 16"/>
          <p:cNvSpPr txBox="1"/>
          <p:nvPr/>
        </p:nvSpPr>
        <p:spPr>
          <a:xfrm>
            <a:off x="1005840" y="5413248"/>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per session, often out-of-network</a:t>
            </a:r>
          </a:p>
        </p:txBody>
      </p:sp>
      <p:sp>
        <p:nvSpPr>
          <p:cNvPr id="18" name="Rounded Rectangle 17"/>
          <p:cNvSpPr/>
          <p:nvPr/>
        </p:nvSpPr>
        <p:spPr>
          <a:xfrm>
            <a:off x="4389120" y="2377440"/>
            <a:ext cx="3291840" cy="3474720"/>
          </a:xfrm>
          <a:prstGeom prst="roundRect">
            <a:avLst>
              <a:gd name="adj" fmla="val 5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63440" y="2560320"/>
            <a:ext cx="731520" cy="38100"/>
          </a:xfrm>
          <a:prstGeom prst="rect">
            <a:avLst/>
          </a:prstGeom>
          <a:solidFill>
            <a:srgbClr val="7B6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63440" y="2743200"/>
            <a:ext cx="2743200" cy="365760"/>
          </a:xfrm>
          <a:prstGeom prst="rect">
            <a:avLst/>
          </a:prstGeom>
          <a:noFill/>
        </p:spPr>
        <p:txBody>
          <a:bodyPr wrap="square" anchor="t"/>
          <a:lstStyle/>
          <a:p>
            <a:pPr algn="l">
              <a:spcBef>
                <a:spcPts val="0"/>
              </a:spcBef>
              <a:spcAft>
                <a:spcPts val="0"/>
              </a:spcAft>
              <a:lnSpc>
                <a:spcPct val="120000"/>
              </a:lnSpc>
            </a:pPr>
            <a:r>
              <a:rPr sz="1800" b="1">
                <a:solidFill>
                  <a:srgbClr val="2D2D3A"/>
                </a:solidFill>
                <a:latin typeface="Georgia"/>
              </a:rPr>
              <a:t>Mental Health Apps</a:t>
            </a:r>
          </a:p>
        </p:txBody>
      </p:sp>
      <p:sp>
        <p:nvSpPr>
          <p:cNvPr id="21" name="TextBox 20"/>
          <p:cNvSpPr txBox="1"/>
          <p:nvPr/>
        </p:nvSpPr>
        <p:spPr>
          <a:xfrm>
            <a:off x="4663440" y="3291840"/>
            <a:ext cx="2743200" cy="274320"/>
          </a:xfrm>
          <a:prstGeom prst="rect">
            <a:avLst/>
          </a:prstGeom>
          <a:noFill/>
        </p:spPr>
        <p:txBody>
          <a:bodyPr wrap="square" anchor="t"/>
          <a:lstStyle/>
          <a:p>
            <a:pPr algn="l">
              <a:spcBef>
                <a:spcPts val="0"/>
              </a:spcBef>
              <a:spcAft>
                <a:spcPts val="0"/>
              </a:spcAft>
              <a:lnSpc>
                <a:spcPct val="120000"/>
              </a:lnSpc>
            </a:pPr>
            <a:r>
              <a:rPr sz="1800" b="1">
                <a:solidFill>
                  <a:srgbClr val="7B68D4"/>
                </a:solidFill>
                <a:latin typeface="Georgia"/>
              </a:rPr>
              <a:t>3.3%</a:t>
            </a:r>
          </a:p>
        </p:txBody>
      </p:sp>
      <p:sp>
        <p:nvSpPr>
          <p:cNvPr id="22" name="TextBox 21"/>
          <p:cNvSpPr txBox="1"/>
          <p:nvPr/>
        </p:nvSpPr>
        <p:spPr>
          <a:xfrm>
            <a:off x="4663440" y="3547872"/>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median 30-day retention</a:t>
            </a:r>
          </a:p>
        </p:txBody>
      </p:sp>
      <p:sp>
        <p:nvSpPr>
          <p:cNvPr id="23" name="TextBox 22"/>
          <p:cNvSpPr txBox="1"/>
          <p:nvPr/>
        </p:nvSpPr>
        <p:spPr>
          <a:xfrm>
            <a:off x="4663440" y="3913632"/>
            <a:ext cx="2743200" cy="274320"/>
          </a:xfrm>
          <a:prstGeom prst="rect">
            <a:avLst/>
          </a:prstGeom>
          <a:noFill/>
        </p:spPr>
        <p:txBody>
          <a:bodyPr wrap="square" anchor="t"/>
          <a:lstStyle/>
          <a:p>
            <a:pPr algn="l">
              <a:spcBef>
                <a:spcPts val="0"/>
              </a:spcBef>
              <a:spcAft>
                <a:spcPts val="0"/>
              </a:spcAft>
              <a:lnSpc>
                <a:spcPct val="120000"/>
              </a:lnSpc>
            </a:pPr>
            <a:r>
              <a:rPr sz="1800" b="1">
                <a:solidFill>
                  <a:srgbClr val="7B68D4"/>
                </a:solidFill>
                <a:latin typeface="Georgia"/>
              </a:rPr>
              <a:t>7.65%</a:t>
            </a:r>
          </a:p>
        </p:txBody>
      </p:sp>
      <p:sp>
        <p:nvSpPr>
          <p:cNvPr id="24" name="TextBox 23"/>
          <p:cNvSpPr txBox="1"/>
          <p:nvPr/>
        </p:nvSpPr>
        <p:spPr>
          <a:xfrm>
            <a:off x="4663440" y="4169664"/>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Headspace retention</a:t>
            </a:r>
          </a:p>
        </p:txBody>
      </p:sp>
      <p:sp>
        <p:nvSpPr>
          <p:cNvPr id="25" name="TextBox 24"/>
          <p:cNvSpPr txBox="1"/>
          <p:nvPr/>
        </p:nvSpPr>
        <p:spPr>
          <a:xfrm>
            <a:off x="4663440" y="4535424"/>
            <a:ext cx="2743200" cy="274320"/>
          </a:xfrm>
          <a:prstGeom prst="rect">
            <a:avLst/>
          </a:prstGeom>
          <a:noFill/>
        </p:spPr>
        <p:txBody>
          <a:bodyPr wrap="square" anchor="t"/>
          <a:lstStyle/>
          <a:p>
            <a:pPr algn="l">
              <a:spcBef>
                <a:spcPts val="0"/>
              </a:spcBef>
              <a:spcAft>
                <a:spcPts val="0"/>
              </a:spcAft>
              <a:lnSpc>
                <a:spcPct val="120000"/>
              </a:lnSpc>
            </a:pPr>
            <a:r>
              <a:rPr sz="1800" b="1">
                <a:solidFill>
                  <a:srgbClr val="7B68D4"/>
                </a:solidFill>
                <a:latin typeface="Georgia"/>
              </a:rPr>
              <a:t>8.34%</a:t>
            </a:r>
          </a:p>
        </p:txBody>
      </p:sp>
      <p:sp>
        <p:nvSpPr>
          <p:cNvPr id="26" name="TextBox 25"/>
          <p:cNvSpPr txBox="1"/>
          <p:nvPr/>
        </p:nvSpPr>
        <p:spPr>
          <a:xfrm>
            <a:off x="4663440" y="4791456"/>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Calm retention</a:t>
            </a:r>
          </a:p>
        </p:txBody>
      </p:sp>
      <p:sp>
        <p:nvSpPr>
          <p:cNvPr id="27" name="TextBox 26"/>
          <p:cNvSpPr txBox="1"/>
          <p:nvPr/>
        </p:nvSpPr>
        <p:spPr>
          <a:xfrm>
            <a:off x="4663440" y="5157216"/>
            <a:ext cx="2743200" cy="274320"/>
          </a:xfrm>
          <a:prstGeom prst="rect">
            <a:avLst/>
          </a:prstGeom>
          <a:noFill/>
        </p:spPr>
        <p:txBody>
          <a:bodyPr wrap="square" anchor="t"/>
          <a:lstStyle/>
          <a:p>
            <a:pPr algn="l">
              <a:spcBef>
                <a:spcPts val="0"/>
              </a:spcBef>
              <a:spcAft>
                <a:spcPts val="0"/>
              </a:spcAft>
              <a:lnSpc>
                <a:spcPct val="120000"/>
              </a:lnSpc>
            </a:pPr>
            <a:r>
              <a:rPr sz="1800" b="1">
                <a:solidFill>
                  <a:srgbClr val="7B68D4"/>
                </a:solidFill>
                <a:latin typeface="Georgia"/>
              </a:rPr>
              <a:t>Woebot</a:t>
            </a:r>
          </a:p>
        </p:txBody>
      </p:sp>
      <p:sp>
        <p:nvSpPr>
          <p:cNvPr id="28" name="TextBox 27"/>
          <p:cNvSpPr txBox="1"/>
          <p:nvPr/>
        </p:nvSpPr>
        <p:spPr>
          <a:xfrm>
            <a:off x="4663440" y="5413248"/>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shut down consumer app (2025)</a:t>
            </a:r>
          </a:p>
        </p:txBody>
      </p:sp>
      <p:sp>
        <p:nvSpPr>
          <p:cNvPr id="29" name="Rounded Rectangle 28"/>
          <p:cNvSpPr/>
          <p:nvPr/>
        </p:nvSpPr>
        <p:spPr>
          <a:xfrm>
            <a:off x="8046720" y="2377440"/>
            <a:ext cx="3291840" cy="3474720"/>
          </a:xfrm>
          <a:prstGeom prst="roundRect">
            <a:avLst>
              <a:gd name="adj" fmla="val 5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2560320"/>
            <a:ext cx="731520" cy="381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1040" y="2743200"/>
            <a:ext cx="2743200" cy="365760"/>
          </a:xfrm>
          <a:prstGeom prst="rect">
            <a:avLst/>
          </a:prstGeom>
          <a:noFill/>
        </p:spPr>
        <p:txBody>
          <a:bodyPr wrap="square" anchor="t"/>
          <a:lstStyle/>
          <a:p>
            <a:pPr algn="l">
              <a:spcBef>
                <a:spcPts val="0"/>
              </a:spcBef>
              <a:spcAft>
                <a:spcPts val="0"/>
              </a:spcAft>
              <a:lnSpc>
                <a:spcPct val="120000"/>
              </a:lnSpc>
            </a:pPr>
            <a:r>
              <a:rPr sz="1800" b="1">
                <a:solidFill>
                  <a:srgbClr val="2D2D3A"/>
                </a:solidFill>
                <a:latin typeface="Georgia"/>
              </a:rPr>
              <a:t>Wearables</a:t>
            </a:r>
          </a:p>
        </p:txBody>
      </p:sp>
      <p:sp>
        <p:nvSpPr>
          <p:cNvPr id="32" name="TextBox 31"/>
          <p:cNvSpPr txBox="1"/>
          <p:nvPr/>
        </p:nvSpPr>
        <p:spPr>
          <a:xfrm>
            <a:off x="8321040" y="3291840"/>
            <a:ext cx="2743200" cy="274320"/>
          </a:xfrm>
          <a:prstGeom prst="rect">
            <a:avLst/>
          </a:prstGeom>
          <a:noFill/>
        </p:spPr>
        <p:txBody>
          <a:bodyPr wrap="square" anchor="t"/>
          <a:lstStyle/>
          <a:p>
            <a:pPr algn="l">
              <a:spcBef>
                <a:spcPts val="0"/>
              </a:spcBef>
              <a:spcAft>
                <a:spcPts val="0"/>
              </a:spcAft>
              <a:lnSpc>
                <a:spcPct val="120000"/>
              </a:lnSpc>
            </a:pPr>
            <a:r>
              <a:rPr sz="1800" b="1">
                <a:solidFill>
                  <a:srgbClr val="5B8DB8"/>
                </a:solidFill>
                <a:latin typeface="Georgia"/>
              </a:rPr>
              <a:t>170K</a:t>
            </a:r>
          </a:p>
        </p:txBody>
      </p:sp>
      <p:sp>
        <p:nvSpPr>
          <p:cNvPr id="33" name="TextBox 32"/>
          <p:cNvSpPr txBox="1"/>
          <p:nvPr/>
        </p:nvSpPr>
        <p:spPr>
          <a:xfrm>
            <a:off x="8321040" y="3547872"/>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WHOOP mental health surveys</a:t>
            </a:r>
          </a:p>
        </p:txBody>
      </p:sp>
      <p:sp>
        <p:nvSpPr>
          <p:cNvPr id="34" name="TextBox 33"/>
          <p:cNvSpPr txBox="1"/>
          <p:nvPr/>
        </p:nvSpPr>
        <p:spPr>
          <a:xfrm>
            <a:off x="8321040" y="3913632"/>
            <a:ext cx="2743200" cy="274320"/>
          </a:xfrm>
          <a:prstGeom prst="rect">
            <a:avLst/>
          </a:prstGeom>
          <a:noFill/>
        </p:spPr>
        <p:txBody>
          <a:bodyPr wrap="square" anchor="t"/>
          <a:lstStyle/>
          <a:p>
            <a:pPr algn="l">
              <a:spcBef>
                <a:spcPts val="0"/>
              </a:spcBef>
              <a:spcAft>
                <a:spcPts val="0"/>
              </a:spcAft>
              <a:lnSpc>
                <a:spcPct val="120000"/>
              </a:lnSpc>
            </a:pPr>
            <a:r>
              <a:rPr sz="1800" b="1">
                <a:solidFill>
                  <a:srgbClr val="5B8DB8"/>
                </a:solidFill>
                <a:latin typeface="Georgia"/>
              </a:rPr>
              <a:t>Oura</a:t>
            </a:r>
          </a:p>
        </p:txBody>
      </p:sp>
      <p:sp>
        <p:nvSpPr>
          <p:cNvPr id="35" name="TextBox 34"/>
          <p:cNvSpPr txBox="1"/>
          <p:nvPr/>
        </p:nvSpPr>
        <p:spPr>
          <a:xfrm>
            <a:off x="8321040" y="4169664"/>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launched stress tracking</a:t>
            </a:r>
          </a:p>
        </p:txBody>
      </p:sp>
      <p:sp>
        <p:nvSpPr>
          <p:cNvPr id="36" name="TextBox 35"/>
          <p:cNvSpPr txBox="1"/>
          <p:nvPr/>
        </p:nvSpPr>
        <p:spPr>
          <a:xfrm>
            <a:off x="8321040" y="4535424"/>
            <a:ext cx="2743200" cy="274320"/>
          </a:xfrm>
          <a:prstGeom prst="rect">
            <a:avLst/>
          </a:prstGeom>
          <a:noFill/>
        </p:spPr>
        <p:txBody>
          <a:bodyPr wrap="square" anchor="t"/>
          <a:lstStyle/>
          <a:p>
            <a:pPr algn="l">
              <a:spcBef>
                <a:spcPts val="0"/>
              </a:spcBef>
              <a:spcAft>
                <a:spcPts val="0"/>
              </a:spcAft>
              <a:lnSpc>
                <a:spcPct val="120000"/>
              </a:lnSpc>
            </a:pPr>
            <a:r>
              <a:rPr sz="1800" b="1">
                <a:solidFill>
                  <a:srgbClr val="5B8DB8"/>
                </a:solidFill>
                <a:latin typeface="Georgia"/>
              </a:rPr>
              <a:t>Garmin</a:t>
            </a:r>
          </a:p>
        </p:txBody>
      </p:sp>
      <p:sp>
        <p:nvSpPr>
          <p:cNvPr id="37" name="TextBox 36"/>
          <p:cNvSpPr txBox="1"/>
          <p:nvPr/>
        </p:nvSpPr>
        <p:spPr>
          <a:xfrm>
            <a:off x="8321040" y="4791456"/>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added stress via HRV</a:t>
            </a:r>
          </a:p>
        </p:txBody>
      </p:sp>
      <p:sp>
        <p:nvSpPr>
          <p:cNvPr id="38" name="TextBox 37"/>
          <p:cNvSpPr txBox="1"/>
          <p:nvPr/>
        </p:nvSpPr>
        <p:spPr>
          <a:xfrm>
            <a:off x="8321040" y="5157216"/>
            <a:ext cx="2743200" cy="274320"/>
          </a:xfrm>
          <a:prstGeom prst="rect">
            <a:avLst/>
          </a:prstGeom>
          <a:noFill/>
        </p:spPr>
        <p:txBody>
          <a:bodyPr wrap="square" anchor="t"/>
          <a:lstStyle/>
          <a:p>
            <a:pPr algn="l">
              <a:spcBef>
                <a:spcPts val="0"/>
              </a:spcBef>
              <a:spcAft>
                <a:spcPts val="0"/>
              </a:spcAft>
              <a:lnSpc>
                <a:spcPct val="120000"/>
              </a:lnSpc>
            </a:pPr>
            <a:r>
              <a:rPr sz="1800" b="1">
                <a:solidFill>
                  <a:srgbClr val="5B8DB8"/>
                </a:solidFill>
                <a:latin typeface="Georgia"/>
              </a:rPr>
              <a:t>Demand</a:t>
            </a:r>
          </a:p>
        </p:txBody>
      </p:sp>
      <p:sp>
        <p:nvSpPr>
          <p:cNvPr id="39" name="TextBox 38"/>
          <p:cNvSpPr txBox="1"/>
          <p:nvPr/>
        </p:nvSpPr>
        <p:spPr>
          <a:xfrm>
            <a:off x="8321040" y="5413248"/>
            <a:ext cx="2743200" cy="32004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is there — tools aren't</a:t>
            </a:r>
          </a:p>
        </p:txBody>
      </p:sp>
      <p:sp>
        <p:nvSpPr>
          <p:cNvPr id="40" name="Rectangle 39"/>
          <p:cNvSpPr/>
          <p:nvPr/>
        </p:nvSpPr>
        <p:spPr>
          <a:xfrm>
            <a:off x="731520" y="6080760"/>
            <a:ext cx="10698480" cy="12700"/>
          </a:xfrm>
          <a:prstGeom prst="rect">
            <a:avLst/>
          </a:prstGeom>
          <a:solidFill>
            <a:srgbClr val="E8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6217920"/>
            <a:ext cx="10515600" cy="36576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Quantified-self users want objective mental health data. Nothing on the market delivers it.</a:t>
            </a:r>
          </a:p>
        </p:txBody>
      </p:sp>
      <p:sp>
        <p:nvSpPr>
          <p:cNvPr id="42" name="TextBox 41"/>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5 /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THE SOLUTION</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5486400" cy="731520"/>
          </a:xfrm>
          <a:prstGeom prst="rect">
            <a:avLst/>
          </a:prstGeom>
          <a:noFill/>
        </p:spPr>
        <p:txBody>
          <a:bodyPr wrap="square" anchor="t"/>
          <a:lstStyle/>
          <a:p>
            <a:pPr algn="l">
              <a:spcBef>
                <a:spcPts val="0"/>
              </a:spcBef>
              <a:spcAft>
                <a:spcPts val="0"/>
              </a:spcAft>
              <a:lnSpc>
                <a:spcPct val="120000"/>
              </a:lnSpc>
            </a:pPr>
            <a:r>
              <a:rPr sz="3600" b="1">
                <a:solidFill>
                  <a:srgbClr val="2D2D3A"/>
                </a:solidFill>
                <a:latin typeface="Georgia"/>
              </a:rPr>
              <a:t>Your Voice Is a Biomarker</a:t>
            </a:r>
          </a:p>
        </p:txBody>
      </p:sp>
      <p:sp>
        <p:nvSpPr>
          <p:cNvPr id="6" name="TextBox 5"/>
          <p:cNvSpPr txBox="1"/>
          <p:nvPr/>
        </p:nvSpPr>
        <p:spPr>
          <a:xfrm>
            <a:off x="731520" y="1874519"/>
            <a:ext cx="5029200" cy="548640"/>
          </a:xfrm>
          <a:prstGeom prst="rect">
            <a:avLst/>
          </a:prstGeom>
          <a:noFill/>
        </p:spPr>
        <p:txBody>
          <a:bodyPr wrap="square" anchor="t"/>
          <a:lstStyle/>
          <a:p>
            <a:pPr algn="l">
              <a:spcBef>
                <a:spcPts val="0"/>
              </a:spcBef>
              <a:spcAft>
                <a:spcPts val="0"/>
              </a:spcAft>
              <a:lnSpc>
                <a:spcPct val="140000"/>
              </a:lnSpc>
            </a:pPr>
            <a:r>
              <a:rPr sz="1700" b="1">
                <a:solidFill>
                  <a:srgbClr val="5B8DB8"/>
                </a:solidFill>
                <a:latin typeface="Helvetica Neue"/>
              </a:rPr>
              <a:t>25 seconds of natural speech → clinical-grade mental health signals</a:t>
            </a:r>
          </a:p>
        </p:txBody>
      </p:sp>
      <p:sp>
        <p:nvSpPr>
          <p:cNvPr id="7" name="Oval 6"/>
          <p:cNvSpPr/>
          <p:nvPr/>
        </p:nvSpPr>
        <p:spPr>
          <a:xfrm>
            <a:off x="822960" y="2697480"/>
            <a:ext cx="91440" cy="9144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651760"/>
            <a:ext cx="4572000" cy="32004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Passive</a:t>
            </a:r>
          </a:p>
        </p:txBody>
      </p:sp>
      <p:sp>
        <p:nvSpPr>
          <p:cNvPr id="9" name="TextBox 8"/>
          <p:cNvSpPr txBox="1"/>
          <p:nvPr/>
        </p:nvSpPr>
        <p:spPr>
          <a:xfrm>
            <a:off x="1051560" y="2926080"/>
            <a:ext cx="4572000" cy="320040"/>
          </a:xfrm>
          <a:prstGeom prst="rect">
            <a:avLst/>
          </a:prstGeom>
          <a:noFill/>
        </p:spPr>
        <p:txBody>
          <a:bodyPr wrap="square" anchor="t"/>
          <a:lstStyle/>
          <a:p>
            <a:pPr algn="l">
              <a:spcBef>
                <a:spcPts val="0"/>
              </a:spcBef>
              <a:spcAft>
                <a:spcPts val="0"/>
              </a:spcAft>
              <a:lnSpc>
                <a:spcPct val="120000"/>
              </a:lnSpc>
            </a:pPr>
            <a:r>
              <a:rPr sz="1200" b="0">
                <a:solidFill>
                  <a:srgbClr val="555566"/>
                </a:solidFill>
                <a:latin typeface="Helvetica Neue"/>
              </a:rPr>
              <a:t>No questionnaires, no self-reporting</a:t>
            </a:r>
          </a:p>
        </p:txBody>
      </p:sp>
      <p:sp>
        <p:nvSpPr>
          <p:cNvPr id="10" name="Oval 9"/>
          <p:cNvSpPr/>
          <p:nvPr/>
        </p:nvSpPr>
        <p:spPr>
          <a:xfrm>
            <a:off x="822960" y="3383280"/>
            <a:ext cx="91440" cy="9144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337560"/>
            <a:ext cx="4572000" cy="32004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Continuous</a:t>
            </a:r>
          </a:p>
        </p:txBody>
      </p:sp>
      <p:sp>
        <p:nvSpPr>
          <p:cNvPr id="12" name="TextBox 11"/>
          <p:cNvSpPr txBox="1"/>
          <p:nvPr/>
        </p:nvSpPr>
        <p:spPr>
          <a:xfrm>
            <a:off x="1051560" y="3611880"/>
            <a:ext cx="4572000" cy="320040"/>
          </a:xfrm>
          <a:prstGeom prst="rect">
            <a:avLst/>
          </a:prstGeom>
          <a:noFill/>
        </p:spPr>
        <p:txBody>
          <a:bodyPr wrap="square" anchor="t"/>
          <a:lstStyle/>
          <a:p>
            <a:pPr algn="l">
              <a:spcBef>
                <a:spcPts val="0"/>
              </a:spcBef>
              <a:spcAft>
                <a:spcPts val="0"/>
              </a:spcAft>
              <a:lnSpc>
                <a:spcPct val="120000"/>
              </a:lnSpc>
            </a:pPr>
            <a:r>
              <a:rPr sz="1200" b="0">
                <a:solidFill>
                  <a:srgbClr val="555566"/>
                </a:solidFill>
                <a:latin typeface="Helvetica Neue"/>
              </a:rPr>
              <a:t>Track trends over days, weeks, months</a:t>
            </a:r>
          </a:p>
        </p:txBody>
      </p:sp>
      <p:sp>
        <p:nvSpPr>
          <p:cNvPr id="13" name="Oval 12"/>
          <p:cNvSpPr/>
          <p:nvPr/>
        </p:nvSpPr>
        <p:spPr>
          <a:xfrm>
            <a:off x="822960" y="4069080"/>
            <a:ext cx="91440" cy="9144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023360"/>
            <a:ext cx="4572000" cy="32004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Objective</a:t>
            </a:r>
          </a:p>
        </p:txBody>
      </p:sp>
      <p:sp>
        <p:nvSpPr>
          <p:cNvPr id="15" name="TextBox 14"/>
          <p:cNvSpPr txBox="1"/>
          <p:nvPr/>
        </p:nvSpPr>
        <p:spPr>
          <a:xfrm>
            <a:off x="1051560" y="4297680"/>
            <a:ext cx="4572000" cy="320040"/>
          </a:xfrm>
          <a:prstGeom prst="rect">
            <a:avLst/>
          </a:prstGeom>
          <a:noFill/>
        </p:spPr>
        <p:txBody>
          <a:bodyPr wrap="square" anchor="t"/>
          <a:lstStyle/>
          <a:p>
            <a:pPr algn="l">
              <a:spcBef>
                <a:spcPts val="0"/>
              </a:spcBef>
              <a:spcAft>
                <a:spcPts val="0"/>
              </a:spcAft>
              <a:lnSpc>
                <a:spcPct val="120000"/>
              </a:lnSpc>
            </a:pPr>
            <a:r>
              <a:rPr sz="1200" b="0">
                <a:solidFill>
                  <a:srgbClr val="555566"/>
                </a:solidFill>
                <a:latin typeface="Helvetica Neue"/>
              </a:rPr>
              <a:t>Clinical-grade biomarker analysis, not subjective mood logs</a:t>
            </a:r>
          </a:p>
        </p:txBody>
      </p:sp>
      <p:sp>
        <p:nvSpPr>
          <p:cNvPr id="16" name="Oval 15"/>
          <p:cNvSpPr/>
          <p:nvPr/>
        </p:nvSpPr>
        <p:spPr>
          <a:xfrm>
            <a:off x="822960" y="4754880"/>
            <a:ext cx="91440" cy="9144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709160"/>
            <a:ext cx="4572000" cy="32004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Private</a:t>
            </a:r>
          </a:p>
        </p:txBody>
      </p:sp>
      <p:sp>
        <p:nvSpPr>
          <p:cNvPr id="18" name="TextBox 17"/>
          <p:cNvSpPr txBox="1"/>
          <p:nvPr/>
        </p:nvSpPr>
        <p:spPr>
          <a:xfrm>
            <a:off x="1051560" y="4983480"/>
            <a:ext cx="4572000" cy="320040"/>
          </a:xfrm>
          <a:prstGeom prst="rect">
            <a:avLst/>
          </a:prstGeom>
          <a:noFill/>
        </p:spPr>
        <p:txBody>
          <a:bodyPr wrap="square" anchor="t"/>
          <a:lstStyle/>
          <a:p>
            <a:pPr algn="l">
              <a:spcBef>
                <a:spcPts val="0"/>
              </a:spcBef>
              <a:spcAft>
                <a:spcPts val="0"/>
              </a:spcAft>
              <a:lnSpc>
                <a:spcPct val="120000"/>
              </a:lnSpc>
            </a:pPr>
            <a:r>
              <a:rPr sz="1200" b="0">
                <a:solidFill>
                  <a:srgbClr val="555566"/>
                </a:solidFill>
                <a:latin typeface="Helvetica Neue"/>
              </a:rPr>
              <a:t>100% on-device processing — your voice never leaves your phone</a:t>
            </a:r>
          </a:p>
        </p:txBody>
      </p:sp>
      <p:sp>
        <p:nvSpPr>
          <p:cNvPr id="19" name="Rounded Rectangle 18"/>
          <p:cNvSpPr/>
          <p:nvPr/>
        </p:nvSpPr>
        <p:spPr>
          <a:xfrm>
            <a:off x="6537960" y="1600200"/>
            <a:ext cx="5120640" cy="3391174"/>
          </a:xfrm>
          <a:prstGeom prst="roundRect">
            <a:avLst>
              <a:gd name="adj" fmla="val 3000"/>
            </a:avLst>
          </a:prstGeom>
          <a:solidFill>
            <a:srgbClr val="E0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dashboard-health-score.png"/>
          <p:cNvPicPr>
            <a:picLocks noChangeAspect="1"/>
          </p:cNvPicPr>
          <p:nvPr/>
        </p:nvPicPr>
        <p:blipFill>
          <a:blip r:embed="rId2"/>
          <a:stretch>
            <a:fillRect/>
          </a:stretch>
        </p:blipFill>
        <p:spPr>
          <a:xfrm>
            <a:off x="6583680" y="1645920"/>
            <a:ext cx="5029200" cy="3299734"/>
          </a:xfrm>
          <a:prstGeom prst="rect">
            <a:avLst/>
          </a:prstGeom>
        </p:spPr>
      </p:pic>
      <p:sp>
        <p:nvSpPr>
          <p:cNvPr id="21" name="TextBox 20"/>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6 / 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HOW IT WORKS</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600" b="1">
                <a:solidFill>
                  <a:srgbClr val="2D2D3A"/>
                </a:solidFill>
                <a:latin typeface="Georgia"/>
              </a:rPr>
              <a:t>Three Steps. 25 Seconds. Zero Effort.</a:t>
            </a:r>
          </a:p>
        </p:txBody>
      </p:sp>
      <p:sp>
        <p:nvSpPr>
          <p:cNvPr id="6" name="Rounded Rectangle 5"/>
          <p:cNvSpPr/>
          <p:nvPr/>
        </p:nvSpPr>
        <p:spPr>
          <a:xfrm>
            <a:off x="731520" y="2103120"/>
            <a:ext cx="3200400" cy="320040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 y="2377440"/>
            <a:ext cx="457200" cy="45720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395728"/>
            <a:ext cx="457200" cy="457200"/>
          </a:xfrm>
          <a:prstGeom prst="rect">
            <a:avLst/>
          </a:prstGeom>
          <a:noFill/>
        </p:spPr>
        <p:txBody>
          <a:bodyPr wrap="square" anchor="t"/>
          <a:lstStyle/>
          <a:p>
            <a:pPr algn="ctr">
              <a:spcBef>
                <a:spcPts val="0"/>
              </a:spcBef>
              <a:spcAft>
                <a:spcPts val="0"/>
              </a:spcAft>
              <a:lnSpc>
                <a:spcPct val="120000"/>
              </a:lnSpc>
            </a:pPr>
            <a:r>
              <a:rPr sz="2000" b="1">
                <a:solidFill>
                  <a:srgbClr val="FFFFFF"/>
                </a:solidFill>
                <a:latin typeface="Georgia"/>
              </a:rPr>
              <a:t>1</a:t>
            </a:r>
          </a:p>
        </p:txBody>
      </p:sp>
      <p:sp>
        <p:nvSpPr>
          <p:cNvPr id="9" name="TextBox 8"/>
          <p:cNvSpPr txBox="1"/>
          <p:nvPr/>
        </p:nvSpPr>
        <p:spPr>
          <a:xfrm>
            <a:off x="1005840" y="3017520"/>
            <a:ext cx="2651760" cy="365760"/>
          </a:xfrm>
          <a:prstGeom prst="rect">
            <a:avLst/>
          </a:prstGeom>
          <a:noFill/>
        </p:spPr>
        <p:txBody>
          <a:bodyPr wrap="square" anchor="t"/>
          <a:lstStyle/>
          <a:p>
            <a:pPr algn="l">
              <a:spcBef>
                <a:spcPts val="0"/>
              </a:spcBef>
              <a:spcAft>
                <a:spcPts val="0"/>
              </a:spcAft>
              <a:lnSpc>
                <a:spcPct val="120000"/>
              </a:lnSpc>
            </a:pPr>
            <a:r>
              <a:rPr sz="2000" b="1">
                <a:solidFill>
                  <a:srgbClr val="2D2D3A"/>
                </a:solidFill>
                <a:latin typeface="Georgia"/>
              </a:rPr>
              <a:t>Install</a:t>
            </a:r>
          </a:p>
        </p:txBody>
      </p:sp>
      <p:sp>
        <p:nvSpPr>
          <p:cNvPr id="10" name="TextBox 9"/>
          <p:cNvSpPr txBox="1"/>
          <p:nvPr/>
        </p:nvSpPr>
        <p:spPr>
          <a:xfrm>
            <a:off x="1005840" y="3474720"/>
            <a:ext cx="2651760" cy="1645920"/>
          </a:xfrm>
          <a:prstGeom prst="rect">
            <a:avLst/>
          </a:prstGeom>
          <a:noFill/>
        </p:spPr>
        <p:txBody>
          <a:bodyPr wrap="square" anchor="t"/>
          <a:lstStyle/>
          <a:p>
            <a:pPr algn="l">
              <a:spcBef>
                <a:spcPts val="0"/>
              </a:spcBef>
              <a:spcAft>
                <a:spcPts val="0"/>
              </a:spcAft>
              <a:lnSpc>
                <a:spcPct val="150000"/>
              </a:lnSpc>
            </a:pPr>
            <a:r>
              <a:rPr sz="1300" b="0">
                <a:solidFill>
                  <a:srgbClr val="555566"/>
                </a:solidFill>
                <a:latin typeface="Helvetica Neue"/>
              </a:rPr>
              <a:t>Download the app.
Grant microphone access.
That's it.</a:t>
            </a:r>
          </a:p>
        </p:txBody>
      </p:sp>
      <p:sp>
        <p:nvSpPr>
          <p:cNvPr id="11" name="Rounded Rectangle 10"/>
          <p:cNvSpPr/>
          <p:nvPr/>
        </p:nvSpPr>
        <p:spPr>
          <a:xfrm>
            <a:off x="4480560" y="2103120"/>
            <a:ext cx="3200400" cy="320040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754880" y="2377440"/>
            <a:ext cx="457200" cy="457200"/>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2395728"/>
            <a:ext cx="457200" cy="457200"/>
          </a:xfrm>
          <a:prstGeom prst="rect">
            <a:avLst/>
          </a:prstGeom>
          <a:noFill/>
        </p:spPr>
        <p:txBody>
          <a:bodyPr wrap="square" anchor="t"/>
          <a:lstStyle/>
          <a:p>
            <a:pPr algn="ctr">
              <a:spcBef>
                <a:spcPts val="0"/>
              </a:spcBef>
              <a:spcAft>
                <a:spcPts val="0"/>
              </a:spcAft>
              <a:lnSpc>
                <a:spcPct val="120000"/>
              </a:lnSpc>
            </a:pPr>
            <a:r>
              <a:rPr sz="2000" b="1">
                <a:solidFill>
                  <a:srgbClr val="FFFFFF"/>
                </a:solidFill>
                <a:latin typeface="Georgia"/>
              </a:rPr>
              <a:t>2</a:t>
            </a:r>
          </a:p>
        </p:txBody>
      </p:sp>
      <p:sp>
        <p:nvSpPr>
          <p:cNvPr id="14" name="TextBox 13"/>
          <p:cNvSpPr txBox="1"/>
          <p:nvPr/>
        </p:nvSpPr>
        <p:spPr>
          <a:xfrm>
            <a:off x="4754880" y="3017520"/>
            <a:ext cx="2651760" cy="365760"/>
          </a:xfrm>
          <a:prstGeom prst="rect">
            <a:avLst/>
          </a:prstGeom>
          <a:noFill/>
        </p:spPr>
        <p:txBody>
          <a:bodyPr wrap="square" anchor="t"/>
          <a:lstStyle/>
          <a:p>
            <a:pPr algn="l">
              <a:spcBef>
                <a:spcPts val="0"/>
              </a:spcBef>
              <a:spcAft>
                <a:spcPts val="0"/>
              </a:spcAft>
              <a:lnSpc>
                <a:spcPct val="120000"/>
              </a:lnSpc>
            </a:pPr>
            <a:r>
              <a:rPr sz="2000" b="1">
                <a:solidFill>
                  <a:srgbClr val="2D2D3A"/>
                </a:solidFill>
                <a:latin typeface="Georgia"/>
              </a:rPr>
              <a:t>Speak</a:t>
            </a:r>
          </a:p>
        </p:txBody>
      </p:sp>
      <p:sp>
        <p:nvSpPr>
          <p:cNvPr id="15" name="TextBox 14"/>
          <p:cNvSpPr txBox="1"/>
          <p:nvPr/>
        </p:nvSpPr>
        <p:spPr>
          <a:xfrm>
            <a:off x="4754880" y="3474720"/>
            <a:ext cx="2651760" cy="1645920"/>
          </a:xfrm>
          <a:prstGeom prst="rect">
            <a:avLst/>
          </a:prstGeom>
          <a:noFill/>
        </p:spPr>
        <p:txBody>
          <a:bodyPr wrap="square" anchor="t"/>
          <a:lstStyle/>
          <a:p>
            <a:pPr algn="l">
              <a:spcBef>
                <a:spcPts val="0"/>
              </a:spcBef>
              <a:spcAft>
                <a:spcPts val="0"/>
              </a:spcAft>
              <a:lnSpc>
                <a:spcPct val="150000"/>
              </a:lnSpc>
            </a:pPr>
            <a:r>
              <a:rPr sz="1300" b="0">
                <a:solidFill>
                  <a:srgbClr val="555566"/>
                </a:solidFill>
                <a:latin typeface="Helvetica Neue"/>
              </a:rPr>
              <a:t>Talk naturally for 25 seconds.
Read a prompt or speak freely.
The AI listens to how you sound, not what you say.</a:t>
            </a:r>
          </a:p>
        </p:txBody>
      </p:sp>
      <p:sp>
        <p:nvSpPr>
          <p:cNvPr id="16" name="Rounded Rectangle 15"/>
          <p:cNvSpPr/>
          <p:nvPr/>
        </p:nvSpPr>
        <p:spPr>
          <a:xfrm>
            <a:off x="8229600" y="2103120"/>
            <a:ext cx="3200400" cy="320040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503920" y="2377440"/>
            <a:ext cx="457200" cy="457200"/>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395728"/>
            <a:ext cx="457200" cy="457200"/>
          </a:xfrm>
          <a:prstGeom prst="rect">
            <a:avLst/>
          </a:prstGeom>
          <a:noFill/>
        </p:spPr>
        <p:txBody>
          <a:bodyPr wrap="square" anchor="t"/>
          <a:lstStyle/>
          <a:p>
            <a:pPr algn="ctr">
              <a:spcBef>
                <a:spcPts val="0"/>
              </a:spcBef>
              <a:spcAft>
                <a:spcPts val="0"/>
              </a:spcAft>
              <a:lnSpc>
                <a:spcPct val="120000"/>
              </a:lnSpc>
            </a:pPr>
            <a:r>
              <a:rPr sz="2000" b="1">
                <a:solidFill>
                  <a:srgbClr val="FFFFFF"/>
                </a:solidFill>
                <a:latin typeface="Georgia"/>
              </a:rPr>
              <a:t>3</a:t>
            </a:r>
          </a:p>
        </p:txBody>
      </p:sp>
      <p:sp>
        <p:nvSpPr>
          <p:cNvPr id="19" name="TextBox 18"/>
          <p:cNvSpPr txBox="1"/>
          <p:nvPr/>
        </p:nvSpPr>
        <p:spPr>
          <a:xfrm>
            <a:off x="8503920" y="3017520"/>
            <a:ext cx="2651760" cy="365760"/>
          </a:xfrm>
          <a:prstGeom prst="rect">
            <a:avLst/>
          </a:prstGeom>
          <a:noFill/>
        </p:spPr>
        <p:txBody>
          <a:bodyPr wrap="square" anchor="t"/>
          <a:lstStyle/>
          <a:p>
            <a:pPr algn="l">
              <a:spcBef>
                <a:spcPts val="0"/>
              </a:spcBef>
              <a:spcAft>
                <a:spcPts val="0"/>
              </a:spcAft>
              <a:lnSpc>
                <a:spcPct val="120000"/>
              </a:lnSpc>
            </a:pPr>
            <a:r>
              <a:rPr sz="2000" b="1">
                <a:solidFill>
                  <a:srgbClr val="2D2D3A"/>
                </a:solidFill>
                <a:latin typeface="Georgia"/>
              </a:rPr>
              <a:t>Discover</a:t>
            </a:r>
          </a:p>
        </p:txBody>
      </p:sp>
      <p:sp>
        <p:nvSpPr>
          <p:cNvPr id="20" name="TextBox 19"/>
          <p:cNvSpPr txBox="1"/>
          <p:nvPr/>
        </p:nvSpPr>
        <p:spPr>
          <a:xfrm>
            <a:off x="8503920" y="3474720"/>
            <a:ext cx="2651760" cy="1645920"/>
          </a:xfrm>
          <a:prstGeom prst="rect">
            <a:avLst/>
          </a:prstGeom>
          <a:noFill/>
        </p:spPr>
        <p:txBody>
          <a:bodyPr wrap="square" anchor="t"/>
          <a:lstStyle/>
          <a:p>
            <a:pPr algn="l">
              <a:spcBef>
                <a:spcPts val="0"/>
              </a:spcBef>
              <a:spcAft>
                <a:spcPts val="0"/>
              </a:spcAft>
              <a:lnSpc>
                <a:spcPct val="150000"/>
              </a:lnSpc>
            </a:pPr>
            <a:r>
              <a:rPr sz="1300" b="0">
                <a:solidFill>
                  <a:srgbClr val="555566"/>
                </a:solidFill>
                <a:latin typeface="Helvetica Neue"/>
              </a:rPr>
              <a:t>Get your Wellness Score instantly.
Track depression risk, stress, mood, energy.
See trends over time on your personal dashboard.</a:t>
            </a:r>
          </a:p>
        </p:txBody>
      </p:sp>
      <p:sp>
        <p:nvSpPr>
          <p:cNvPr id="21" name="TextBox 20"/>
          <p:cNvSpPr txBox="1"/>
          <p:nvPr/>
        </p:nvSpPr>
        <p:spPr>
          <a:xfrm>
            <a:off x="4096512" y="3474720"/>
            <a:ext cx="365760" cy="457200"/>
          </a:xfrm>
          <a:prstGeom prst="rect">
            <a:avLst/>
          </a:prstGeom>
          <a:noFill/>
        </p:spPr>
        <p:txBody>
          <a:bodyPr wrap="square" anchor="t"/>
          <a:lstStyle/>
          <a:p>
            <a:pPr algn="ctr">
              <a:spcBef>
                <a:spcPts val="0"/>
              </a:spcBef>
              <a:spcAft>
                <a:spcPts val="0"/>
              </a:spcAft>
              <a:lnSpc>
                <a:spcPct val="120000"/>
              </a:lnSpc>
            </a:pPr>
            <a:r>
              <a:rPr sz="2800" b="1">
                <a:solidFill>
                  <a:srgbClr val="888899"/>
                </a:solidFill>
                <a:latin typeface="Helvetica Neue"/>
              </a:rPr>
              <a:t>→</a:t>
            </a:r>
          </a:p>
        </p:txBody>
      </p:sp>
      <p:sp>
        <p:nvSpPr>
          <p:cNvPr id="22" name="TextBox 21"/>
          <p:cNvSpPr txBox="1"/>
          <p:nvPr/>
        </p:nvSpPr>
        <p:spPr>
          <a:xfrm>
            <a:off x="7845552" y="3474720"/>
            <a:ext cx="365760" cy="457200"/>
          </a:xfrm>
          <a:prstGeom prst="rect">
            <a:avLst/>
          </a:prstGeom>
          <a:noFill/>
        </p:spPr>
        <p:txBody>
          <a:bodyPr wrap="square" anchor="t"/>
          <a:lstStyle/>
          <a:p>
            <a:pPr algn="ctr">
              <a:spcBef>
                <a:spcPts val="0"/>
              </a:spcBef>
              <a:spcAft>
                <a:spcPts val="0"/>
              </a:spcAft>
              <a:lnSpc>
                <a:spcPct val="120000"/>
              </a:lnSpc>
            </a:pPr>
            <a:r>
              <a:rPr sz="2800" b="1">
                <a:solidFill>
                  <a:srgbClr val="888899"/>
                </a:solidFill>
                <a:latin typeface="Helvetica Neue"/>
              </a:rPr>
              <a:t>→</a:t>
            </a:r>
          </a:p>
        </p:txBody>
      </p:sp>
      <p:sp>
        <p:nvSpPr>
          <p:cNvPr id="23" name="TextBox 22"/>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7 /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45720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CLINICAL VALIDATION</a:t>
            </a:r>
          </a:p>
        </p:txBody>
      </p:sp>
      <p:sp>
        <p:nvSpPr>
          <p:cNvPr id="4" name="Rectangle 3"/>
          <p:cNvSpPr/>
          <p:nvPr/>
        </p:nvSpPr>
        <p:spPr>
          <a:xfrm>
            <a:off x="731520" y="822960"/>
            <a:ext cx="22860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6400800" cy="731520"/>
          </a:xfrm>
          <a:prstGeom prst="rect">
            <a:avLst/>
          </a:prstGeom>
          <a:noFill/>
        </p:spPr>
        <p:txBody>
          <a:bodyPr wrap="square" anchor="t"/>
          <a:lstStyle/>
          <a:p>
            <a:pPr algn="l">
              <a:spcBef>
                <a:spcPts val="0"/>
              </a:spcBef>
              <a:spcAft>
                <a:spcPts val="0"/>
              </a:spcAft>
              <a:lnSpc>
                <a:spcPct val="114999"/>
              </a:lnSpc>
            </a:pPr>
            <a:r>
              <a:rPr sz="3200" b="1">
                <a:solidFill>
                  <a:srgbClr val="2D2D3A"/>
                </a:solidFill>
                <a:latin typeface="Georgia"/>
              </a:rPr>
              <a:t>The Largest Voice Biomarker
Study Ever Published</a:t>
            </a:r>
          </a:p>
        </p:txBody>
      </p:sp>
      <p:sp>
        <p:nvSpPr>
          <p:cNvPr id="6" name="Rounded Rectangle 5"/>
          <p:cNvSpPr/>
          <p:nvPr/>
        </p:nvSpPr>
        <p:spPr>
          <a:xfrm>
            <a:off x="731520" y="2286000"/>
            <a:ext cx="2560320" cy="105156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377440"/>
            <a:ext cx="2560320" cy="457200"/>
          </a:xfrm>
          <a:prstGeom prst="rect">
            <a:avLst/>
          </a:prstGeom>
          <a:noFill/>
        </p:spPr>
        <p:txBody>
          <a:bodyPr wrap="square" anchor="t"/>
          <a:lstStyle/>
          <a:p>
            <a:pPr algn="ctr">
              <a:spcBef>
                <a:spcPts val="0"/>
              </a:spcBef>
              <a:spcAft>
                <a:spcPts val="0"/>
              </a:spcAft>
              <a:lnSpc>
                <a:spcPct val="120000"/>
              </a:lnSpc>
            </a:pPr>
            <a:r>
              <a:rPr sz="3600" b="1">
                <a:solidFill>
                  <a:srgbClr val="5B8DB8"/>
                </a:solidFill>
                <a:latin typeface="Georgia"/>
              </a:rPr>
              <a:t>14,898</a:t>
            </a:r>
          </a:p>
        </p:txBody>
      </p:sp>
      <p:sp>
        <p:nvSpPr>
          <p:cNvPr id="8" name="TextBox 7"/>
          <p:cNvSpPr txBox="1"/>
          <p:nvPr/>
        </p:nvSpPr>
        <p:spPr>
          <a:xfrm>
            <a:off x="731520" y="2880360"/>
            <a:ext cx="2560320" cy="320040"/>
          </a:xfrm>
          <a:prstGeom prst="rect">
            <a:avLst/>
          </a:prstGeom>
          <a:noFill/>
        </p:spPr>
        <p:txBody>
          <a:bodyPr wrap="square" anchor="t"/>
          <a:lstStyle/>
          <a:p>
            <a:pPr algn="ctr">
              <a:spcBef>
                <a:spcPts val="0"/>
              </a:spcBef>
              <a:spcAft>
                <a:spcPts val="0"/>
              </a:spcAft>
              <a:lnSpc>
                <a:spcPct val="120000"/>
              </a:lnSpc>
            </a:pPr>
            <a:r>
              <a:rPr sz="1300" b="0">
                <a:solidFill>
                  <a:srgbClr val="555566"/>
                </a:solidFill>
                <a:latin typeface="Helvetica Neue"/>
              </a:rPr>
              <a:t>Adult Participants</a:t>
            </a:r>
          </a:p>
        </p:txBody>
      </p:sp>
      <p:sp>
        <p:nvSpPr>
          <p:cNvPr id="9" name="Rounded Rectangle 8"/>
          <p:cNvSpPr/>
          <p:nvPr/>
        </p:nvSpPr>
        <p:spPr>
          <a:xfrm>
            <a:off x="731520" y="3566160"/>
            <a:ext cx="2560320" cy="105156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657600"/>
            <a:ext cx="2560320" cy="457200"/>
          </a:xfrm>
          <a:prstGeom prst="rect">
            <a:avLst/>
          </a:prstGeom>
          <a:noFill/>
        </p:spPr>
        <p:txBody>
          <a:bodyPr wrap="square" anchor="t"/>
          <a:lstStyle/>
          <a:p>
            <a:pPr algn="ctr">
              <a:spcBef>
                <a:spcPts val="0"/>
              </a:spcBef>
              <a:spcAft>
                <a:spcPts val="0"/>
              </a:spcAft>
              <a:lnSpc>
                <a:spcPct val="120000"/>
              </a:lnSpc>
            </a:pPr>
            <a:r>
              <a:rPr sz="3600" b="1">
                <a:solidFill>
                  <a:srgbClr val="4EC9B0"/>
                </a:solidFill>
                <a:latin typeface="Georgia"/>
              </a:rPr>
              <a:t>71.3%</a:t>
            </a:r>
          </a:p>
        </p:txBody>
      </p:sp>
      <p:sp>
        <p:nvSpPr>
          <p:cNvPr id="11" name="TextBox 10"/>
          <p:cNvSpPr txBox="1"/>
          <p:nvPr/>
        </p:nvSpPr>
        <p:spPr>
          <a:xfrm>
            <a:off x="731520" y="4160520"/>
            <a:ext cx="2560320" cy="320040"/>
          </a:xfrm>
          <a:prstGeom prst="rect">
            <a:avLst/>
          </a:prstGeom>
          <a:noFill/>
        </p:spPr>
        <p:txBody>
          <a:bodyPr wrap="square" anchor="t"/>
          <a:lstStyle/>
          <a:p>
            <a:pPr algn="ctr">
              <a:spcBef>
                <a:spcPts val="0"/>
              </a:spcBef>
              <a:spcAft>
                <a:spcPts val="0"/>
              </a:spcAft>
              <a:lnSpc>
                <a:spcPct val="120000"/>
              </a:lnSpc>
            </a:pPr>
            <a:r>
              <a:rPr sz="1300" b="0">
                <a:solidFill>
                  <a:srgbClr val="555566"/>
                </a:solidFill>
                <a:latin typeface="Helvetica Neue"/>
              </a:rPr>
              <a:t>Sensitivity</a:t>
            </a:r>
          </a:p>
        </p:txBody>
      </p:sp>
      <p:sp>
        <p:nvSpPr>
          <p:cNvPr id="12" name="Rounded Rectangle 11"/>
          <p:cNvSpPr/>
          <p:nvPr/>
        </p:nvSpPr>
        <p:spPr>
          <a:xfrm>
            <a:off x="731520" y="4846320"/>
            <a:ext cx="2560320" cy="105156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937760"/>
            <a:ext cx="2560320" cy="457200"/>
          </a:xfrm>
          <a:prstGeom prst="rect">
            <a:avLst/>
          </a:prstGeom>
          <a:noFill/>
        </p:spPr>
        <p:txBody>
          <a:bodyPr wrap="square" anchor="t"/>
          <a:lstStyle/>
          <a:p>
            <a:pPr algn="ctr">
              <a:spcBef>
                <a:spcPts val="0"/>
              </a:spcBef>
              <a:spcAft>
                <a:spcPts val="0"/>
              </a:spcAft>
              <a:lnSpc>
                <a:spcPct val="120000"/>
              </a:lnSpc>
            </a:pPr>
            <a:r>
              <a:rPr sz="3600" b="1">
                <a:solidFill>
                  <a:srgbClr val="D4A537"/>
                </a:solidFill>
                <a:latin typeface="Georgia"/>
              </a:rPr>
              <a:t>73.5%</a:t>
            </a:r>
          </a:p>
        </p:txBody>
      </p:sp>
      <p:sp>
        <p:nvSpPr>
          <p:cNvPr id="14" name="TextBox 13"/>
          <p:cNvSpPr txBox="1"/>
          <p:nvPr/>
        </p:nvSpPr>
        <p:spPr>
          <a:xfrm>
            <a:off x="731520" y="5440680"/>
            <a:ext cx="2560320" cy="320040"/>
          </a:xfrm>
          <a:prstGeom prst="rect">
            <a:avLst/>
          </a:prstGeom>
          <a:noFill/>
        </p:spPr>
        <p:txBody>
          <a:bodyPr wrap="square" anchor="t"/>
          <a:lstStyle/>
          <a:p>
            <a:pPr algn="ctr">
              <a:spcBef>
                <a:spcPts val="0"/>
              </a:spcBef>
              <a:spcAft>
                <a:spcPts val="0"/>
              </a:spcAft>
              <a:lnSpc>
                <a:spcPct val="120000"/>
              </a:lnSpc>
            </a:pPr>
            <a:r>
              <a:rPr sz="1300" b="0">
                <a:solidFill>
                  <a:srgbClr val="555566"/>
                </a:solidFill>
                <a:latin typeface="Helvetica Neue"/>
              </a:rPr>
              <a:t>Specificity</a:t>
            </a:r>
          </a:p>
        </p:txBody>
      </p:sp>
      <p:sp>
        <p:nvSpPr>
          <p:cNvPr id="15" name="TextBox 14"/>
          <p:cNvSpPr txBox="1"/>
          <p:nvPr/>
        </p:nvSpPr>
        <p:spPr>
          <a:xfrm>
            <a:off x="731520" y="5760720"/>
            <a:ext cx="4114800" cy="457200"/>
          </a:xfrm>
          <a:prstGeom prst="rect">
            <a:avLst/>
          </a:prstGeom>
          <a:noFill/>
        </p:spPr>
        <p:txBody>
          <a:bodyPr wrap="square" anchor="t"/>
          <a:lstStyle/>
          <a:p>
            <a:pPr algn="l">
              <a:spcBef>
                <a:spcPts val="0"/>
              </a:spcBef>
              <a:spcAft>
                <a:spcPts val="0"/>
              </a:spcAft>
              <a:lnSpc>
                <a:spcPct val="130000"/>
              </a:lnSpc>
            </a:pPr>
            <a:r>
              <a:rPr sz="1200" b="0">
                <a:solidFill>
                  <a:srgbClr val="888899"/>
                </a:solidFill>
                <a:latin typeface="Helvetica Neue"/>
              </a:rPr>
              <a:t>Peer-reviewed • PubMed-indexed • Multi-site validated</a:t>
            </a:r>
          </a:p>
        </p:txBody>
      </p:sp>
      <p:sp>
        <p:nvSpPr>
          <p:cNvPr id="16" name="Rounded Rectangle 15"/>
          <p:cNvSpPr/>
          <p:nvPr/>
        </p:nvSpPr>
        <p:spPr>
          <a:xfrm>
            <a:off x="7699248" y="1298448"/>
            <a:ext cx="3621024" cy="3706875"/>
          </a:xfrm>
          <a:prstGeom prst="roundRect">
            <a:avLst>
              <a:gd name="adj" fmla="val 2000"/>
            </a:avLst>
          </a:prstGeom>
          <a:solidFill>
            <a:srgbClr val="E0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ubmed-study.png"/>
          <p:cNvPicPr>
            <a:picLocks noChangeAspect="1"/>
          </p:cNvPicPr>
          <p:nvPr/>
        </p:nvPicPr>
        <p:blipFill>
          <a:blip r:embed="rId2"/>
          <a:stretch>
            <a:fillRect/>
          </a:stretch>
        </p:blipFill>
        <p:spPr>
          <a:xfrm>
            <a:off x="7772400" y="1371600"/>
            <a:ext cx="3474720" cy="3560571"/>
          </a:xfrm>
          <a:prstGeom prst="rect">
            <a:avLst/>
          </a:prstGeom>
        </p:spPr>
      </p:pic>
      <p:sp>
        <p:nvSpPr>
          <p:cNvPr id="18" name="TextBox 17"/>
          <p:cNvSpPr txBox="1"/>
          <p:nvPr/>
        </p:nvSpPr>
        <p:spPr>
          <a:xfrm>
            <a:off x="7315200" y="5115051"/>
            <a:ext cx="4389120" cy="548640"/>
          </a:xfrm>
          <a:prstGeom prst="rect">
            <a:avLst/>
          </a:prstGeom>
          <a:noFill/>
        </p:spPr>
        <p:txBody>
          <a:bodyPr wrap="square" anchor="t"/>
          <a:lstStyle/>
          <a:p>
            <a:pPr algn="ctr">
              <a:spcBef>
                <a:spcPts val="0"/>
              </a:spcBef>
              <a:spcAft>
                <a:spcPts val="0"/>
              </a:spcAft>
              <a:lnSpc>
                <a:spcPct val="130000"/>
              </a:lnSpc>
            </a:pPr>
            <a:r>
              <a:rPr sz="1000" b="0">
                <a:solidFill>
                  <a:srgbClr val="888899"/>
                </a:solidFill>
                <a:latin typeface="Helvetica Neue"/>
              </a:rPr>
              <a:t>Mazur et al. (2025) Annals of Family Medicine
DOI: 10.1370/afm.240091</a:t>
            </a:r>
          </a:p>
        </p:txBody>
      </p:sp>
      <p:sp>
        <p:nvSpPr>
          <p:cNvPr id="19" name="TextBox 18"/>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8 / 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THE TECHNOLOGY</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515600" cy="731520"/>
          </a:xfrm>
          <a:prstGeom prst="rect">
            <a:avLst/>
          </a:prstGeom>
          <a:noFill/>
        </p:spPr>
        <p:txBody>
          <a:bodyPr wrap="square" anchor="t"/>
          <a:lstStyle/>
          <a:p>
            <a:pPr algn="l">
              <a:spcBef>
                <a:spcPts val="0"/>
              </a:spcBef>
              <a:spcAft>
                <a:spcPts val="0"/>
              </a:spcAft>
              <a:lnSpc>
                <a:spcPct val="120000"/>
              </a:lnSpc>
            </a:pPr>
            <a:r>
              <a:rPr sz="3600" b="1">
                <a:solidFill>
                  <a:srgbClr val="FFFFFF"/>
                </a:solidFill>
                <a:latin typeface="Georgia"/>
              </a:rPr>
              <a:t>$30M of Clinical R&amp;D. In Your Pocket.</a:t>
            </a:r>
          </a:p>
        </p:txBody>
      </p:sp>
      <p:sp>
        <p:nvSpPr>
          <p:cNvPr id="6" name="TextBox 5"/>
          <p:cNvSpPr txBox="1"/>
          <p:nvPr/>
        </p:nvSpPr>
        <p:spPr>
          <a:xfrm>
            <a:off x="731520" y="1920240"/>
            <a:ext cx="10515600" cy="548640"/>
          </a:xfrm>
          <a:prstGeom prst="rect">
            <a:avLst/>
          </a:prstGeom>
          <a:noFill/>
        </p:spPr>
        <p:txBody>
          <a:bodyPr wrap="square" anchor="t"/>
          <a:lstStyle/>
          <a:p>
            <a:pPr algn="l">
              <a:spcBef>
                <a:spcPts val="0"/>
              </a:spcBef>
              <a:spcAft>
                <a:spcPts val="0"/>
              </a:spcAft>
              <a:lnSpc>
                <a:spcPct val="140000"/>
              </a:lnSpc>
            </a:pPr>
            <a:r>
              <a:rPr sz="1600" b="0">
                <a:solidFill>
                  <a:srgbClr val="AABBCC"/>
                </a:solidFill>
                <a:latin typeface="Helvetica Neue"/>
              </a:rPr>
              <a:t>Built on the Depression Assessment Model (DAM) — the most validated voice biomarker AI in existence.</a:t>
            </a:r>
          </a:p>
        </p:txBody>
      </p:sp>
      <p:sp>
        <p:nvSpPr>
          <p:cNvPr id="7" name="Rounded Rectangle 6"/>
          <p:cNvSpPr/>
          <p:nvPr/>
        </p:nvSpPr>
        <p:spPr>
          <a:xfrm>
            <a:off x="731520" y="2926080"/>
            <a:ext cx="2286000" cy="2011680"/>
          </a:xfrm>
          <a:prstGeom prst="roundRect">
            <a:avLst>
              <a:gd name="adj" fmla="val 6000"/>
            </a:avLst>
          </a:prstGeom>
          <a:solidFill>
            <a:srgbClr val="22445C"/>
          </a:solidFill>
          <a:ln w="12700">
            <a:solidFill>
              <a:srgbClr val="3355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46120"/>
            <a:ext cx="2286000" cy="640080"/>
          </a:xfrm>
          <a:prstGeom prst="rect">
            <a:avLst/>
          </a:prstGeom>
          <a:noFill/>
        </p:spPr>
        <p:txBody>
          <a:bodyPr wrap="square" anchor="t"/>
          <a:lstStyle/>
          <a:p>
            <a:pPr algn="ctr">
              <a:spcBef>
                <a:spcPts val="0"/>
              </a:spcBef>
              <a:spcAft>
                <a:spcPts val="0"/>
              </a:spcAft>
              <a:lnSpc>
                <a:spcPct val="120000"/>
              </a:lnSpc>
            </a:pPr>
            <a:r>
              <a:rPr sz="4000" b="1">
                <a:solidFill>
                  <a:srgbClr val="5B8DB8"/>
                </a:solidFill>
                <a:latin typeface="Georgia"/>
              </a:rPr>
              <a:t>$30M</a:t>
            </a:r>
          </a:p>
        </p:txBody>
      </p:sp>
      <p:sp>
        <p:nvSpPr>
          <p:cNvPr id="9" name="TextBox 8"/>
          <p:cNvSpPr txBox="1"/>
          <p:nvPr/>
        </p:nvSpPr>
        <p:spPr>
          <a:xfrm>
            <a:off x="731520" y="4023360"/>
            <a:ext cx="2286000" cy="731520"/>
          </a:xfrm>
          <a:prstGeom prst="rect">
            <a:avLst/>
          </a:prstGeom>
          <a:noFill/>
        </p:spPr>
        <p:txBody>
          <a:bodyPr wrap="square" anchor="t"/>
          <a:lstStyle/>
          <a:p>
            <a:pPr algn="ctr">
              <a:spcBef>
                <a:spcPts val="0"/>
              </a:spcBef>
              <a:spcAft>
                <a:spcPts val="0"/>
              </a:spcAft>
              <a:lnSpc>
                <a:spcPct val="130000"/>
              </a:lnSpc>
            </a:pPr>
            <a:r>
              <a:rPr sz="1400" b="0">
                <a:solidFill>
                  <a:srgbClr val="AABBCC"/>
                </a:solidFill>
                <a:latin typeface="Helvetica Neue"/>
              </a:rPr>
              <a:t>Clinical R&amp;D
Investment</a:t>
            </a:r>
          </a:p>
        </p:txBody>
      </p:sp>
      <p:sp>
        <p:nvSpPr>
          <p:cNvPr id="10" name="Rounded Rectangle 9"/>
          <p:cNvSpPr/>
          <p:nvPr/>
        </p:nvSpPr>
        <p:spPr>
          <a:xfrm>
            <a:off x="3474720" y="2926080"/>
            <a:ext cx="2286000" cy="2011680"/>
          </a:xfrm>
          <a:prstGeom prst="roundRect">
            <a:avLst>
              <a:gd name="adj" fmla="val 6000"/>
            </a:avLst>
          </a:prstGeom>
          <a:solidFill>
            <a:srgbClr val="22445C"/>
          </a:solidFill>
          <a:ln w="12700">
            <a:solidFill>
              <a:srgbClr val="3355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3246120"/>
            <a:ext cx="2286000" cy="640080"/>
          </a:xfrm>
          <a:prstGeom prst="rect">
            <a:avLst/>
          </a:prstGeom>
          <a:noFill/>
        </p:spPr>
        <p:txBody>
          <a:bodyPr wrap="square" anchor="t"/>
          <a:lstStyle/>
          <a:p>
            <a:pPr algn="ctr">
              <a:spcBef>
                <a:spcPts val="0"/>
              </a:spcBef>
              <a:spcAft>
                <a:spcPts val="0"/>
              </a:spcAft>
              <a:lnSpc>
                <a:spcPct val="120000"/>
              </a:lnSpc>
            </a:pPr>
            <a:r>
              <a:rPr sz="4000" b="1">
                <a:solidFill>
                  <a:srgbClr val="5B8DB8"/>
                </a:solidFill>
                <a:latin typeface="Georgia"/>
              </a:rPr>
              <a:t>244M</a:t>
            </a:r>
          </a:p>
        </p:txBody>
      </p:sp>
      <p:sp>
        <p:nvSpPr>
          <p:cNvPr id="12" name="TextBox 11"/>
          <p:cNvSpPr txBox="1"/>
          <p:nvPr/>
        </p:nvSpPr>
        <p:spPr>
          <a:xfrm>
            <a:off x="3474720" y="4023360"/>
            <a:ext cx="2286000" cy="731520"/>
          </a:xfrm>
          <a:prstGeom prst="rect">
            <a:avLst/>
          </a:prstGeom>
          <a:noFill/>
        </p:spPr>
        <p:txBody>
          <a:bodyPr wrap="square" anchor="t"/>
          <a:lstStyle/>
          <a:p>
            <a:pPr algn="ctr">
              <a:spcBef>
                <a:spcPts val="0"/>
              </a:spcBef>
              <a:spcAft>
                <a:spcPts val="0"/>
              </a:spcAft>
              <a:lnSpc>
                <a:spcPct val="130000"/>
              </a:lnSpc>
            </a:pPr>
            <a:r>
              <a:rPr sz="1400" b="0">
                <a:solidFill>
                  <a:srgbClr val="AABBCC"/>
                </a:solidFill>
                <a:latin typeface="Helvetica Neue"/>
              </a:rPr>
              <a:t>Trainable
Parameters</a:t>
            </a:r>
          </a:p>
        </p:txBody>
      </p:sp>
      <p:sp>
        <p:nvSpPr>
          <p:cNvPr id="13" name="Rounded Rectangle 12"/>
          <p:cNvSpPr/>
          <p:nvPr/>
        </p:nvSpPr>
        <p:spPr>
          <a:xfrm>
            <a:off x="6217920" y="2926080"/>
            <a:ext cx="2286000" cy="2011680"/>
          </a:xfrm>
          <a:prstGeom prst="roundRect">
            <a:avLst>
              <a:gd name="adj" fmla="val 6000"/>
            </a:avLst>
          </a:prstGeom>
          <a:solidFill>
            <a:srgbClr val="22445C"/>
          </a:solidFill>
          <a:ln w="12700">
            <a:solidFill>
              <a:srgbClr val="3355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3246120"/>
            <a:ext cx="2286000" cy="640080"/>
          </a:xfrm>
          <a:prstGeom prst="rect">
            <a:avLst/>
          </a:prstGeom>
          <a:noFill/>
        </p:spPr>
        <p:txBody>
          <a:bodyPr wrap="square" anchor="t"/>
          <a:lstStyle/>
          <a:p>
            <a:pPr algn="ctr">
              <a:spcBef>
                <a:spcPts val="0"/>
              </a:spcBef>
              <a:spcAft>
                <a:spcPts val="0"/>
              </a:spcAft>
              <a:lnSpc>
                <a:spcPct val="120000"/>
              </a:lnSpc>
            </a:pPr>
            <a:r>
              <a:rPr sz="4000" b="1">
                <a:solidFill>
                  <a:srgbClr val="5B8DB8"/>
                </a:solidFill>
                <a:latin typeface="Georgia"/>
              </a:rPr>
              <a:t>863 hrs</a:t>
            </a:r>
          </a:p>
        </p:txBody>
      </p:sp>
      <p:sp>
        <p:nvSpPr>
          <p:cNvPr id="15" name="TextBox 14"/>
          <p:cNvSpPr txBox="1"/>
          <p:nvPr/>
        </p:nvSpPr>
        <p:spPr>
          <a:xfrm>
            <a:off x="6217920" y="4023360"/>
            <a:ext cx="2286000" cy="731520"/>
          </a:xfrm>
          <a:prstGeom prst="rect">
            <a:avLst/>
          </a:prstGeom>
          <a:noFill/>
        </p:spPr>
        <p:txBody>
          <a:bodyPr wrap="square" anchor="t"/>
          <a:lstStyle/>
          <a:p>
            <a:pPr algn="ctr">
              <a:spcBef>
                <a:spcPts val="0"/>
              </a:spcBef>
              <a:spcAft>
                <a:spcPts val="0"/>
              </a:spcAft>
              <a:lnSpc>
                <a:spcPct val="130000"/>
              </a:lnSpc>
            </a:pPr>
            <a:r>
              <a:rPr sz="1400" b="0">
                <a:solidFill>
                  <a:srgbClr val="AABBCC"/>
                </a:solidFill>
                <a:latin typeface="Helvetica Neue"/>
              </a:rPr>
              <a:t>Clinical Voice
Data</a:t>
            </a:r>
          </a:p>
        </p:txBody>
      </p:sp>
      <p:sp>
        <p:nvSpPr>
          <p:cNvPr id="16" name="Rounded Rectangle 15"/>
          <p:cNvSpPr/>
          <p:nvPr/>
        </p:nvSpPr>
        <p:spPr>
          <a:xfrm>
            <a:off x="8961120" y="2926080"/>
            <a:ext cx="2286000" cy="2011680"/>
          </a:xfrm>
          <a:prstGeom prst="roundRect">
            <a:avLst>
              <a:gd name="adj" fmla="val 6000"/>
            </a:avLst>
          </a:prstGeom>
          <a:solidFill>
            <a:srgbClr val="22445C"/>
          </a:solidFill>
          <a:ln w="12700">
            <a:solidFill>
              <a:srgbClr val="3355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0" y="3246120"/>
            <a:ext cx="2286000" cy="640080"/>
          </a:xfrm>
          <a:prstGeom prst="rect">
            <a:avLst/>
          </a:prstGeom>
          <a:noFill/>
        </p:spPr>
        <p:txBody>
          <a:bodyPr wrap="square" anchor="t"/>
          <a:lstStyle/>
          <a:p>
            <a:pPr algn="ctr">
              <a:spcBef>
                <a:spcPts val="0"/>
              </a:spcBef>
              <a:spcAft>
                <a:spcPts val="0"/>
              </a:spcAft>
              <a:lnSpc>
                <a:spcPct val="120000"/>
              </a:lnSpc>
            </a:pPr>
            <a:r>
              <a:rPr sz="4000" b="1">
                <a:solidFill>
                  <a:srgbClr val="5B8DB8"/>
                </a:solidFill>
                <a:latin typeface="Georgia"/>
              </a:rPr>
              <a:t>35,000</a:t>
            </a:r>
          </a:p>
        </p:txBody>
      </p:sp>
      <p:sp>
        <p:nvSpPr>
          <p:cNvPr id="18" name="TextBox 17"/>
          <p:cNvSpPr txBox="1"/>
          <p:nvPr/>
        </p:nvSpPr>
        <p:spPr>
          <a:xfrm>
            <a:off x="8961120" y="4023360"/>
            <a:ext cx="2286000" cy="731520"/>
          </a:xfrm>
          <a:prstGeom prst="rect">
            <a:avLst/>
          </a:prstGeom>
          <a:noFill/>
        </p:spPr>
        <p:txBody>
          <a:bodyPr wrap="square" anchor="t"/>
          <a:lstStyle/>
          <a:p>
            <a:pPr algn="ctr">
              <a:spcBef>
                <a:spcPts val="0"/>
              </a:spcBef>
              <a:spcAft>
                <a:spcPts val="0"/>
              </a:spcAft>
              <a:lnSpc>
                <a:spcPct val="130000"/>
              </a:lnSpc>
            </a:pPr>
            <a:r>
              <a:rPr sz="1400" b="0">
                <a:solidFill>
                  <a:srgbClr val="AABBCC"/>
                </a:solidFill>
                <a:latin typeface="Helvetica Neue"/>
              </a:rPr>
              <a:t>Patient
Study Pool</a:t>
            </a:r>
          </a:p>
        </p:txBody>
      </p:sp>
      <p:sp>
        <p:nvSpPr>
          <p:cNvPr id="19" name="TextBox 18"/>
          <p:cNvSpPr txBox="1"/>
          <p:nvPr/>
        </p:nvSpPr>
        <p:spPr>
          <a:xfrm>
            <a:off x="731520" y="5212080"/>
            <a:ext cx="10515600" cy="731520"/>
          </a:xfrm>
          <a:prstGeom prst="rect">
            <a:avLst/>
          </a:prstGeom>
          <a:noFill/>
        </p:spPr>
        <p:txBody>
          <a:bodyPr wrap="square" anchor="t"/>
          <a:lstStyle/>
          <a:p>
            <a:pPr algn="l">
              <a:spcBef>
                <a:spcPts val="0"/>
              </a:spcBef>
              <a:spcAft>
                <a:spcPts val="0"/>
              </a:spcAft>
              <a:lnSpc>
                <a:spcPct val="140000"/>
              </a:lnSpc>
            </a:pPr>
            <a:r>
              <a:rPr sz="1200" b="0">
                <a:solidFill>
                  <a:srgbClr val="AABBCC"/>
                </a:solidFill>
                <a:latin typeface="Helvetica Neue"/>
              </a:rPr>
              <a:t>Kintsugi Health (2020–2026) invested $30M building this technology, then shut down — killed by FDA regulatory economics, not bad science. They open-sourced everything. Attune inherits validated, peer-reviewed voice biomarker AI without the regulatory trap.</a:t>
            </a:r>
          </a:p>
        </p:txBody>
      </p:sp>
      <p:sp>
        <p:nvSpPr>
          <p:cNvPr id="20" name="TextBox 19"/>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667788"/>
                </a:solidFill>
                <a:latin typeface="Helvetica Neue"/>
              </a:rPr>
              <a:t>9 /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PRODUCT</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A Complete Mental Wellness Platform</a:t>
            </a:r>
          </a:p>
        </p:txBody>
      </p:sp>
      <p:sp>
        <p:nvSpPr>
          <p:cNvPr id="6" name="Rounded Rectangle 5"/>
          <p:cNvSpPr/>
          <p:nvPr/>
        </p:nvSpPr>
        <p:spPr>
          <a:xfrm>
            <a:off x="731520" y="1828800"/>
            <a:ext cx="2194560" cy="12344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11680"/>
            <a:ext cx="173736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Wellness Score</a:t>
            </a:r>
          </a:p>
        </p:txBody>
      </p:sp>
      <p:sp>
        <p:nvSpPr>
          <p:cNvPr id="8" name="TextBox 7"/>
          <p:cNvSpPr txBox="1"/>
          <p:nvPr/>
        </p:nvSpPr>
        <p:spPr>
          <a:xfrm>
            <a:off x="960120" y="2331720"/>
            <a:ext cx="1737360" cy="5943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Composite 0-100 score from voice biomarkers</a:t>
            </a:r>
          </a:p>
        </p:txBody>
      </p:sp>
      <p:sp>
        <p:nvSpPr>
          <p:cNvPr id="9" name="Rounded Rectangle 8"/>
          <p:cNvSpPr/>
          <p:nvPr/>
        </p:nvSpPr>
        <p:spPr>
          <a:xfrm>
            <a:off x="3154680" y="1828800"/>
            <a:ext cx="2194560" cy="12344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2011680"/>
            <a:ext cx="173736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Depression Screening</a:t>
            </a:r>
          </a:p>
        </p:txBody>
      </p:sp>
      <p:sp>
        <p:nvSpPr>
          <p:cNvPr id="11" name="TextBox 10"/>
          <p:cNvSpPr txBox="1"/>
          <p:nvPr/>
        </p:nvSpPr>
        <p:spPr>
          <a:xfrm>
            <a:off x="3383280" y="2331720"/>
            <a:ext cx="1737360" cy="5943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PHQ-8 validated clinical screening</a:t>
            </a:r>
          </a:p>
        </p:txBody>
      </p:sp>
      <p:sp>
        <p:nvSpPr>
          <p:cNvPr id="12" name="Rounded Rectangle 11"/>
          <p:cNvSpPr/>
          <p:nvPr/>
        </p:nvSpPr>
        <p:spPr>
          <a:xfrm>
            <a:off x="731520" y="3291840"/>
            <a:ext cx="2194560" cy="12344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474720"/>
            <a:ext cx="173736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Stress Detection</a:t>
            </a:r>
          </a:p>
        </p:txBody>
      </p:sp>
      <p:sp>
        <p:nvSpPr>
          <p:cNvPr id="14" name="TextBox 13"/>
          <p:cNvSpPr txBox="1"/>
          <p:nvPr/>
        </p:nvSpPr>
        <p:spPr>
          <a:xfrm>
            <a:off x="960120" y="3794760"/>
            <a:ext cx="1737360" cy="5943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Real-time stress level from vocal patterns</a:t>
            </a:r>
          </a:p>
        </p:txBody>
      </p:sp>
      <p:sp>
        <p:nvSpPr>
          <p:cNvPr id="15" name="Rounded Rectangle 14"/>
          <p:cNvSpPr/>
          <p:nvPr/>
        </p:nvSpPr>
        <p:spPr>
          <a:xfrm>
            <a:off x="3154680" y="3291840"/>
            <a:ext cx="2194560" cy="12344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3474720"/>
            <a:ext cx="173736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Mood Tracking</a:t>
            </a:r>
          </a:p>
        </p:txBody>
      </p:sp>
      <p:sp>
        <p:nvSpPr>
          <p:cNvPr id="17" name="TextBox 16"/>
          <p:cNvSpPr txBox="1"/>
          <p:nvPr/>
        </p:nvSpPr>
        <p:spPr>
          <a:xfrm>
            <a:off x="3383280" y="3794760"/>
            <a:ext cx="1737360" cy="5943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Longitudinal mood trends with AI analysis</a:t>
            </a:r>
          </a:p>
        </p:txBody>
      </p:sp>
      <p:sp>
        <p:nvSpPr>
          <p:cNvPr id="18" name="Rounded Rectangle 17"/>
          <p:cNvSpPr/>
          <p:nvPr/>
        </p:nvSpPr>
        <p:spPr>
          <a:xfrm>
            <a:off x="731520" y="4754880"/>
            <a:ext cx="2194560" cy="12344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937760"/>
            <a:ext cx="173736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Energy Assessment</a:t>
            </a:r>
          </a:p>
        </p:txBody>
      </p:sp>
      <p:sp>
        <p:nvSpPr>
          <p:cNvPr id="20" name="TextBox 19"/>
          <p:cNvSpPr txBox="1"/>
          <p:nvPr/>
        </p:nvSpPr>
        <p:spPr>
          <a:xfrm>
            <a:off x="960120" y="5257800"/>
            <a:ext cx="1737360" cy="5943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Vocal energy and fatigue indicators</a:t>
            </a:r>
          </a:p>
        </p:txBody>
      </p:sp>
      <p:sp>
        <p:nvSpPr>
          <p:cNvPr id="21" name="Rounded Rectangle 20"/>
          <p:cNvSpPr/>
          <p:nvPr/>
        </p:nvSpPr>
        <p:spPr>
          <a:xfrm>
            <a:off x="3154680" y="4754880"/>
            <a:ext cx="2194560" cy="1234440"/>
          </a:xfrm>
          <a:prstGeom prst="roundRect">
            <a:avLst>
              <a:gd name="adj" fmla="val 6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83280" y="4937760"/>
            <a:ext cx="1737360" cy="36576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Helvetica Neue"/>
              </a:rPr>
              <a:t>Trend Dashboard</a:t>
            </a:r>
          </a:p>
        </p:txBody>
      </p:sp>
      <p:sp>
        <p:nvSpPr>
          <p:cNvPr id="23" name="TextBox 22"/>
          <p:cNvSpPr txBox="1"/>
          <p:nvPr/>
        </p:nvSpPr>
        <p:spPr>
          <a:xfrm>
            <a:off x="3383280" y="5257800"/>
            <a:ext cx="1737360" cy="5943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Historical trends with daily/weekly views</a:t>
            </a:r>
          </a:p>
        </p:txBody>
      </p:sp>
      <p:sp>
        <p:nvSpPr>
          <p:cNvPr id="24" name="Rounded Rectangle 23"/>
          <p:cNvSpPr/>
          <p:nvPr/>
        </p:nvSpPr>
        <p:spPr>
          <a:xfrm>
            <a:off x="5897880" y="1783080"/>
            <a:ext cx="5120640" cy="3391174"/>
          </a:xfrm>
          <a:prstGeom prst="roundRect">
            <a:avLst>
              <a:gd name="adj" fmla="val 3000"/>
            </a:avLst>
          </a:prstGeom>
          <a:solidFill>
            <a:srgbClr val="E0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dashboard-health-score.png"/>
          <p:cNvPicPr>
            <a:picLocks noChangeAspect="1"/>
          </p:cNvPicPr>
          <p:nvPr/>
        </p:nvPicPr>
        <p:blipFill>
          <a:blip r:embed="rId2"/>
          <a:stretch>
            <a:fillRect/>
          </a:stretch>
        </p:blipFill>
        <p:spPr>
          <a:xfrm>
            <a:off x="5943600" y="1828800"/>
            <a:ext cx="5029200" cy="3299734"/>
          </a:xfrm>
          <a:prstGeom prst="rect">
            <a:avLst/>
          </a:prstGeom>
        </p:spPr>
      </p:pic>
      <p:sp>
        <p:nvSpPr>
          <p:cNvPr id="26" name="TextBox 25"/>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10 / 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MARKET</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A $250B Market with Zero Voice-First Players</a:t>
            </a:r>
          </a:p>
        </p:txBody>
      </p:sp>
      <p:sp>
        <p:nvSpPr>
          <p:cNvPr id="6" name="Rounded Rectangle 5"/>
          <p:cNvSpPr/>
          <p:nvPr/>
        </p:nvSpPr>
        <p:spPr>
          <a:xfrm>
            <a:off x="731520" y="2194560"/>
            <a:ext cx="10058400" cy="1005840"/>
          </a:xfrm>
          <a:prstGeom prst="roundRect">
            <a:avLst>
              <a:gd name="adj" fmla="val 10000"/>
            </a:avLst>
          </a:prstGeom>
          <a:solidFill>
            <a:srgbClr val="D8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267712"/>
            <a:ext cx="731520" cy="274320"/>
          </a:xfrm>
          <a:prstGeom prst="rect">
            <a:avLst/>
          </a:prstGeom>
          <a:noFill/>
        </p:spPr>
        <p:txBody>
          <a:bodyPr wrap="square" anchor="t"/>
          <a:lstStyle/>
          <a:p>
            <a:pPr algn="l">
              <a:spcBef>
                <a:spcPts val="0"/>
              </a:spcBef>
              <a:spcAft>
                <a:spcPts val="0"/>
              </a:spcAft>
              <a:lnSpc>
                <a:spcPct val="120000"/>
              </a:lnSpc>
            </a:pPr>
            <a:r>
              <a:rPr sz="1100" b="1">
                <a:solidFill>
                  <a:srgbClr val="2D2D3A"/>
                </a:solidFill>
                <a:latin typeface="Helvetica Neue"/>
              </a:rPr>
              <a:t>TAM</a:t>
            </a:r>
          </a:p>
        </p:txBody>
      </p:sp>
      <p:sp>
        <p:nvSpPr>
          <p:cNvPr id="8" name="TextBox 7"/>
          <p:cNvSpPr txBox="1"/>
          <p:nvPr/>
        </p:nvSpPr>
        <p:spPr>
          <a:xfrm>
            <a:off x="1737360" y="2221992"/>
            <a:ext cx="1645920" cy="365760"/>
          </a:xfrm>
          <a:prstGeom prst="rect">
            <a:avLst/>
          </a:prstGeom>
          <a:noFill/>
        </p:spPr>
        <p:txBody>
          <a:bodyPr wrap="square" anchor="t"/>
          <a:lstStyle/>
          <a:p>
            <a:pPr algn="l">
              <a:spcBef>
                <a:spcPts val="0"/>
              </a:spcBef>
              <a:spcAft>
                <a:spcPts val="0"/>
              </a:spcAft>
              <a:lnSpc>
                <a:spcPct val="120000"/>
              </a:lnSpc>
            </a:pPr>
            <a:r>
              <a:rPr sz="2600" b="1">
                <a:solidFill>
                  <a:srgbClr val="2D2D3A"/>
                </a:solidFill>
                <a:latin typeface="Georgia"/>
              </a:rPr>
              <a:t>$250B</a:t>
            </a:r>
          </a:p>
        </p:txBody>
      </p:sp>
      <p:sp>
        <p:nvSpPr>
          <p:cNvPr id="9" name="TextBox 8"/>
          <p:cNvSpPr txBox="1"/>
          <p:nvPr/>
        </p:nvSpPr>
        <p:spPr>
          <a:xfrm>
            <a:off x="1005840" y="2633472"/>
            <a:ext cx="2286000" cy="274320"/>
          </a:xfrm>
          <a:prstGeom prst="rect">
            <a:avLst/>
          </a:prstGeom>
          <a:noFill/>
        </p:spPr>
        <p:txBody>
          <a:bodyPr wrap="square" anchor="t"/>
          <a:lstStyle/>
          <a:p>
            <a:pPr algn="l">
              <a:spcBef>
                <a:spcPts val="0"/>
              </a:spcBef>
              <a:spcAft>
                <a:spcPts val="0"/>
              </a:spcAft>
              <a:lnSpc>
                <a:spcPct val="120000"/>
              </a:lnSpc>
            </a:pPr>
            <a:r>
              <a:rPr sz="1200" b="1">
                <a:solidFill>
                  <a:srgbClr val="2D2D3A"/>
                </a:solidFill>
                <a:latin typeface="Helvetica Neue"/>
              </a:rPr>
              <a:t>Global Mental Health Market</a:t>
            </a:r>
          </a:p>
        </p:txBody>
      </p:sp>
      <p:sp>
        <p:nvSpPr>
          <p:cNvPr id="10" name="TextBox 9"/>
          <p:cNvSpPr txBox="1"/>
          <p:nvPr/>
        </p:nvSpPr>
        <p:spPr>
          <a:xfrm>
            <a:off x="3931920" y="2304288"/>
            <a:ext cx="6400800" cy="77724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Therapy, pharmaceuticals, digital therapeutics, workplace wellness, telehealth. 1B+ people globally.</a:t>
            </a:r>
          </a:p>
        </p:txBody>
      </p:sp>
      <p:sp>
        <p:nvSpPr>
          <p:cNvPr id="11" name="Rounded Rectangle 10"/>
          <p:cNvSpPr/>
          <p:nvPr/>
        </p:nvSpPr>
        <p:spPr>
          <a:xfrm>
            <a:off x="731520" y="3474720"/>
            <a:ext cx="6400800" cy="1005840"/>
          </a:xfrm>
          <a:prstGeom prst="roundRect">
            <a:avLst>
              <a:gd name="adj" fmla="val 10000"/>
            </a:avLst>
          </a:prstGeom>
          <a:solidFill>
            <a:srgbClr val="B8D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47872"/>
            <a:ext cx="731520" cy="274320"/>
          </a:xfrm>
          <a:prstGeom prst="rect">
            <a:avLst/>
          </a:prstGeom>
          <a:noFill/>
        </p:spPr>
        <p:txBody>
          <a:bodyPr wrap="square" anchor="t"/>
          <a:lstStyle/>
          <a:p>
            <a:pPr algn="l">
              <a:spcBef>
                <a:spcPts val="0"/>
              </a:spcBef>
              <a:spcAft>
                <a:spcPts val="0"/>
              </a:spcAft>
              <a:lnSpc>
                <a:spcPct val="120000"/>
              </a:lnSpc>
            </a:pPr>
            <a:r>
              <a:rPr sz="1100" b="1">
                <a:solidFill>
                  <a:srgbClr val="2D2D3A"/>
                </a:solidFill>
                <a:latin typeface="Helvetica Neue"/>
              </a:rPr>
              <a:t>SAM</a:t>
            </a:r>
          </a:p>
        </p:txBody>
      </p:sp>
      <p:sp>
        <p:nvSpPr>
          <p:cNvPr id="13" name="TextBox 12"/>
          <p:cNvSpPr txBox="1"/>
          <p:nvPr/>
        </p:nvSpPr>
        <p:spPr>
          <a:xfrm>
            <a:off x="1737360" y="3502152"/>
            <a:ext cx="1645920" cy="365760"/>
          </a:xfrm>
          <a:prstGeom prst="rect">
            <a:avLst/>
          </a:prstGeom>
          <a:noFill/>
        </p:spPr>
        <p:txBody>
          <a:bodyPr wrap="square" anchor="t"/>
          <a:lstStyle/>
          <a:p>
            <a:pPr algn="l">
              <a:spcBef>
                <a:spcPts val="0"/>
              </a:spcBef>
              <a:spcAft>
                <a:spcPts val="0"/>
              </a:spcAft>
              <a:lnSpc>
                <a:spcPct val="120000"/>
              </a:lnSpc>
            </a:pPr>
            <a:r>
              <a:rPr sz="2600" b="1">
                <a:solidFill>
                  <a:srgbClr val="2D2D3A"/>
                </a:solidFill>
                <a:latin typeface="Georgia"/>
              </a:rPr>
              <a:t>$38B</a:t>
            </a:r>
          </a:p>
        </p:txBody>
      </p:sp>
      <p:sp>
        <p:nvSpPr>
          <p:cNvPr id="14" name="TextBox 13"/>
          <p:cNvSpPr txBox="1"/>
          <p:nvPr/>
        </p:nvSpPr>
        <p:spPr>
          <a:xfrm>
            <a:off x="1005840" y="3913632"/>
            <a:ext cx="2286000" cy="274320"/>
          </a:xfrm>
          <a:prstGeom prst="rect">
            <a:avLst/>
          </a:prstGeom>
          <a:noFill/>
        </p:spPr>
        <p:txBody>
          <a:bodyPr wrap="square" anchor="t"/>
          <a:lstStyle/>
          <a:p>
            <a:pPr algn="l">
              <a:spcBef>
                <a:spcPts val="0"/>
              </a:spcBef>
              <a:spcAft>
                <a:spcPts val="0"/>
              </a:spcAft>
              <a:lnSpc>
                <a:spcPct val="120000"/>
              </a:lnSpc>
            </a:pPr>
            <a:r>
              <a:rPr sz="1200" b="1">
                <a:solidFill>
                  <a:srgbClr val="2D2D3A"/>
                </a:solidFill>
                <a:latin typeface="Helvetica Neue"/>
              </a:rPr>
              <a:t>Digital Mental Health</a:t>
            </a:r>
          </a:p>
        </p:txBody>
      </p:sp>
      <p:sp>
        <p:nvSpPr>
          <p:cNvPr id="15" name="TextBox 14"/>
          <p:cNvSpPr txBox="1"/>
          <p:nvPr/>
        </p:nvSpPr>
        <p:spPr>
          <a:xfrm>
            <a:off x="3931920" y="3584448"/>
            <a:ext cx="2743200" cy="77724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Apps, platforms, and digital tools. Growing ~18% CAGR.</a:t>
            </a:r>
          </a:p>
        </p:txBody>
      </p:sp>
      <p:sp>
        <p:nvSpPr>
          <p:cNvPr id="16" name="Rounded Rectangle 15"/>
          <p:cNvSpPr/>
          <p:nvPr/>
        </p:nvSpPr>
        <p:spPr>
          <a:xfrm>
            <a:off x="731520" y="4754880"/>
            <a:ext cx="3200400" cy="1005840"/>
          </a:xfrm>
          <a:prstGeom prst="roundRect">
            <a:avLst>
              <a:gd name="adj" fmla="val 10000"/>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828032"/>
            <a:ext cx="731520" cy="274320"/>
          </a:xfrm>
          <a:prstGeom prst="rect">
            <a:avLst/>
          </a:prstGeom>
          <a:noFill/>
        </p:spPr>
        <p:txBody>
          <a:bodyPr wrap="square" anchor="t"/>
          <a:lstStyle/>
          <a:p>
            <a:pPr algn="l">
              <a:spcBef>
                <a:spcPts val="0"/>
              </a:spcBef>
              <a:spcAft>
                <a:spcPts val="0"/>
              </a:spcAft>
              <a:lnSpc>
                <a:spcPct val="120000"/>
              </a:lnSpc>
            </a:pPr>
            <a:r>
              <a:rPr sz="1100" b="1">
                <a:solidFill>
                  <a:srgbClr val="FFFFFF"/>
                </a:solidFill>
                <a:latin typeface="Helvetica Neue"/>
              </a:rPr>
              <a:t>SOM</a:t>
            </a:r>
          </a:p>
        </p:txBody>
      </p:sp>
      <p:sp>
        <p:nvSpPr>
          <p:cNvPr id="18" name="TextBox 17"/>
          <p:cNvSpPr txBox="1"/>
          <p:nvPr/>
        </p:nvSpPr>
        <p:spPr>
          <a:xfrm>
            <a:off x="1737360" y="4782312"/>
            <a:ext cx="1645920" cy="365760"/>
          </a:xfrm>
          <a:prstGeom prst="rect">
            <a:avLst/>
          </a:prstGeom>
          <a:noFill/>
        </p:spPr>
        <p:txBody>
          <a:bodyPr wrap="square" anchor="t"/>
          <a:lstStyle/>
          <a:p>
            <a:pPr algn="l">
              <a:spcBef>
                <a:spcPts val="0"/>
              </a:spcBef>
              <a:spcAft>
                <a:spcPts val="0"/>
              </a:spcAft>
              <a:lnSpc>
                <a:spcPct val="120000"/>
              </a:lnSpc>
            </a:pPr>
            <a:r>
              <a:rPr sz="2600" b="1">
                <a:solidFill>
                  <a:srgbClr val="FFFFFF"/>
                </a:solidFill>
                <a:latin typeface="Georgia"/>
              </a:rPr>
              <a:t>$4.2B</a:t>
            </a:r>
          </a:p>
        </p:txBody>
      </p:sp>
      <p:sp>
        <p:nvSpPr>
          <p:cNvPr id="19" name="TextBox 18"/>
          <p:cNvSpPr txBox="1"/>
          <p:nvPr/>
        </p:nvSpPr>
        <p:spPr>
          <a:xfrm>
            <a:off x="1005840" y="5193792"/>
            <a:ext cx="2286000" cy="274320"/>
          </a:xfrm>
          <a:prstGeom prst="rect">
            <a:avLst/>
          </a:prstGeom>
          <a:noFill/>
        </p:spPr>
        <p:txBody>
          <a:bodyPr wrap="square" anchor="t"/>
          <a:lstStyle/>
          <a:p>
            <a:pPr algn="l">
              <a:spcBef>
                <a:spcPts val="0"/>
              </a:spcBef>
              <a:spcAft>
                <a:spcPts val="0"/>
              </a:spcAft>
              <a:lnSpc>
                <a:spcPct val="120000"/>
              </a:lnSpc>
            </a:pPr>
            <a:r>
              <a:rPr sz="1200" b="1">
                <a:solidFill>
                  <a:srgbClr val="FFFFFF"/>
                </a:solidFill>
                <a:latin typeface="Helvetica Neue"/>
              </a:rPr>
              <a:t>Consumer Voice Wellness</a:t>
            </a:r>
          </a:p>
        </p:txBody>
      </p:sp>
      <p:sp>
        <p:nvSpPr>
          <p:cNvPr id="20" name="TextBox 19"/>
          <p:cNvSpPr txBox="1"/>
          <p:nvPr/>
        </p:nvSpPr>
        <p:spPr>
          <a:xfrm>
            <a:off x="3931920" y="4864608"/>
            <a:ext cx="7315200" cy="77724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Voice-based wellness for QS users: Whoop, Oura, Apple Watch owners.</a:t>
            </a:r>
          </a:p>
        </p:txBody>
      </p:sp>
      <p:sp>
        <p:nvSpPr>
          <p:cNvPr id="21" name="Rectangle 20"/>
          <p:cNvSpPr/>
          <p:nvPr/>
        </p:nvSpPr>
        <p:spPr>
          <a:xfrm>
            <a:off x="731520" y="5760720"/>
            <a:ext cx="10698480" cy="12700"/>
          </a:xfrm>
          <a:prstGeom prst="rect">
            <a:avLst/>
          </a:prstGeom>
          <a:solidFill>
            <a:srgbClr val="E8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897880"/>
            <a:ext cx="10515600" cy="45720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Attune is the only voice-first, clinically validated player targeting the consumer QS segment.</a:t>
            </a:r>
          </a:p>
        </p:txBody>
      </p:sp>
      <p:sp>
        <p:nvSpPr>
          <p:cNvPr id="23" name="TextBox 22"/>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11 /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BUSINESS MODEL</a:t>
            </a:r>
          </a:p>
        </p:txBody>
      </p:sp>
      <p:sp>
        <p:nvSpPr>
          <p:cNvPr id="4" name="Rectangle 3"/>
          <p:cNvSpPr/>
          <p:nvPr/>
        </p:nvSpPr>
        <p:spPr>
          <a:xfrm>
            <a:off x="731520" y="822960"/>
            <a:ext cx="22860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Premium Subscription with Enterprise Expansion</a:t>
            </a:r>
          </a:p>
        </p:txBody>
      </p:sp>
      <p:sp>
        <p:nvSpPr>
          <p:cNvPr id="6" name="Rounded Rectangle 5"/>
          <p:cNvSpPr/>
          <p:nvPr/>
        </p:nvSpPr>
        <p:spPr>
          <a:xfrm>
            <a:off x="731520" y="2011680"/>
            <a:ext cx="4114800" cy="3931920"/>
          </a:xfrm>
          <a:prstGeom prst="roundRect">
            <a:avLst>
              <a:gd name="adj" fmla="val 5000"/>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3200400" cy="365760"/>
          </a:xfrm>
          <a:prstGeom prst="rect">
            <a:avLst/>
          </a:prstGeom>
          <a:noFill/>
        </p:spPr>
        <p:txBody>
          <a:bodyPr wrap="square" anchor="t"/>
          <a:lstStyle/>
          <a:p>
            <a:pPr algn="l">
              <a:spcBef>
                <a:spcPts val="0"/>
              </a:spcBef>
              <a:spcAft>
                <a:spcPts val="0"/>
              </a:spcAft>
              <a:lnSpc>
                <a:spcPct val="120000"/>
              </a:lnSpc>
            </a:pPr>
            <a:r>
              <a:rPr sz="1400" b="1">
                <a:solidFill>
                  <a:srgbClr val="5B8DB8"/>
                </a:solidFill>
                <a:latin typeface="Helvetica Neue"/>
              </a:rPr>
              <a:t>Attune Premium</a:t>
            </a:r>
          </a:p>
        </p:txBody>
      </p:sp>
      <p:sp>
        <p:nvSpPr>
          <p:cNvPr id="8" name="TextBox 7"/>
          <p:cNvSpPr txBox="1"/>
          <p:nvPr/>
        </p:nvSpPr>
        <p:spPr>
          <a:xfrm>
            <a:off x="1097280" y="2651760"/>
            <a:ext cx="3200400" cy="548640"/>
          </a:xfrm>
          <a:prstGeom prst="rect">
            <a:avLst/>
          </a:prstGeom>
          <a:noFill/>
        </p:spPr>
        <p:txBody>
          <a:bodyPr wrap="square" anchor="t"/>
          <a:lstStyle/>
          <a:p>
            <a:pPr algn="l">
              <a:spcBef>
                <a:spcPts val="0"/>
              </a:spcBef>
              <a:spcAft>
                <a:spcPts val="0"/>
              </a:spcAft>
              <a:lnSpc>
                <a:spcPct val="120000"/>
              </a:lnSpc>
            </a:pPr>
            <a:r>
              <a:rPr sz="4000" b="1">
                <a:solidFill>
                  <a:srgbClr val="FFFFFF"/>
                </a:solidFill>
                <a:latin typeface="Georgia"/>
              </a:rPr>
              <a:t>$14.99/mo</a:t>
            </a:r>
          </a:p>
        </p:txBody>
      </p:sp>
      <p:sp>
        <p:nvSpPr>
          <p:cNvPr id="9" name="TextBox 8"/>
          <p:cNvSpPr txBox="1"/>
          <p:nvPr/>
        </p:nvSpPr>
        <p:spPr>
          <a:xfrm>
            <a:off x="1097280" y="3200400"/>
            <a:ext cx="3200400" cy="274320"/>
          </a:xfrm>
          <a:prstGeom prst="rect">
            <a:avLst/>
          </a:prstGeom>
          <a:noFill/>
        </p:spPr>
        <p:txBody>
          <a:bodyPr wrap="square" anchor="t"/>
          <a:lstStyle/>
          <a:p>
            <a:pPr algn="l">
              <a:spcBef>
                <a:spcPts val="0"/>
              </a:spcBef>
              <a:spcAft>
                <a:spcPts val="0"/>
              </a:spcAft>
              <a:lnSpc>
                <a:spcPct val="120000"/>
              </a:lnSpc>
            </a:pPr>
            <a:r>
              <a:rPr sz="1300" b="0">
                <a:solidFill>
                  <a:srgbClr val="AABBCC"/>
                </a:solidFill>
                <a:latin typeface="Helvetica Neue"/>
              </a:rPr>
              <a:t>or $119.99/year (save 33%)</a:t>
            </a:r>
          </a:p>
        </p:txBody>
      </p:sp>
      <p:sp>
        <p:nvSpPr>
          <p:cNvPr id="10" name="TextBox 9"/>
          <p:cNvSpPr txBox="1"/>
          <p:nvPr/>
        </p:nvSpPr>
        <p:spPr>
          <a:xfrm>
            <a:off x="1097280" y="3703320"/>
            <a:ext cx="3200400" cy="274320"/>
          </a:xfrm>
          <a:prstGeom prst="rect">
            <a:avLst/>
          </a:prstGeom>
          <a:noFill/>
        </p:spPr>
        <p:txBody>
          <a:bodyPr wrap="square" anchor="t"/>
          <a:lstStyle/>
          <a:p>
            <a:pPr algn="l">
              <a:spcBef>
                <a:spcPts val="0"/>
              </a:spcBef>
              <a:spcAft>
                <a:spcPts val="0"/>
              </a:spcAft>
              <a:lnSpc>
                <a:spcPct val="120000"/>
              </a:lnSpc>
            </a:pPr>
            <a:r>
              <a:rPr sz="1200" b="0">
                <a:solidFill>
                  <a:srgbClr val="CCDDEE"/>
                </a:solidFill>
                <a:latin typeface="Helvetica Neue"/>
              </a:rPr>
              <a:t>✓  Unlimited voice analyses</a:t>
            </a:r>
          </a:p>
        </p:txBody>
      </p:sp>
      <p:sp>
        <p:nvSpPr>
          <p:cNvPr id="11" name="TextBox 10"/>
          <p:cNvSpPr txBox="1"/>
          <p:nvPr/>
        </p:nvSpPr>
        <p:spPr>
          <a:xfrm>
            <a:off x="1097280" y="3995928"/>
            <a:ext cx="3200400" cy="274320"/>
          </a:xfrm>
          <a:prstGeom prst="rect">
            <a:avLst/>
          </a:prstGeom>
          <a:noFill/>
        </p:spPr>
        <p:txBody>
          <a:bodyPr wrap="square" anchor="t"/>
          <a:lstStyle/>
          <a:p>
            <a:pPr algn="l">
              <a:spcBef>
                <a:spcPts val="0"/>
              </a:spcBef>
              <a:spcAft>
                <a:spcPts val="0"/>
              </a:spcAft>
              <a:lnSpc>
                <a:spcPct val="120000"/>
              </a:lnSpc>
            </a:pPr>
            <a:r>
              <a:rPr sz="1200" b="0">
                <a:solidFill>
                  <a:srgbClr val="CCDDEE"/>
                </a:solidFill>
                <a:latin typeface="Helvetica Neue"/>
              </a:rPr>
              <a:t>✓  Clinical wellness scoring</a:t>
            </a:r>
          </a:p>
        </p:txBody>
      </p:sp>
      <p:sp>
        <p:nvSpPr>
          <p:cNvPr id="12" name="TextBox 11"/>
          <p:cNvSpPr txBox="1"/>
          <p:nvPr/>
        </p:nvSpPr>
        <p:spPr>
          <a:xfrm>
            <a:off x="1097280" y="4288536"/>
            <a:ext cx="3200400" cy="274320"/>
          </a:xfrm>
          <a:prstGeom prst="rect">
            <a:avLst/>
          </a:prstGeom>
          <a:noFill/>
        </p:spPr>
        <p:txBody>
          <a:bodyPr wrap="square" anchor="t"/>
          <a:lstStyle/>
          <a:p>
            <a:pPr algn="l">
              <a:spcBef>
                <a:spcPts val="0"/>
              </a:spcBef>
              <a:spcAft>
                <a:spcPts val="0"/>
              </a:spcAft>
              <a:lnSpc>
                <a:spcPct val="120000"/>
              </a:lnSpc>
            </a:pPr>
            <a:r>
              <a:rPr sz="1200" b="0">
                <a:solidFill>
                  <a:srgbClr val="CCDDEE"/>
                </a:solidFill>
                <a:latin typeface="Helvetica Neue"/>
              </a:rPr>
              <a:t>✓  Depression risk screening</a:t>
            </a:r>
          </a:p>
        </p:txBody>
      </p:sp>
      <p:sp>
        <p:nvSpPr>
          <p:cNvPr id="13" name="TextBox 12"/>
          <p:cNvSpPr txBox="1"/>
          <p:nvPr/>
        </p:nvSpPr>
        <p:spPr>
          <a:xfrm>
            <a:off x="1097280" y="4581144"/>
            <a:ext cx="3200400" cy="274320"/>
          </a:xfrm>
          <a:prstGeom prst="rect">
            <a:avLst/>
          </a:prstGeom>
          <a:noFill/>
        </p:spPr>
        <p:txBody>
          <a:bodyPr wrap="square" anchor="t"/>
          <a:lstStyle/>
          <a:p>
            <a:pPr algn="l">
              <a:spcBef>
                <a:spcPts val="0"/>
              </a:spcBef>
              <a:spcAft>
                <a:spcPts val="0"/>
              </a:spcAft>
              <a:lnSpc>
                <a:spcPct val="120000"/>
              </a:lnSpc>
            </a:pPr>
            <a:r>
              <a:rPr sz="1200" b="0">
                <a:solidFill>
                  <a:srgbClr val="CCDDEE"/>
                </a:solidFill>
                <a:latin typeface="Helvetica Neue"/>
              </a:rPr>
              <a:t>✓  Stress &amp; mood tracking</a:t>
            </a:r>
          </a:p>
        </p:txBody>
      </p:sp>
      <p:sp>
        <p:nvSpPr>
          <p:cNvPr id="14" name="TextBox 13"/>
          <p:cNvSpPr txBox="1"/>
          <p:nvPr/>
        </p:nvSpPr>
        <p:spPr>
          <a:xfrm>
            <a:off x="1097280" y="4873752"/>
            <a:ext cx="3200400" cy="274320"/>
          </a:xfrm>
          <a:prstGeom prst="rect">
            <a:avLst/>
          </a:prstGeom>
          <a:noFill/>
        </p:spPr>
        <p:txBody>
          <a:bodyPr wrap="square" anchor="t"/>
          <a:lstStyle/>
          <a:p>
            <a:pPr algn="l">
              <a:spcBef>
                <a:spcPts val="0"/>
              </a:spcBef>
              <a:spcAft>
                <a:spcPts val="0"/>
              </a:spcAft>
              <a:lnSpc>
                <a:spcPct val="120000"/>
              </a:lnSpc>
            </a:pPr>
            <a:r>
              <a:rPr sz="1200" b="0">
                <a:solidFill>
                  <a:srgbClr val="CCDDEE"/>
                </a:solidFill>
                <a:latin typeface="Helvetica Neue"/>
              </a:rPr>
              <a:t>✓  Trend analytics dashboard</a:t>
            </a:r>
          </a:p>
        </p:txBody>
      </p:sp>
      <p:sp>
        <p:nvSpPr>
          <p:cNvPr id="15" name="TextBox 14"/>
          <p:cNvSpPr txBox="1"/>
          <p:nvPr/>
        </p:nvSpPr>
        <p:spPr>
          <a:xfrm>
            <a:off x="1097280" y="5166360"/>
            <a:ext cx="3200400" cy="274320"/>
          </a:xfrm>
          <a:prstGeom prst="rect">
            <a:avLst/>
          </a:prstGeom>
          <a:noFill/>
        </p:spPr>
        <p:txBody>
          <a:bodyPr wrap="square" anchor="t"/>
          <a:lstStyle/>
          <a:p>
            <a:pPr algn="l">
              <a:spcBef>
                <a:spcPts val="0"/>
              </a:spcBef>
              <a:spcAft>
                <a:spcPts val="0"/>
              </a:spcAft>
              <a:lnSpc>
                <a:spcPct val="120000"/>
              </a:lnSpc>
            </a:pPr>
            <a:r>
              <a:rPr sz="1200" b="0">
                <a:solidFill>
                  <a:srgbClr val="CCDDEE"/>
                </a:solidFill>
                <a:latin typeface="Helvetica Neue"/>
              </a:rPr>
              <a:t>✓  Export health reports</a:t>
            </a:r>
          </a:p>
        </p:txBody>
      </p:sp>
      <p:sp>
        <p:nvSpPr>
          <p:cNvPr id="16" name="TextBox 15"/>
          <p:cNvSpPr txBox="1"/>
          <p:nvPr/>
        </p:nvSpPr>
        <p:spPr>
          <a:xfrm>
            <a:off x="1097280" y="5458968"/>
            <a:ext cx="3200400" cy="274320"/>
          </a:xfrm>
          <a:prstGeom prst="rect">
            <a:avLst/>
          </a:prstGeom>
          <a:noFill/>
        </p:spPr>
        <p:txBody>
          <a:bodyPr wrap="square" anchor="t"/>
          <a:lstStyle/>
          <a:p>
            <a:pPr algn="l">
              <a:spcBef>
                <a:spcPts val="0"/>
              </a:spcBef>
              <a:spcAft>
                <a:spcPts val="0"/>
              </a:spcAft>
              <a:lnSpc>
                <a:spcPct val="120000"/>
              </a:lnSpc>
            </a:pPr>
            <a:r>
              <a:rPr sz="1200" b="0">
                <a:solidFill>
                  <a:srgbClr val="CCDDEE"/>
                </a:solidFill>
                <a:latin typeface="Helvetica Neue"/>
              </a:rPr>
              <a:t>✓  100% on-device processing</a:t>
            </a:r>
          </a:p>
        </p:txBody>
      </p:sp>
      <p:sp>
        <p:nvSpPr>
          <p:cNvPr id="17" name="TextBox 16"/>
          <p:cNvSpPr txBox="1"/>
          <p:nvPr/>
        </p:nvSpPr>
        <p:spPr>
          <a:xfrm>
            <a:off x="5669280" y="2011680"/>
            <a:ext cx="5486400" cy="365760"/>
          </a:xfrm>
          <a:prstGeom prst="rect">
            <a:avLst/>
          </a:prstGeom>
          <a:noFill/>
        </p:spPr>
        <p:txBody>
          <a:bodyPr wrap="square" anchor="t"/>
          <a:lstStyle/>
          <a:p>
            <a:pPr algn="l">
              <a:spcBef>
                <a:spcPts val="0"/>
              </a:spcBef>
              <a:spcAft>
                <a:spcPts val="0"/>
              </a:spcAft>
              <a:lnSpc>
                <a:spcPct val="120000"/>
              </a:lnSpc>
            </a:pPr>
            <a:r>
              <a:rPr sz="2000" b="1">
                <a:solidFill>
                  <a:srgbClr val="2D2D3A"/>
                </a:solidFill>
                <a:latin typeface="Georgia"/>
              </a:rPr>
              <a:t>Revenue Expansion Paths</a:t>
            </a:r>
          </a:p>
        </p:txBody>
      </p:sp>
      <p:sp>
        <p:nvSpPr>
          <p:cNvPr id="18" name="Oval 17"/>
          <p:cNvSpPr/>
          <p:nvPr/>
        </p:nvSpPr>
        <p:spPr>
          <a:xfrm>
            <a:off x="5669280" y="2606040"/>
            <a:ext cx="91440" cy="9144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97880" y="2560320"/>
            <a:ext cx="548640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B2B2C: Employer Wellness</a:t>
            </a:r>
          </a:p>
        </p:txBody>
      </p:sp>
      <p:sp>
        <p:nvSpPr>
          <p:cNvPr id="20" name="TextBox 19"/>
          <p:cNvSpPr txBox="1"/>
          <p:nvPr/>
        </p:nvSpPr>
        <p:spPr>
          <a:xfrm>
            <a:off x="5897880" y="2834640"/>
            <a:ext cx="5486400" cy="50292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White-label integration with corporate wellness platforms. Per-employee licensing ($5-15/employee/mo).</a:t>
            </a:r>
          </a:p>
        </p:txBody>
      </p:sp>
      <p:sp>
        <p:nvSpPr>
          <p:cNvPr id="21" name="Oval 20"/>
          <p:cNvSpPr/>
          <p:nvPr/>
        </p:nvSpPr>
        <p:spPr>
          <a:xfrm>
            <a:off x="5669280" y="3520440"/>
            <a:ext cx="91440" cy="9144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97880" y="3474720"/>
            <a:ext cx="548640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Health System Partnerships</a:t>
            </a:r>
          </a:p>
        </p:txBody>
      </p:sp>
      <p:sp>
        <p:nvSpPr>
          <p:cNvPr id="23" name="TextBox 22"/>
          <p:cNvSpPr txBox="1"/>
          <p:nvPr/>
        </p:nvSpPr>
        <p:spPr>
          <a:xfrm>
            <a:off x="5897880" y="3749040"/>
            <a:ext cx="5486400" cy="50292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EHR integration for mental health screening at scale. Revenue-share model with health systems.</a:t>
            </a:r>
          </a:p>
        </p:txBody>
      </p:sp>
      <p:sp>
        <p:nvSpPr>
          <p:cNvPr id="24" name="Oval 23"/>
          <p:cNvSpPr/>
          <p:nvPr/>
        </p:nvSpPr>
        <p:spPr>
          <a:xfrm>
            <a:off x="5669280" y="4434840"/>
            <a:ext cx="91440" cy="9144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97880" y="4389120"/>
            <a:ext cx="548640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Insurance / Payer Integration</a:t>
            </a:r>
          </a:p>
        </p:txBody>
      </p:sp>
      <p:sp>
        <p:nvSpPr>
          <p:cNvPr id="26" name="TextBox 25"/>
          <p:cNvSpPr txBox="1"/>
          <p:nvPr/>
        </p:nvSpPr>
        <p:spPr>
          <a:xfrm>
            <a:off x="5897880" y="4663440"/>
            <a:ext cx="5486400" cy="50292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Risk-adjusted premium discounts for continuous mental health monitoring. Data licensing (anonymized, aggregated).</a:t>
            </a:r>
          </a:p>
        </p:txBody>
      </p:sp>
      <p:sp>
        <p:nvSpPr>
          <p:cNvPr id="27" name="Oval 26"/>
          <p:cNvSpPr/>
          <p:nvPr/>
        </p:nvSpPr>
        <p:spPr>
          <a:xfrm>
            <a:off x="5669280" y="5349240"/>
            <a:ext cx="91440" cy="9144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97880" y="5303520"/>
            <a:ext cx="548640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Platform Licensing</a:t>
            </a:r>
          </a:p>
        </p:txBody>
      </p:sp>
      <p:sp>
        <p:nvSpPr>
          <p:cNvPr id="29" name="TextBox 28"/>
          <p:cNvSpPr txBox="1"/>
          <p:nvPr/>
        </p:nvSpPr>
        <p:spPr>
          <a:xfrm>
            <a:off x="5897880" y="5577840"/>
            <a:ext cx="5486400" cy="50292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License the voice biomarker engine to telehealth platforms, EAPs, and digital therapeutics companies.</a:t>
            </a:r>
          </a:p>
        </p:txBody>
      </p:sp>
      <p:sp>
        <p:nvSpPr>
          <p:cNvPr id="30" name="TextBox 29"/>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12 / 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45720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COMPETITIVE LANDSCAPE</a:t>
            </a:r>
          </a:p>
        </p:txBody>
      </p:sp>
      <p:sp>
        <p:nvSpPr>
          <p:cNvPr id="4" name="Rectangle 3"/>
          <p:cNvSpPr/>
          <p:nvPr/>
        </p:nvSpPr>
        <p:spPr>
          <a:xfrm>
            <a:off x="731520" y="822960"/>
            <a:ext cx="22860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Clinical Depth × Consumer Accessibility</a:t>
            </a:r>
          </a:p>
        </p:txBody>
      </p:sp>
      <p:sp>
        <p:nvSpPr>
          <p:cNvPr id="6" name="Rectangle 5"/>
          <p:cNvSpPr/>
          <p:nvPr/>
        </p:nvSpPr>
        <p:spPr>
          <a:xfrm>
            <a:off x="1371600" y="2011680"/>
            <a:ext cx="3200400" cy="2057400"/>
          </a:xfrm>
          <a:prstGeom prst="rect">
            <a:avLst/>
          </a:prstGeom>
          <a:solidFill>
            <a:srgbClr val="F0F4F8"/>
          </a:solidFill>
          <a:ln w="635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0" y="2011680"/>
            <a:ext cx="3200400" cy="2057400"/>
          </a:xfrm>
          <a:prstGeom prst="rect">
            <a:avLst/>
          </a:prstGeom>
          <a:solidFill>
            <a:srgbClr val="E8F0F8"/>
          </a:solidFill>
          <a:ln w="635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4069080"/>
            <a:ext cx="3200400" cy="2057400"/>
          </a:xfrm>
          <a:prstGeom prst="rect">
            <a:avLst/>
          </a:prstGeom>
          <a:solidFill>
            <a:srgbClr val="F4F4F4"/>
          </a:solidFill>
          <a:ln w="635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0" y="4069080"/>
            <a:ext cx="3200400" cy="2057400"/>
          </a:xfrm>
          <a:prstGeom prst="rect">
            <a:avLst/>
          </a:prstGeom>
          <a:solidFill>
            <a:srgbClr val="F0F0F4"/>
          </a:solidFill>
          <a:ln w="635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6217920"/>
            <a:ext cx="4572000" cy="274320"/>
          </a:xfrm>
          <a:prstGeom prst="rect">
            <a:avLst/>
          </a:prstGeom>
          <a:noFill/>
        </p:spPr>
        <p:txBody>
          <a:bodyPr wrap="square" anchor="t"/>
          <a:lstStyle/>
          <a:p>
            <a:pPr algn="ctr">
              <a:spcBef>
                <a:spcPts val="0"/>
              </a:spcBef>
              <a:spcAft>
                <a:spcPts val="0"/>
              </a:spcAft>
              <a:lnSpc>
                <a:spcPct val="120000"/>
              </a:lnSpc>
            </a:pPr>
            <a:r>
              <a:rPr sz="1200" b="1">
                <a:solidFill>
                  <a:srgbClr val="555566"/>
                </a:solidFill>
                <a:latin typeface="Helvetica Neue"/>
              </a:rPr>
              <a:t>Consumer Accessibility →</a:t>
            </a:r>
          </a:p>
        </p:txBody>
      </p:sp>
      <p:sp>
        <p:nvSpPr>
          <p:cNvPr id="11" name="TextBox 10"/>
          <p:cNvSpPr txBox="1"/>
          <p:nvPr/>
        </p:nvSpPr>
        <p:spPr>
          <a:xfrm>
            <a:off x="91440" y="3383280"/>
            <a:ext cx="1097280" cy="1371600"/>
          </a:xfrm>
          <a:prstGeom prst="rect">
            <a:avLst/>
          </a:prstGeom>
          <a:noFill/>
        </p:spPr>
        <p:txBody>
          <a:bodyPr wrap="square" anchor="t"/>
          <a:lstStyle/>
          <a:p>
            <a:pPr algn="ctr">
              <a:spcBef>
                <a:spcPts val="0"/>
              </a:spcBef>
              <a:spcAft>
                <a:spcPts val="0"/>
              </a:spcAft>
              <a:lnSpc>
                <a:spcPct val="120000"/>
              </a:lnSpc>
            </a:pPr>
            <a:r>
              <a:rPr sz="1200" b="1">
                <a:solidFill>
                  <a:srgbClr val="555566"/>
                </a:solidFill>
                <a:latin typeface="Helvetica Neue"/>
              </a:rPr>
              <a:t>Clinical
Depth
↑</a:t>
            </a:r>
          </a:p>
        </p:txBody>
      </p:sp>
      <p:sp>
        <p:nvSpPr>
          <p:cNvPr id="12" name="Oval 11"/>
          <p:cNvSpPr/>
          <p:nvPr/>
        </p:nvSpPr>
        <p:spPr>
          <a:xfrm>
            <a:off x="5760720" y="5212080"/>
            <a:ext cx="164592" cy="164592"/>
          </a:xfrm>
          <a:prstGeom prst="ellipse">
            <a:avLst/>
          </a:prstGeom>
          <a:solidFill>
            <a:srgbClr val="888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98464" y="5193792"/>
            <a:ext cx="18288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Headspace</a:t>
            </a:r>
          </a:p>
        </p:txBody>
      </p:sp>
      <p:sp>
        <p:nvSpPr>
          <p:cNvPr id="14" name="Oval 13"/>
          <p:cNvSpPr/>
          <p:nvPr/>
        </p:nvSpPr>
        <p:spPr>
          <a:xfrm>
            <a:off x="6400800" y="5486400"/>
            <a:ext cx="164592" cy="164592"/>
          </a:xfrm>
          <a:prstGeom prst="ellipse">
            <a:avLst/>
          </a:prstGeom>
          <a:solidFill>
            <a:srgbClr val="888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38544" y="5468112"/>
            <a:ext cx="18288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Calm</a:t>
            </a:r>
          </a:p>
        </p:txBody>
      </p:sp>
      <p:sp>
        <p:nvSpPr>
          <p:cNvPr id="16" name="Oval 15"/>
          <p:cNvSpPr/>
          <p:nvPr/>
        </p:nvSpPr>
        <p:spPr>
          <a:xfrm>
            <a:off x="4846320" y="4572000"/>
            <a:ext cx="164592" cy="164592"/>
          </a:xfrm>
          <a:prstGeom prst="ellipse">
            <a:avLst/>
          </a:prstGeom>
          <a:solidFill>
            <a:srgbClr val="E8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4064" y="4553712"/>
            <a:ext cx="1828800" cy="274320"/>
          </a:xfrm>
          <a:prstGeom prst="rect">
            <a:avLst/>
          </a:prstGeom>
          <a:noFill/>
        </p:spPr>
        <p:txBody>
          <a:bodyPr wrap="square" anchor="t"/>
          <a:lstStyle/>
          <a:p>
            <a:pPr algn="l">
              <a:spcBef>
                <a:spcPts val="0"/>
              </a:spcBef>
              <a:spcAft>
                <a:spcPts val="0"/>
              </a:spcAft>
              <a:lnSpc>
                <a:spcPct val="120000"/>
              </a:lnSpc>
            </a:pPr>
            <a:r>
              <a:rPr sz="1100" b="0">
                <a:solidFill>
                  <a:srgbClr val="E86B6B"/>
                </a:solidFill>
                <a:latin typeface="Helvetica Neue"/>
              </a:rPr>
              <a:t>Woebot (shut down)</a:t>
            </a:r>
          </a:p>
        </p:txBody>
      </p:sp>
      <p:sp>
        <p:nvSpPr>
          <p:cNvPr id="18" name="Oval 17"/>
          <p:cNvSpPr/>
          <p:nvPr/>
        </p:nvSpPr>
        <p:spPr>
          <a:xfrm>
            <a:off x="2468880" y="2560320"/>
            <a:ext cx="164592" cy="164592"/>
          </a:xfrm>
          <a:prstGeom prst="ellipse">
            <a:avLst/>
          </a:prstGeom>
          <a:solidFill>
            <a:srgbClr val="E8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06624" y="2542032"/>
            <a:ext cx="1828800" cy="274320"/>
          </a:xfrm>
          <a:prstGeom prst="rect">
            <a:avLst/>
          </a:prstGeom>
          <a:noFill/>
        </p:spPr>
        <p:txBody>
          <a:bodyPr wrap="square" anchor="t"/>
          <a:lstStyle/>
          <a:p>
            <a:pPr algn="l">
              <a:spcBef>
                <a:spcPts val="0"/>
              </a:spcBef>
              <a:spcAft>
                <a:spcPts val="0"/>
              </a:spcAft>
              <a:lnSpc>
                <a:spcPct val="120000"/>
              </a:lnSpc>
            </a:pPr>
            <a:r>
              <a:rPr sz="1100" b="0">
                <a:solidFill>
                  <a:srgbClr val="E86B6B"/>
                </a:solidFill>
                <a:latin typeface="Helvetica Neue"/>
              </a:rPr>
              <a:t>Kintsugi (shut down)</a:t>
            </a:r>
          </a:p>
        </p:txBody>
      </p:sp>
      <p:sp>
        <p:nvSpPr>
          <p:cNvPr id="20" name="Oval 19"/>
          <p:cNvSpPr/>
          <p:nvPr/>
        </p:nvSpPr>
        <p:spPr>
          <a:xfrm>
            <a:off x="2103120" y="3108960"/>
            <a:ext cx="164592" cy="164592"/>
          </a:xfrm>
          <a:prstGeom prst="ellipse">
            <a:avLst/>
          </a:prstGeom>
          <a:solidFill>
            <a:srgbClr val="888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40864" y="3090672"/>
            <a:ext cx="18288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Sonde Health</a:t>
            </a:r>
          </a:p>
        </p:txBody>
      </p:sp>
      <p:sp>
        <p:nvSpPr>
          <p:cNvPr id="22" name="Oval 21"/>
          <p:cNvSpPr/>
          <p:nvPr/>
        </p:nvSpPr>
        <p:spPr>
          <a:xfrm>
            <a:off x="5852160" y="2194560"/>
            <a:ext cx="548640" cy="548640"/>
          </a:xfrm>
          <a:prstGeom prst="ellipse">
            <a:avLst/>
          </a:prstGeom>
          <a:solidFill>
            <a:srgbClr val="D8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43600" y="2286000"/>
            <a:ext cx="365760" cy="36576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2267712"/>
            <a:ext cx="1371600" cy="32004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Attune</a:t>
            </a:r>
          </a:p>
        </p:txBody>
      </p:sp>
      <p:sp>
        <p:nvSpPr>
          <p:cNvPr id="25" name="Oval 24"/>
          <p:cNvSpPr/>
          <p:nvPr/>
        </p:nvSpPr>
        <p:spPr>
          <a:xfrm>
            <a:off x="8412480" y="2240280"/>
            <a:ext cx="91440" cy="91440"/>
          </a:xfrm>
          <a:prstGeom prst="ellipse">
            <a:avLst/>
          </a:prstGeom>
          <a:solidFill>
            <a:srgbClr val="E8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0" y="2194560"/>
            <a:ext cx="3200400" cy="228600"/>
          </a:xfrm>
          <a:prstGeom prst="rect">
            <a:avLst/>
          </a:prstGeom>
          <a:noFill/>
        </p:spPr>
        <p:txBody>
          <a:bodyPr wrap="square" anchor="t"/>
          <a:lstStyle/>
          <a:p>
            <a:pPr algn="l">
              <a:spcBef>
                <a:spcPts val="0"/>
              </a:spcBef>
              <a:spcAft>
                <a:spcPts val="0"/>
              </a:spcAft>
              <a:lnSpc>
                <a:spcPct val="120000"/>
              </a:lnSpc>
            </a:pPr>
            <a:r>
              <a:rPr sz="1200" b="1">
                <a:solidFill>
                  <a:srgbClr val="2D2D3A"/>
                </a:solidFill>
                <a:latin typeface="Helvetica Neue"/>
              </a:rPr>
              <a:t>Kintsugi Health</a:t>
            </a:r>
          </a:p>
        </p:txBody>
      </p:sp>
      <p:sp>
        <p:nvSpPr>
          <p:cNvPr id="27" name="TextBox 26"/>
          <p:cNvSpPr txBox="1"/>
          <p:nvPr/>
        </p:nvSpPr>
        <p:spPr>
          <a:xfrm>
            <a:off x="8595360" y="2423160"/>
            <a:ext cx="3200400" cy="457200"/>
          </a:xfrm>
          <a:prstGeom prst="rect">
            <a:avLst/>
          </a:prstGeom>
          <a:noFill/>
        </p:spPr>
        <p:txBody>
          <a:bodyPr wrap="square" anchor="t"/>
          <a:lstStyle/>
          <a:p>
            <a:pPr algn="l">
              <a:spcBef>
                <a:spcPts val="0"/>
              </a:spcBef>
              <a:spcAft>
                <a:spcPts val="0"/>
              </a:spcAft>
              <a:lnSpc>
                <a:spcPct val="120000"/>
              </a:lnSpc>
            </a:pPr>
            <a:r>
              <a:rPr sz="1000" b="0">
                <a:solidFill>
                  <a:srgbClr val="555566"/>
                </a:solidFill>
                <a:latin typeface="Helvetica Neue"/>
              </a:rPr>
              <a:t>Clinical-grade voice AI.
Shut down Feb 2026.</a:t>
            </a:r>
          </a:p>
        </p:txBody>
      </p:sp>
      <p:sp>
        <p:nvSpPr>
          <p:cNvPr id="28" name="Oval 27"/>
          <p:cNvSpPr/>
          <p:nvPr/>
        </p:nvSpPr>
        <p:spPr>
          <a:xfrm>
            <a:off x="8412480" y="3108959"/>
            <a:ext cx="91440" cy="91440"/>
          </a:xfrm>
          <a:prstGeom prst="ellipse">
            <a:avLst/>
          </a:prstGeom>
          <a:solidFill>
            <a:srgbClr val="E8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95360" y="3063239"/>
            <a:ext cx="3200400" cy="228600"/>
          </a:xfrm>
          <a:prstGeom prst="rect">
            <a:avLst/>
          </a:prstGeom>
          <a:noFill/>
        </p:spPr>
        <p:txBody>
          <a:bodyPr wrap="square" anchor="t"/>
          <a:lstStyle/>
          <a:p>
            <a:pPr algn="l">
              <a:spcBef>
                <a:spcPts val="0"/>
              </a:spcBef>
              <a:spcAft>
                <a:spcPts val="0"/>
              </a:spcAft>
              <a:lnSpc>
                <a:spcPct val="120000"/>
              </a:lnSpc>
            </a:pPr>
            <a:r>
              <a:rPr sz="1200" b="1">
                <a:solidFill>
                  <a:srgbClr val="2D2D3A"/>
                </a:solidFill>
                <a:latin typeface="Helvetica Neue"/>
              </a:rPr>
              <a:t>Woebot</a:t>
            </a:r>
          </a:p>
        </p:txBody>
      </p:sp>
      <p:sp>
        <p:nvSpPr>
          <p:cNvPr id="30" name="TextBox 29"/>
          <p:cNvSpPr txBox="1"/>
          <p:nvPr/>
        </p:nvSpPr>
        <p:spPr>
          <a:xfrm>
            <a:off x="8595360" y="3291839"/>
            <a:ext cx="3200400" cy="457200"/>
          </a:xfrm>
          <a:prstGeom prst="rect">
            <a:avLst/>
          </a:prstGeom>
          <a:noFill/>
        </p:spPr>
        <p:txBody>
          <a:bodyPr wrap="square" anchor="t"/>
          <a:lstStyle/>
          <a:p>
            <a:pPr algn="l">
              <a:spcBef>
                <a:spcPts val="0"/>
              </a:spcBef>
              <a:spcAft>
                <a:spcPts val="0"/>
              </a:spcAft>
              <a:lnSpc>
                <a:spcPct val="120000"/>
              </a:lnSpc>
            </a:pPr>
            <a:r>
              <a:rPr sz="1000" b="0">
                <a:solidFill>
                  <a:srgbClr val="555566"/>
                </a:solidFill>
                <a:latin typeface="Helvetica Neue"/>
              </a:rPr>
              <a:t>AI chatbot therapy.
Shut down consumer app Jun 2025.</a:t>
            </a:r>
          </a:p>
        </p:txBody>
      </p:sp>
      <p:sp>
        <p:nvSpPr>
          <p:cNvPr id="31" name="Oval 30"/>
          <p:cNvSpPr/>
          <p:nvPr/>
        </p:nvSpPr>
        <p:spPr>
          <a:xfrm>
            <a:off x="8412480" y="3977640"/>
            <a:ext cx="91440" cy="91440"/>
          </a:xfrm>
          <a:prstGeom prst="ellipse">
            <a:avLst/>
          </a:prstGeom>
          <a:solidFill>
            <a:srgbClr val="888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0" y="3931920"/>
            <a:ext cx="3200400" cy="228600"/>
          </a:xfrm>
          <a:prstGeom prst="rect">
            <a:avLst/>
          </a:prstGeom>
          <a:noFill/>
        </p:spPr>
        <p:txBody>
          <a:bodyPr wrap="square" anchor="t"/>
          <a:lstStyle/>
          <a:p>
            <a:pPr algn="l">
              <a:spcBef>
                <a:spcPts val="0"/>
              </a:spcBef>
              <a:spcAft>
                <a:spcPts val="0"/>
              </a:spcAft>
              <a:lnSpc>
                <a:spcPct val="120000"/>
              </a:lnSpc>
            </a:pPr>
            <a:r>
              <a:rPr sz="1200" b="1">
                <a:solidFill>
                  <a:srgbClr val="2D2D3A"/>
                </a:solidFill>
                <a:latin typeface="Helvetica Neue"/>
              </a:rPr>
              <a:t>Sonde Health</a:t>
            </a:r>
          </a:p>
        </p:txBody>
      </p:sp>
      <p:sp>
        <p:nvSpPr>
          <p:cNvPr id="33" name="TextBox 32"/>
          <p:cNvSpPr txBox="1"/>
          <p:nvPr/>
        </p:nvSpPr>
        <p:spPr>
          <a:xfrm>
            <a:off x="8595360" y="4160520"/>
            <a:ext cx="3200400" cy="457200"/>
          </a:xfrm>
          <a:prstGeom prst="rect">
            <a:avLst/>
          </a:prstGeom>
          <a:noFill/>
        </p:spPr>
        <p:txBody>
          <a:bodyPr wrap="square" anchor="t"/>
          <a:lstStyle/>
          <a:p>
            <a:pPr algn="l">
              <a:spcBef>
                <a:spcPts val="0"/>
              </a:spcBef>
              <a:spcAft>
                <a:spcPts val="0"/>
              </a:spcAft>
              <a:lnSpc>
                <a:spcPct val="120000"/>
              </a:lnSpc>
            </a:pPr>
            <a:r>
              <a:rPr sz="1000" b="0">
                <a:solidFill>
                  <a:srgbClr val="555566"/>
                </a:solidFill>
                <a:latin typeface="Helvetica Neue"/>
              </a:rPr>
              <a:t>Voice biomarkers for enterprises.
No consumer product.</a:t>
            </a:r>
          </a:p>
        </p:txBody>
      </p:sp>
      <p:sp>
        <p:nvSpPr>
          <p:cNvPr id="34" name="Oval 33"/>
          <p:cNvSpPr/>
          <p:nvPr/>
        </p:nvSpPr>
        <p:spPr>
          <a:xfrm>
            <a:off x="8412480" y="4846320"/>
            <a:ext cx="91440" cy="91440"/>
          </a:xfrm>
          <a:prstGeom prst="ellipse">
            <a:avLst/>
          </a:prstGeom>
          <a:solidFill>
            <a:srgbClr val="888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95360" y="4800600"/>
            <a:ext cx="3200400" cy="228600"/>
          </a:xfrm>
          <a:prstGeom prst="rect">
            <a:avLst/>
          </a:prstGeom>
          <a:noFill/>
        </p:spPr>
        <p:txBody>
          <a:bodyPr wrap="square" anchor="t"/>
          <a:lstStyle/>
          <a:p>
            <a:pPr algn="l">
              <a:spcBef>
                <a:spcPts val="0"/>
              </a:spcBef>
              <a:spcAft>
                <a:spcPts val="0"/>
              </a:spcAft>
              <a:lnSpc>
                <a:spcPct val="120000"/>
              </a:lnSpc>
            </a:pPr>
            <a:r>
              <a:rPr sz="1200" b="1">
                <a:solidFill>
                  <a:srgbClr val="2D2D3A"/>
                </a:solidFill>
                <a:latin typeface="Helvetica Neue"/>
              </a:rPr>
              <a:t>Headspace / Calm</a:t>
            </a:r>
          </a:p>
        </p:txBody>
      </p:sp>
      <p:sp>
        <p:nvSpPr>
          <p:cNvPr id="36" name="TextBox 35"/>
          <p:cNvSpPr txBox="1"/>
          <p:nvPr/>
        </p:nvSpPr>
        <p:spPr>
          <a:xfrm>
            <a:off x="8595360" y="5029200"/>
            <a:ext cx="3200400" cy="457200"/>
          </a:xfrm>
          <a:prstGeom prst="rect">
            <a:avLst/>
          </a:prstGeom>
          <a:noFill/>
        </p:spPr>
        <p:txBody>
          <a:bodyPr wrap="square" anchor="t"/>
          <a:lstStyle/>
          <a:p>
            <a:pPr algn="l">
              <a:spcBef>
                <a:spcPts val="0"/>
              </a:spcBef>
              <a:spcAft>
                <a:spcPts val="0"/>
              </a:spcAft>
              <a:lnSpc>
                <a:spcPct val="120000"/>
              </a:lnSpc>
            </a:pPr>
            <a:r>
              <a:rPr sz="1000" b="0">
                <a:solidFill>
                  <a:srgbClr val="555566"/>
                </a:solidFill>
                <a:latin typeface="Helvetica Neue"/>
              </a:rPr>
              <a:t>Consumer meditation apps.
No clinical validation.</a:t>
            </a:r>
          </a:p>
        </p:txBody>
      </p:sp>
      <p:sp>
        <p:nvSpPr>
          <p:cNvPr id="37" name="Rounded Rectangle 36"/>
          <p:cNvSpPr/>
          <p:nvPr/>
        </p:nvSpPr>
        <p:spPr>
          <a:xfrm>
            <a:off x="8229600" y="5760720"/>
            <a:ext cx="3474720" cy="594360"/>
          </a:xfrm>
          <a:prstGeom prst="roundRect">
            <a:avLst>
              <a:gd name="adj" fmla="val 10000"/>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66760" y="5833872"/>
            <a:ext cx="3200400" cy="457200"/>
          </a:xfrm>
          <a:prstGeom prst="rect">
            <a:avLst/>
          </a:prstGeom>
          <a:noFill/>
        </p:spPr>
        <p:txBody>
          <a:bodyPr wrap="square" anchor="t"/>
          <a:lstStyle/>
          <a:p>
            <a:pPr algn="ctr">
              <a:spcBef>
                <a:spcPts val="0"/>
              </a:spcBef>
              <a:spcAft>
                <a:spcPts val="0"/>
              </a:spcAft>
              <a:lnSpc>
                <a:spcPct val="120000"/>
              </a:lnSpc>
            </a:pPr>
            <a:r>
              <a:rPr sz="1100" b="1">
                <a:solidFill>
                  <a:srgbClr val="FFFFFF"/>
                </a:solidFill>
                <a:latin typeface="Helvetica Neue"/>
              </a:rPr>
              <a:t>Only player with clinical validation AND consumer distribution</a:t>
            </a:r>
          </a:p>
        </p:txBody>
      </p:sp>
      <p:sp>
        <p:nvSpPr>
          <p:cNvPr id="39" name="TextBox 38"/>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13 / 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DEFENSIBILITY</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Five Moats That Get Deeper Over Time</a:t>
            </a:r>
          </a:p>
        </p:txBody>
      </p:sp>
      <p:sp>
        <p:nvSpPr>
          <p:cNvPr id="6" name="Oval 5"/>
          <p:cNvSpPr/>
          <p:nvPr/>
        </p:nvSpPr>
        <p:spPr>
          <a:xfrm>
            <a:off x="731520" y="1965960"/>
            <a:ext cx="365760" cy="36576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84248"/>
            <a:ext cx="365760" cy="365760"/>
          </a:xfrm>
          <a:prstGeom prst="rect">
            <a:avLst/>
          </a:prstGeom>
          <a:noFill/>
        </p:spPr>
        <p:txBody>
          <a:bodyPr wrap="square" anchor="t"/>
          <a:lstStyle/>
          <a:p>
            <a:pPr algn="ctr">
              <a:spcBef>
                <a:spcPts val="0"/>
              </a:spcBef>
              <a:spcAft>
                <a:spcPts val="0"/>
              </a:spcAft>
              <a:lnSpc>
                <a:spcPct val="120000"/>
              </a:lnSpc>
            </a:pPr>
            <a:r>
              <a:rPr sz="1600" b="1">
                <a:solidFill>
                  <a:srgbClr val="FFFFFF"/>
                </a:solidFill>
                <a:latin typeface="Georgia"/>
              </a:rPr>
              <a:t>1</a:t>
            </a:r>
          </a:p>
        </p:txBody>
      </p:sp>
      <p:sp>
        <p:nvSpPr>
          <p:cNvPr id="8" name="TextBox 7"/>
          <p:cNvSpPr txBox="1"/>
          <p:nvPr/>
        </p:nvSpPr>
        <p:spPr>
          <a:xfrm>
            <a:off x="1280160" y="1920240"/>
            <a:ext cx="2743200" cy="32004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Clinical Validation</a:t>
            </a:r>
          </a:p>
        </p:txBody>
      </p:sp>
      <p:sp>
        <p:nvSpPr>
          <p:cNvPr id="9" name="TextBox 8"/>
          <p:cNvSpPr txBox="1"/>
          <p:nvPr/>
        </p:nvSpPr>
        <p:spPr>
          <a:xfrm>
            <a:off x="1280160" y="2240280"/>
            <a:ext cx="9601200" cy="502920"/>
          </a:xfrm>
          <a:prstGeom prst="rect">
            <a:avLst/>
          </a:prstGeom>
          <a:noFill/>
        </p:spPr>
        <p:txBody>
          <a:bodyPr wrap="square" anchor="t"/>
          <a:lstStyle/>
          <a:p>
            <a:pPr algn="l">
              <a:spcBef>
                <a:spcPts val="0"/>
              </a:spcBef>
              <a:spcAft>
                <a:spcPts val="0"/>
              </a:spcAft>
              <a:lnSpc>
                <a:spcPct val="130000"/>
              </a:lnSpc>
            </a:pPr>
            <a:r>
              <a:rPr sz="1200" b="0">
                <a:solidFill>
                  <a:srgbClr val="555566"/>
                </a:solidFill>
                <a:latin typeface="Helvetica Neue"/>
              </a:rPr>
              <a:t>14,898-participant peer-reviewed study. FDA Breakthrough Device Designation. No competitor has this depth of validation.</a:t>
            </a:r>
          </a:p>
        </p:txBody>
      </p:sp>
      <p:sp>
        <p:nvSpPr>
          <p:cNvPr id="10" name="Oval 9"/>
          <p:cNvSpPr/>
          <p:nvPr/>
        </p:nvSpPr>
        <p:spPr>
          <a:xfrm>
            <a:off x="731520" y="2880360"/>
            <a:ext cx="365760" cy="36576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898648"/>
            <a:ext cx="365760" cy="365760"/>
          </a:xfrm>
          <a:prstGeom prst="rect">
            <a:avLst/>
          </a:prstGeom>
          <a:noFill/>
        </p:spPr>
        <p:txBody>
          <a:bodyPr wrap="square" anchor="t"/>
          <a:lstStyle/>
          <a:p>
            <a:pPr algn="ctr">
              <a:spcBef>
                <a:spcPts val="0"/>
              </a:spcBef>
              <a:spcAft>
                <a:spcPts val="0"/>
              </a:spcAft>
              <a:lnSpc>
                <a:spcPct val="120000"/>
              </a:lnSpc>
            </a:pPr>
            <a:r>
              <a:rPr sz="1600" b="1">
                <a:solidFill>
                  <a:srgbClr val="FFFFFF"/>
                </a:solidFill>
                <a:latin typeface="Georgia"/>
              </a:rPr>
              <a:t>2</a:t>
            </a:r>
          </a:p>
        </p:txBody>
      </p:sp>
      <p:sp>
        <p:nvSpPr>
          <p:cNvPr id="12" name="TextBox 11"/>
          <p:cNvSpPr txBox="1"/>
          <p:nvPr/>
        </p:nvSpPr>
        <p:spPr>
          <a:xfrm>
            <a:off x="1280160" y="2834640"/>
            <a:ext cx="2743200" cy="32004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Proprietary Model</a:t>
            </a:r>
          </a:p>
        </p:txBody>
      </p:sp>
      <p:sp>
        <p:nvSpPr>
          <p:cNvPr id="13" name="TextBox 12"/>
          <p:cNvSpPr txBox="1"/>
          <p:nvPr/>
        </p:nvSpPr>
        <p:spPr>
          <a:xfrm>
            <a:off x="1280160" y="3154680"/>
            <a:ext cx="9601200" cy="502920"/>
          </a:xfrm>
          <a:prstGeom prst="rect">
            <a:avLst/>
          </a:prstGeom>
          <a:noFill/>
        </p:spPr>
        <p:txBody>
          <a:bodyPr wrap="square" anchor="t"/>
          <a:lstStyle/>
          <a:p>
            <a:pPr algn="l">
              <a:spcBef>
                <a:spcPts val="0"/>
              </a:spcBef>
              <a:spcAft>
                <a:spcPts val="0"/>
              </a:spcAft>
              <a:lnSpc>
                <a:spcPct val="130000"/>
              </a:lnSpc>
            </a:pPr>
            <a:r>
              <a:rPr sz="1200" b="0">
                <a:solidFill>
                  <a:srgbClr val="555566"/>
                </a:solidFill>
                <a:latin typeface="Helvetica Neue"/>
              </a:rPr>
              <a:t>244M-parameter DAM trained on 863 hours of clinical voice data. $30M+ of R&amp;D invested. Can't be replicated cheaply.</a:t>
            </a:r>
          </a:p>
        </p:txBody>
      </p:sp>
      <p:sp>
        <p:nvSpPr>
          <p:cNvPr id="14" name="Oval 13"/>
          <p:cNvSpPr/>
          <p:nvPr/>
        </p:nvSpPr>
        <p:spPr>
          <a:xfrm>
            <a:off x="731520" y="3794759"/>
            <a:ext cx="365760" cy="36576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813047"/>
            <a:ext cx="365760" cy="365760"/>
          </a:xfrm>
          <a:prstGeom prst="rect">
            <a:avLst/>
          </a:prstGeom>
          <a:noFill/>
        </p:spPr>
        <p:txBody>
          <a:bodyPr wrap="square" anchor="t"/>
          <a:lstStyle/>
          <a:p>
            <a:pPr algn="ctr">
              <a:spcBef>
                <a:spcPts val="0"/>
              </a:spcBef>
              <a:spcAft>
                <a:spcPts val="0"/>
              </a:spcAft>
              <a:lnSpc>
                <a:spcPct val="120000"/>
              </a:lnSpc>
            </a:pPr>
            <a:r>
              <a:rPr sz="1600" b="1">
                <a:solidFill>
                  <a:srgbClr val="FFFFFF"/>
                </a:solidFill>
                <a:latin typeface="Georgia"/>
              </a:rPr>
              <a:t>3</a:t>
            </a:r>
          </a:p>
        </p:txBody>
      </p:sp>
      <p:sp>
        <p:nvSpPr>
          <p:cNvPr id="16" name="TextBox 15"/>
          <p:cNvSpPr txBox="1"/>
          <p:nvPr/>
        </p:nvSpPr>
        <p:spPr>
          <a:xfrm>
            <a:off x="1280160" y="3749039"/>
            <a:ext cx="2743200" cy="32004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On-Device Processing</a:t>
            </a:r>
          </a:p>
        </p:txBody>
      </p:sp>
      <p:sp>
        <p:nvSpPr>
          <p:cNvPr id="17" name="TextBox 16"/>
          <p:cNvSpPr txBox="1"/>
          <p:nvPr/>
        </p:nvSpPr>
        <p:spPr>
          <a:xfrm>
            <a:off x="1280160" y="4069079"/>
            <a:ext cx="9601200" cy="502920"/>
          </a:xfrm>
          <a:prstGeom prst="rect">
            <a:avLst/>
          </a:prstGeom>
          <a:noFill/>
        </p:spPr>
        <p:txBody>
          <a:bodyPr wrap="square" anchor="t"/>
          <a:lstStyle/>
          <a:p>
            <a:pPr algn="l">
              <a:spcBef>
                <a:spcPts val="0"/>
              </a:spcBef>
              <a:spcAft>
                <a:spcPts val="0"/>
              </a:spcAft>
              <a:lnSpc>
                <a:spcPct val="130000"/>
              </a:lnSpc>
            </a:pPr>
            <a:r>
              <a:rPr sz="1200" b="0">
                <a:solidFill>
                  <a:srgbClr val="555566"/>
                </a:solidFill>
                <a:latin typeface="Helvetica Neue"/>
              </a:rPr>
              <a:t>100% local inference. No cloud dependency. Strongest privacy story in the category. Regulatory advantage for health data.</a:t>
            </a:r>
          </a:p>
        </p:txBody>
      </p:sp>
      <p:sp>
        <p:nvSpPr>
          <p:cNvPr id="18" name="Oval 17"/>
          <p:cNvSpPr/>
          <p:nvPr/>
        </p:nvSpPr>
        <p:spPr>
          <a:xfrm>
            <a:off x="731520" y="4709160"/>
            <a:ext cx="365760" cy="36576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727448"/>
            <a:ext cx="365760" cy="365760"/>
          </a:xfrm>
          <a:prstGeom prst="rect">
            <a:avLst/>
          </a:prstGeom>
          <a:noFill/>
        </p:spPr>
        <p:txBody>
          <a:bodyPr wrap="square" anchor="t"/>
          <a:lstStyle/>
          <a:p>
            <a:pPr algn="ctr">
              <a:spcBef>
                <a:spcPts val="0"/>
              </a:spcBef>
              <a:spcAft>
                <a:spcPts val="0"/>
              </a:spcAft>
              <a:lnSpc>
                <a:spcPct val="120000"/>
              </a:lnSpc>
            </a:pPr>
            <a:r>
              <a:rPr sz="1600" b="1">
                <a:solidFill>
                  <a:srgbClr val="FFFFFF"/>
                </a:solidFill>
                <a:latin typeface="Georgia"/>
              </a:rPr>
              <a:t>4</a:t>
            </a:r>
          </a:p>
        </p:txBody>
      </p:sp>
      <p:sp>
        <p:nvSpPr>
          <p:cNvPr id="20" name="TextBox 19"/>
          <p:cNvSpPr txBox="1"/>
          <p:nvPr/>
        </p:nvSpPr>
        <p:spPr>
          <a:xfrm>
            <a:off x="1280160" y="4663440"/>
            <a:ext cx="2743200" cy="32004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Longitudinal Data</a:t>
            </a:r>
          </a:p>
        </p:txBody>
      </p:sp>
      <p:sp>
        <p:nvSpPr>
          <p:cNvPr id="21" name="TextBox 20"/>
          <p:cNvSpPr txBox="1"/>
          <p:nvPr/>
        </p:nvSpPr>
        <p:spPr>
          <a:xfrm>
            <a:off x="1280160" y="4983480"/>
            <a:ext cx="9601200" cy="502920"/>
          </a:xfrm>
          <a:prstGeom prst="rect">
            <a:avLst/>
          </a:prstGeom>
          <a:noFill/>
        </p:spPr>
        <p:txBody>
          <a:bodyPr wrap="square" anchor="t"/>
          <a:lstStyle/>
          <a:p>
            <a:pPr algn="l">
              <a:spcBef>
                <a:spcPts val="0"/>
              </a:spcBef>
              <a:spcAft>
                <a:spcPts val="0"/>
              </a:spcAft>
              <a:lnSpc>
                <a:spcPct val="130000"/>
              </a:lnSpc>
            </a:pPr>
            <a:r>
              <a:rPr sz="1200" b="0">
                <a:solidFill>
                  <a:srgbClr val="555566"/>
                </a:solidFill>
                <a:latin typeface="Helvetica Neue"/>
              </a:rPr>
              <a:t>Every user generates a unique mental health time series. More data = better personalization = higher retention = more data.</a:t>
            </a:r>
          </a:p>
        </p:txBody>
      </p:sp>
      <p:sp>
        <p:nvSpPr>
          <p:cNvPr id="22" name="Oval 21"/>
          <p:cNvSpPr/>
          <p:nvPr/>
        </p:nvSpPr>
        <p:spPr>
          <a:xfrm>
            <a:off x="731520" y="5623560"/>
            <a:ext cx="365760" cy="365760"/>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641848"/>
            <a:ext cx="365760" cy="365760"/>
          </a:xfrm>
          <a:prstGeom prst="rect">
            <a:avLst/>
          </a:prstGeom>
          <a:noFill/>
        </p:spPr>
        <p:txBody>
          <a:bodyPr wrap="square" anchor="t"/>
          <a:lstStyle/>
          <a:p>
            <a:pPr algn="ctr">
              <a:spcBef>
                <a:spcPts val="0"/>
              </a:spcBef>
              <a:spcAft>
                <a:spcPts val="0"/>
              </a:spcAft>
              <a:lnSpc>
                <a:spcPct val="120000"/>
              </a:lnSpc>
            </a:pPr>
            <a:r>
              <a:rPr sz="1600" b="1">
                <a:solidFill>
                  <a:srgbClr val="FFFFFF"/>
                </a:solidFill>
                <a:latin typeface="Georgia"/>
              </a:rPr>
              <a:t>5</a:t>
            </a:r>
          </a:p>
        </p:txBody>
      </p:sp>
      <p:sp>
        <p:nvSpPr>
          <p:cNvPr id="24" name="TextBox 23"/>
          <p:cNvSpPr txBox="1"/>
          <p:nvPr/>
        </p:nvSpPr>
        <p:spPr>
          <a:xfrm>
            <a:off x="1280160" y="5577840"/>
            <a:ext cx="2743200" cy="32004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Consumer Distribution</a:t>
            </a:r>
          </a:p>
        </p:txBody>
      </p:sp>
      <p:sp>
        <p:nvSpPr>
          <p:cNvPr id="25" name="TextBox 24"/>
          <p:cNvSpPr txBox="1"/>
          <p:nvPr/>
        </p:nvSpPr>
        <p:spPr>
          <a:xfrm>
            <a:off x="1280160" y="5897880"/>
            <a:ext cx="9601200" cy="502920"/>
          </a:xfrm>
          <a:prstGeom prst="rect">
            <a:avLst/>
          </a:prstGeom>
          <a:noFill/>
        </p:spPr>
        <p:txBody>
          <a:bodyPr wrap="square" anchor="t"/>
          <a:lstStyle/>
          <a:p>
            <a:pPr algn="l">
              <a:spcBef>
                <a:spcPts val="0"/>
              </a:spcBef>
              <a:spcAft>
                <a:spcPts val="0"/>
              </a:spcAft>
              <a:lnSpc>
                <a:spcPct val="130000"/>
              </a:lnSpc>
            </a:pPr>
            <a:r>
              <a:rPr sz="1200" b="0">
                <a:solidFill>
                  <a:srgbClr val="555566"/>
                </a:solidFill>
                <a:latin typeface="Helvetica Neue"/>
              </a:rPr>
              <a:t>Kintsugi and Woebot are dead. Sonde is B2B-only. Attune owns the consumer relationship. Direct-to-consumer = brand loyalty + higher LTV.</a:t>
            </a:r>
          </a:p>
        </p:txBody>
      </p:sp>
      <p:sp>
        <p:nvSpPr>
          <p:cNvPr id="26" name="TextBox 25"/>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14 /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COMPARABLES</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Where Attune Fits in the Landscape</a:t>
            </a:r>
          </a:p>
        </p:txBody>
      </p:sp>
      <p:graphicFrame>
        <p:nvGraphicFramePr>
          <p:cNvPr id="6" name="Chart 5"/>
          <p:cNvGraphicFramePr>
            <a:graphicFrameLocks noGrp="1"/>
          </p:cNvGraphicFramePr>
          <p:nvPr/>
        </p:nvGraphicFramePr>
        <p:xfrm>
          <a:off x="731520" y="1828800"/>
          <a:ext cx="6858000" cy="3657600"/>
        </p:xfrm>
        <a:graphic>
          <a:graphicData uri="http://schemas.openxmlformats.org/drawingml/2006/chart">
            <c:chart xmlns:c="http://schemas.openxmlformats.org/drawingml/2006/chart" r:id="rId2"/>
          </a:graphicData>
        </a:graphic>
      </p:graphicFrame>
      <p:sp>
        <p:nvSpPr>
          <p:cNvPr id="7" name="TextBox 6"/>
          <p:cNvSpPr txBox="1"/>
          <p:nvPr/>
        </p:nvSpPr>
        <p:spPr>
          <a:xfrm>
            <a:off x="8046720" y="2011680"/>
            <a:ext cx="3657600" cy="3657600"/>
          </a:xfrm>
          <a:prstGeom prst="rect">
            <a:avLst/>
          </a:prstGeom>
          <a:noFill/>
        </p:spPr>
        <p:txBody>
          <a:bodyPr wrap="square"/>
          <a:lstStyle/>
          <a:p>
            <a:pPr algn="l">
              <a:spcBef>
                <a:spcPts val="0"/>
              </a:spcBef>
              <a:spcAft>
                <a:spcPts val="100"/>
              </a:spcAft>
              <a:lnSpc>
                <a:spcPct val="130000"/>
              </a:lnSpc>
            </a:pPr>
            <a:r>
              <a:rPr sz="1400" b="1">
                <a:solidFill>
                  <a:srgbClr val="2D2D3A"/>
                </a:solidFill>
                <a:latin typeface="Georgia"/>
              </a:rPr>
              <a:t>Oura ($11B)</a:t>
            </a:r>
          </a:p>
          <a:p>
            <a:pPr algn="l">
              <a:spcBef>
                <a:spcPts val="0"/>
              </a:spcBef>
              <a:spcAft>
                <a:spcPts val="1200"/>
              </a:spcAft>
              <a:lnSpc>
                <a:spcPct val="130000"/>
              </a:lnSpc>
            </a:pPr>
            <a:r>
              <a:rPr sz="1100" b="0">
                <a:solidFill>
                  <a:srgbClr val="555566"/>
                </a:solidFill>
                <a:latin typeface="Helvetica Neue"/>
              </a:rPr>
              <a:t>Consumer wearable ring. Sleep + recovery. 5.5M+ users. Premium subscription model.</a:t>
            </a:r>
          </a:p>
          <a:p>
            <a:pPr algn="l">
              <a:spcBef>
                <a:spcPts val="0"/>
              </a:spcBef>
              <a:spcAft>
                <a:spcPts val="100"/>
              </a:spcAft>
              <a:lnSpc>
                <a:spcPct val="130000"/>
              </a:lnSpc>
            </a:pPr>
            <a:r>
              <a:rPr sz="1400" b="1">
                <a:solidFill>
                  <a:srgbClr val="2D2D3A"/>
                </a:solidFill>
                <a:latin typeface="Georgia"/>
              </a:rPr>
              <a:t>Whoop ($3.6B)</a:t>
            </a:r>
          </a:p>
          <a:p>
            <a:pPr algn="l">
              <a:spcBef>
                <a:spcPts val="0"/>
              </a:spcBef>
              <a:spcAft>
                <a:spcPts val="1200"/>
              </a:spcAft>
              <a:lnSpc>
                <a:spcPct val="130000"/>
              </a:lnSpc>
            </a:pPr>
            <a:r>
              <a:rPr sz="1100" b="0">
                <a:solidFill>
                  <a:srgbClr val="555566"/>
                </a:solidFill>
                <a:latin typeface="Helvetica Neue"/>
              </a:rPr>
              <a:t>Performance wearable. HRV + strain + recovery. Strong QS brand loyalty.</a:t>
            </a:r>
          </a:p>
          <a:p>
            <a:pPr algn="l">
              <a:spcBef>
                <a:spcPts val="0"/>
              </a:spcBef>
              <a:spcAft>
                <a:spcPts val="100"/>
              </a:spcAft>
              <a:lnSpc>
                <a:spcPct val="130000"/>
              </a:lnSpc>
            </a:pPr>
            <a:r>
              <a:rPr sz="1400" b="1">
                <a:solidFill>
                  <a:srgbClr val="2D2D3A"/>
                </a:solidFill>
                <a:latin typeface="Georgia"/>
              </a:rPr>
              <a:t>Kintsugi ($72M before shutdown)</a:t>
            </a:r>
          </a:p>
          <a:p>
            <a:pPr algn="l">
              <a:spcBef>
                <a:spcPts val="0"/>
              </a:spcBef>
              <a:spcAft>
                <a:spcPts val="1200"/>
              </a:spcAft>
              <a:lnSpc>
                <a:spcPct val="130000"/>
              </a:lnSpc>
            </a:pPr>
            <a:r>
              <a:rPr sz="1100" b="0">
                <a:solidFill>
                  <a:srgbClr val="555566"/>
                </a:solidFill>
                <a:latin typeface="Helvetica Neue"/>
              </a:rPr>
              <a:t>Voice biomarker AI. B2B only. Same underlying tech — killed by FDA regulatory economics, not bad science.</a:t>
            </a:r>
          </a:p>
        </p:txBody>
      </p:sp>
      <p:sp>
        <p:nvSpPr>
          <p:cNvPr id="8" name="Rectangle 7"/>
          <p:cNvSpPr/>
          <p:nvPr/>
        </p:nvSpPr>
        <p:spPr>
          <a:xfrm>
            <a:off x="731520" y="5760720"/>
            <a:ext cx="10698480" cy="12700"/>
          </a:xfrm>
          <a:prstGeom prst="rect">
            <a:avLst/>
          </a:prstGeom>
          <a:solidFill>
            <a:srgbClr val="E8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897880"/>
            <a:ext cx="10515600" cy="45720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Attune = clinical rigor of Kintsugi (RIP) + consumer accessibility of Oura</a:t>
            </a:r>
          </a:p>
        </p:txBody>
      </p:sp>
      <p:sp>
        <p:nvSpPr>
          <p:cNvPr id="10" name="TextBox 9"/>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15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TRACTION</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Milestones Completed &amp; Next Steps</a:t>
            </a:r>
          </a:p>
        </p:txBody>
      </p:sp>
      <p:sp>
        <p:nvSpPr>
          <p:cNvPr id="6" name="TextBox 5"/>
          <p:cNvSpPr txBox="1"/>
          <p:nvPr/>
        </p:nvSpPr>
        <p:spPr>
          <a:xfrm>
            <a:off x="731520" y="1920240"/>
            <a:ext cx="4846320" cy="365760"/>
          </a:xfrm>
          <a:prstGeom prst="rect">
            <a:avLst/>
          </a:prstGeom>
          <a:noFill/>
        </p:spPr>
        <p:txBody>
          <a:bodyPr wrap="square" anchor="t"/>
          <a:lstStyle/>
          <a:p>
            <a:pPr algn="l">
              <a:spcBef>
                <a:spcPts val="0"/>
              </a:spcBef>
              <a:spcAft>
                <a:spcPts val="0"/>
              </a:spcAft>
              <a:lnSpc>
                <a:spcPct val="120000"/>
              </a:lnSpc>
            </a:pPr>
            <a:r>
              <a:rPr sz="2000" b="1">
                <a:solidFill>
                  <a:srgbClr val="4EC9B0"/>
                </a:solidFill>
                <a:latin typeface="Georgia"/>
              </a:rPr>
              <a:t>Completed</a:t>
            </a:r>
          </a:p>
        </p:txBody>
      </p:sp>
      <p:sp>
        <p:nvSpPr>
          <p:cNvPr id="7" name="TextBox 6"/>
          <p:cNvSpPr txBox="1"/>
          <p:nvPr/>
        </p:nvSpPr>
        <p:spPr>
          <a:xfrm>
            <a:off x="731520" y="2377440"/>
            <a:ext cx="274320" cy="274320"/>
          </a:xfrm>
          <a:prstGeom prst="rect">
            <a:avLst/>
          </a:prstGeom>
          <a:noFill/>
        </p:spPr>
        <p:txBody>
          <a:bodyPr wrap="square" anchor="t"/>
          <a:lstStyle/>
          <a:p>
            <a:pPr algn="l">
              <a:spcBef>
                <a:spcPts val="0"/>
              </a:spcBef>
              <a:spcAft>
                <a:spcPts val="0"/>
              </a:spcAft>
              <a:lnSpc>
                <a:spcPct val="120000"/>
              </a:lnSpc>
            </a:pPr>
            <a:r>
              <a:rPr sz="1400" b="1">
                <a:solidFill>
                  <a:srgbClr val="4EC9B0"/>
                </a:solidFill>
                <a:latin typeface="Helvetica Neue"/>
              </a:rPr>
              <a:t>✓</a:t>
            </a:r>
          </a:p>
        </p:txBody>
      </p:sp>
      <p:sp>
        <p:nvSpPr>
          <p:cNvPr id="8" name="TextBox 7"/>
          <p:cNvSpPr txBox="1"/>
          <p:nvPr/>
        </p:nvSpPr>
        <p:spPr>
          <a:xfrm>
            <a:off x="1051560" y="2377440"/>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Clinical-grade voice biomarker model integrated</a:t>
            </a:r>
          </a:p>
        </p:txBody>
      </p:sp>
      <p:sp>
        <p:nvSpPr>
          <p:cNvPr id="9" name="TextBox 8"/>
          <p:cNvSpPr txBox="1"/>
          <p:nvPr/>
        </p:nvSpPr>
        <p:spPr>
          <a:xfrm>
            <a:off x="731520" y="2816352"/>
            <a:ext cx="274320" cy="274320"/>
          </a:xfrm>
          <a:prstGeom prst="rect">
            <a:avLst/>
          </a:prstGeom>
          <a:noFill/>
        </p:spPr>
        <p:txBody>
          <a:bodyPr wrap="square" anchor="t"/>
          <a:lstStyle/>
          <a:p>
            <a:pPr algn="l">
              <a:spcBef>
                <a:spcPts val="0"/>
              </a:spcBef>
              <a:spcAft>
                <a:spcPts val="0"/>
              </a:spcAft>
              <a:lnSpc>
                <a:spcPct val="120000"/>
              </a:lnSpc>
            </a:pPr>
            <a:r>
              <a:rPr sz="1400" b="1">
                <a:solidFill>
                  <a:srgbClr val="4EC9B0"/>
                </a:solidFill>
                <a:latin typeface="Helvetica Neue"/>
              </a:rPr>
              <a:t>✓</a:t>
            </a:r>
          </a:p>
        </p:txBody>
      </p:sp>
      <p:sp>
        <p:nvSpPr>
          <p:cNvPr id="10" name="TextBox 9"/>
          <p:cNvSpPr txBox="1"/>
          <p:nvPr/>
        </p:nvSpPr>
        <p:spPr>
          <a:xfrm>
            <a:off x="1051560" y="2816352"/>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On-device inference pipeline (zero cloud dependency)</a:t>
            </a:r>
          </a:p>
        </p:txBody>
      </p:sp>
      <p:sp>
        <p:nvSpPr>
          <p:cNvPr id="11" name="TextBox 10"/>
          <p:cNvSpPr txBox="1"/>
          <p:nvPr/>
        </p:nvSpPr>
        <p:spPr>
          <a:xfrm>
            <a:off x="731520" y="3255264"/>
            <a:ext cx="274320" cy="274320"/>
          </a:xfrm>
          <a:prstGeom prst="rect">
            <a:avLst/>
          </a:prstGeom>
          <a:noFill/>
        </p:spPr>
        <p:txBody>
          <a:bodyPr wrap="square" anchor="t"/>
          <a:lstStyle/>
          <a:p>
            <a:pPr algn="l">
              <a:spcBef>
                <a:spcPts val="0"/>
              </a:spcBef>
              <a:spcAft>
                <a:spcPts val="0"/>
              </a:spcAft>
              <a:lnSpc>
                <a:spcPct val="120000"/>
              </a:lnSpc>
            </a:pPr>
            <a:r>
              <a:rPr sz="1400" b="1">
                <a:solidFill>
                  <a:srgbClr val="4EC9B0"/>
                </a:solidFill>
                <a:latin typeface="Helvetica Neue"/>
              </a:rPr>
              <a:t>✓</a:t>
            </a:r>
          </a:p>
        </p:txBody>
      </p:sp>
      <p:sp>
        <p:nvSpPr>
          <p:cNvPr id="12" name="TextBox 11"/>
          <p:cNvSpPr txBox="1"/>
          <p:nvPr/>
        </p:nvSpPr>
        <p:spPr>
          <a:xfrm>
            <a:off x="1051560" y="3255264"/>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macOS desktop app — fully functional</a:t>
            </a:r>
          </a:p>
        </p:txBody>
      </p:sp>
      <p:sp>
        <p:nvSpPr>
          <p:cNvPr id="13" name="TextBox 12"/>
          <p:cNvSpPr txBox="1"/>
          <p:nvPr/>
        </p:nvSpPr>
        <p:spPr>
          <a:xfrm>
            <a:off x="731520" y="3694176"/>
            <a:ext cx="274320" cy="274320"/>
          </a:xfrm>
          <a:prstGeom prst="rect">
            <a:avLst/>
          </a:prstGeom>
          <a:noFill/>
        </p:spPr>
        <p:txBody>
          <a:bodyPr wrap="square" anchor="t"/>
          <a:lstStyle/>
          <a:p>
            <a:pPr algn="l">
              <a:spcBef>
                <a:spcPts val="0"/>
              </a:spcBef>
              <a:spcAft>
                <a:spcPts val="0"/>
              </a:spcAft>
              <a:lnSpc>
                <a:spcPct val="120000"/>
              </a:lnSpc>
            </a:pPr>
            <a:r>
              <a:rPr sz="1400" b="1">
                <a:solidFill>
                  <a:srgbClr val="4EC9B0"/>
                </a:solidFill>
                <a:latin typeface="Helvetica Neue"/>
              </a:rPr>
              <a:t>✓</a:t>
            </a:r>
          </a:p>
        </p:txBody>
      </p:sp>
      <p:sp>
        <p:nvSpPr>
          <p:cNvPr id="14" name="TextBox 13"/>
          <p:cNvSpPr txBox="1"/>
          <p:nvPr/>
        </p:nvSpPr>
        <p:spPr>
          <a:xfrm>
            <a:off x="1051560" y="3694176"/>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Wellness scoring with 6 clinical dimensions</a:t>
            </a:r>
          </a:p>
        </p:txBody>
      </p:sp>
      <p:sp>
        <p:nvSpPr>
          <p:cNvPr id="15" name="TextBox 14"/>
          <p:cNvSpPr txBox="1"/>
          <p:nvPr/>
        </p:nvSpPr>
        <p:spPr>
          <a:xfrm>
            <a:off x="731520" y="4133087"/>
            <a:ext cx="274320" cy="274320"/>
          </a:xfrm>
          <a:prstGeom prst="rect">
            <a:avLst/>
          </a:prstGeom>
          <a:noFill/>
        </p:spPr>
        <p:txBody>
          <a:bodyPr wrap="square" anchor="t"/>
          <a:lstStyle/>
          <a:p>
            <a:pPr algn="l">
              <a:spcBef>
                <a:spcPts val="0"/>
              </a:spcBef>
              <a:spcAft>
                <a:spcPts val="0"/>
              </a:spcAft>
              <a:lnSpc>
                <a:spcPct val="120000"/>
              </a:lnSpc>
            </a:pPr>
            <a:r>
              <a:rPr sz="1400" b="1">
                <a:solidFill>
                  <a:srgbClr val="4EC9B0"/>
                </a:solidFill>
                <a:latin typeface="Helvetica Neue"/>
              </a:rPr>
              <a:t>✓</a:t>
            </a:r>
          </a:p>
        </p:txBody>
      </p:sp>
      <p:sp>
        <p:nvSpPr>
          <p:cNvPr id="16" name="TextBox 15"/>
          <p:cNvSpPr txBox="1"/>
          <p:nvPr/>
        </p:nvSpPr>
        <p:spPr>
          <a:xfrm>
            <a:off x="1051560" y="4133087"/>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Speaker verification &amp; voice activity detection</a:t>
            </a:r>
          </a:p>
        </p:txBody>
      </p:sp>
      <p:sp>
        <p:nvSpPr>
          <p:cNvPr id="17" name="TextBox 16"/>
          <p:cNvSpPr txBox="1"/>
          <p:nvPr/>
        </p:nvSpPr>
        <p:spPr>
          <a:xfrm>
            <a:off x="731520" y="4572000"/>
            <a:ext cx="274320" cy="274320"/>
          </a:xfrm>
          <a:prstGeom prst="rect">
            <a:avLst/>
          </a:prstGeom>
          <a:noFill/>
        </p:spPr>
        <p:txBody>
          <a:bodyPr wrap="square" anchor="t"/>
          <a:lstStyle/>
          <a:p>
            <a:pPr algn="l">
              <a:spcBef>
                <a:spcPts val="0"/>
              </a:spcBef>
              <a:spcAft>
                <a:spcPts val="0"/>
              </a:spcAft>
              <a:lnSpc>
                <a:spcPct val="120000"/>
              </a:lnSpc>
            </a:pPr>
            <a:r>
              <a:rPr sz="1400" b="1">
                <a:solidFill>
                  <a:srgbClr val="4EC9B0"/>
                </a:solidFill>
                <a:latin typeface="Helvetica Neue"/>
              </a:rPr>
              <a:t>✓</a:t>
            </a:r>
          </a:p>
        </p:txBody>
      </p:sp>
      <p:sp>
        <p:nvSpPr>
          <p:cNvPr id="18" name="TextBox 17"/>
          <p:cNvSpPr txBox="1"/>
          <p:nvPr/>
        </p:nvSpPr>
        <p:spPr>
          <a:xfrm>
            <a:off x="1051560" y="4572000"/>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Longitudinal trend tracking dashboard</a:t>
            </a:r>
          </a:p>
        </p:txBody>
      </p:sp>
      <p:sp>
        <p:nvSpPr>
          <p:cNvPr id="19" name="TextBox 18"/>
          <p:cNvSpPr txBox="1"/>
          <p:nvPr/>
        </p:nvSpPr>
        <p:spPr>
          <a:xfrm>
            <a:off x="731520" y="5010912"/>
            <a:ext cx="274320" cy="274320"/>
          </a:xfrm>
          <a:prstGeom prst="rect">
            <a:avLst/>
          </a:prstGeom>
          <a:noFill/>
        </p:spPr>
        <p:txBody>
          <a:bodyPr wrap="square" anchor="t"/>
          <a:lstStyle/>
          <a:p>
            <a:pPr algn="l">
              <a:spcBef>
                <a:spcPts val="0"/>
              </a:spcBef>
              <a:spcAft>
                <a:spcPts val="0"/>
              </a:spcAft>
              <a:lnSpc>
                <a:spcPct val="120000"/>
              </a:lnSpc>
            </a:pPr>
            <a:r>
              <a:rPr sz="1400" b="1">
                <a:solidFill>
                  <a:srgbClr val="4EC9B0"/>
                </a:solidFill>
                <a:latin typeface="Helvetica Neue"/>
              </a:rPr>
              <a:t>✓</a:t>
            </a:r>
          </a:p>
        </p:txBody>
      </p:sp>
      <p:sp>
        <p:nvSpPr>
          <p:cNvPr id="20" name="TextBox 19"/>
          <p:cNvSpPr txBox="1"/>
          <p:nvPr/>
        </p:nvSpPr>
        <p:spPr>
          <a:xfrm>
            <a:off x="1051560" y="5010912"/>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Privacy-first architecture (all data local)</a:t>
            </a:r>
          </a:p>
        </p:txBody>
      </p:sp>
      <p:sp>
        <p:nvSpPr>
          <p:cNvPr id="21" name="TextBox 20"/>
          <p:cNvSpPr txBox="1"/>
          <p:nvPr/>
        </p:nvSpPr>
        <p:spPr>
          <a:xfrm>
            <a:off x="6400800" y="1920240"/>
            <a:ext cx="4846320" cy="365760"/>
          </a:xfrm>
          <a:prstGeom prst="rect">
            <a:avLst/>
          </a:prstGeom>
          <a:noFill/>
        </p:spPr>
        <p:txBody>
          <a:bodyPr wrap="square" anchor="t"/>
          <a:lstStyle/>
          <a:p>
            <a:pPr algn="l">
              <a:spcBef>
                <a:spcPts val="0"/>
              </a:spcBef>
              <a:spcAft>
                <a:spcPts val="0"/>
              </a:spcAft>
              <a:lnSpc>
                <a:spcPct val="120000"/>
              </a:lnSpc>
            </a:pPr>
            <a:r>
              <a:rPr sz="2000" b="1">
                <a:solidFill>
                  <a:srgbClr val="5B8DB8"/>
                </a:solidFill>
                <a:latin typeface="Georgia"/>
              </a:rPr>
              <a:t>Next</a:t>
            </a:r>
          </a:p>
        </p:txBody>
      </p:sp>
      <p:sp>
        <p:nvSpPr>
          <p:cNvPr id="22" name="Oval 21"/>
          <p:cNvSpPr/>
          <p:nvPr/>
        </p:nvSpPr>
        <p:spPr>
          <a:xfrm>
            <a:off x="6428232" y="2423160"/>
            <a:ext cx="137160" cy="137160"/>
          </a:xfrm>
          <a:prstGeom prst="ellipse">
            <a:avLst/>
          </a:prstGeom>
          <a:noFill/>
          <a:ln w="19050">
            <a:solidFill>
              <a:srgbClr val="5B8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0840" y="2377440"/>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iOS app launch (Q2 2026)</a:t>
            </a:r>
          </a:p>
        </p:txBody>
      </p:sp>
      <p:sp>
        <p:nvSpPr>
          <p:cNvPr id="24" name="Oval 23"/>
          <p:cNvSpPr/>
          <p:nvPr/>
        </p:nvSpPr>
        <p:spPr>
          <a:xfrm>
            <a:off x="6428232" y="2862072"/>
            <a:ext cx="137160" cy="137160"/>
          </a:xfrm>
          <a:prstGeom prst="ellipse">
            <a:avLst/>
          </a:prstGeom>
          <a:noFill/>
          <a:ln w="19050">
            <a:solidFill>
              <a:srgbClr val="5B8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2816352"/>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Beta testing with 500 quantified-self users</a:t>
            </a:r>
          </a:p>
        </p:txBody>
      </p:sp>
      <p:sp>
        <p:nvSpPr>
          <p:cNvPr id="26" name="Oval 25"/>
          <p:cNvSpPr/>
          <p:nvPr/>
        </p:nvSpPr>
        <p:spPr>
          <a:xfrm>
            <a:off x="6428232" y="3300984"/>
            <a:ext cx="137160" cy="137160"/>
          </a:xfrm>
          <a:prstGeom prst="ellipse">
            <a:avLst/>
          </a:prstGeom>
          <a:noFill/>
          <a:ln w="19050">
            <a:solidFill>
              <a:srgbClr val="5B8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0840" y="3255264"/>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App Store launch (Q3 2026)</a:t>
            </a:r>
          </a:p>
        </p:txBody>
      </p:sp>
      <p:sp>
        <p:nvSpPr>
          <p:cNvPr id="28" name="Oval 27"/>
          <p:cNvSpPr/>
          <p:nvPr/>
        </p:nvSpPr>
        <p:spPr>
          <a:xfrm>
            <a:off x="6428232" y="3739896"/>
            <a:ext cx="137160" cy="137160"/>
          </a:xfrm>
          <a:prstGeom prst="ellipse">
            <a:avLst/>
          </a:prstGeom>
          <a:noFill/>
          <a:ln w="19050">
            <a:solidFill>
              <a:srgbClr val="5B8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0840" y="3694176"/>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B2B pilot with 2 employer wellness programs</a:t>
            </a:r>
          </a:p>
        </p:txBody>
      </p:sp>
      <p:sp>
        <p:nvSpPr>
          <p:cNvPr id="30" name="Oval 29"/>
          <p:cNvSpPr/>
          <p:nvPr/>
        </p:nvSpPr>
        <p:spPr>
          <a:xfrm>
            <a:off x="6428232" y="4178807"/>
            <a:ext cx="137160" cy="137160"/>
          </a:xfrm>
          <a:prstGeom prst="ellipse">
            <a:avLst/>
          </a:prstGeom>
          <a:noFill/>
          <a:ln w="19050">
            <a:solidFill>
              <a:srgbClr val="5B8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0840" y="4133087"/>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Android app (Q4 2026)</a:t>
            </a:r>
          </a:p>
        </p:txBody>
      </p:sp>
      <p:sp>
        <p:nvSpPr>
          <p:cNvPr id="32" name="Oval 31"/>
          <p:cNvSpPr/>
          <p:nvPr/>
        </p:nvSpPr>
        <p:spPr>
          <a:xfrm>
            <a:off x="6428232" y="4617720"/>
            <a:ext cx="137160" cy="137160"/>
          </a:xfrm>
          <a:prstGeom prst="ellipse">
            <a:avLst/>
          </a:prstGeom>
          <a:noFill/>
          <a:ln w="19050">
            <a:solidFill>
              <a:srgbClr val="5B8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20840" y="4572000"/>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1,000 paying subscribers target</a:t>
            </a:r>
          </a:p>
        </p:txBody>
      </p:sp>
      <p:sp>
        <p:nvSpPr>
          <p:cNvPr id="34" name="Oval 33"/>
          <p:cNvSpPr/>
          <p:nvPr/>
        </p:nvSpPr>
        <p:spPr>
          <a:xfrm>
            <a:off x="6428232" y="5056632"/>
            <a:ext cx="137160" cy="137160"/>
          </a:xfrm>
          <a:prstGeom prst="ellipse">
            <a:avLst/>
          </a:prstGeom>
          <a:noFill/>
          <a:ln w="19050">
            <a:solidFill>
              <a:srgbClr val="5B8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20840" y="5010912"/>
            <a:ext cx="4526280" cy="365760"/>
          </a:xfrm>
          <a:prstGeom prst="rect">
            <a:avLst/>
          </a:prstGeom>
          <a:noFill/>
        </p:spPr>
        <p:txBody>
          <a:bodyPr wrap="square" anchor="t"/>
          <a:lstStyle/>
          <a:p>
            <a:pPr algn="l">
              <a:spcBef>
                <a:spcPts val="0"/>
              </a:spcBef>
              <a:spcAft>
                <a:spcPts val="0"/>
              </a:spcAft>
              <a:lnSpc>
                <a:spcPct val="120000"/>
              </a:lnSpc>
            </a:pPr>
            <a:r>
              <a:rPr sz="1300" b="0">
                <a:solidFill>
                  <a:srgbClr val="555566"/>
                </a:solidFill>
                <a:latin typeface="Helvetica Neue"/>
              </a:rPr>
              <a:t>Series A readiness (Q1 2027)</a:t>
            </a:r>
          </a:p>
        </p:txBody>
      </p:sp>
      <p:sp>
        <p:nvSpPr>
          <p:cNvPr id="36" name="TextBox 35"/>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16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GROWTH</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Growth Projections: Benchmarked Against Category Leaders</a:t>
            </a:r>
          </a:p>
        </p:txBody>
      </p:sp>
      <p:sp>
        <p:nvSpPr>
          <p:cNvPr id="6" name="TextBox 5"/>
          <p:cNvSpPr txBox="1"/>
          <p:nvPr/>
        </p:nvSpPr>
        <p:spPr>
          <a:xfrm>
            <a:off x="731520" y="2103120"/>
            <a:ext cx="5029200" cy="320040"/>
          </a:xfrm>
          <a:prstGeom prst="rect">
            <a:avLst/>
          </a:prstGeom>
          <a:noFill/>
        </p:spPr>
        <p:txBody>
          <a:bodyPr wrap="square" anchor="t"/>
          <a:lstStyle/>
          <a:p>
            <a:pPr algn="l">
              <a:spcBef>
                <a:spcPts val="0"/>
              </a:spcBef>
              <a:spcAft>
                <a:spcPts val="0"/>
              </a:spcAft>
              <a:lnSpc>
                <a:spcPct val="120000"/>
              </a:lnSpc>
            </a:pPr>
            <a:r>
              <a:rPr sz="1800" b="1">
                <a:solidFill>
                  <a:srgbClr val="2D2D3A"/>
                </a:solidFill>
                <a:latin typeface="Georgia"/>
              </a:rPr>
              <a:t>Attune Growth Trajectory</a:t>
            </a:r>
          </a:p>
        </p:txBody>
      </p:sp>
      <p:sp>
        <p:nvSpPr>
          <p:cNvPr id="7" name="Oval 6"/>
          <p:cNvSpPr/>
          <p:nvPr/>
        </p:nvSpPr>
        <p:spPr>
          <a:xfrm>
            <a:off x="777240" y="2679192"/>
            <a:ext cx="164592" cy="164592"/>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2862072"/>
            <a:ext cx="25400" cy="475488"/>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606040"/>
            <a:ext cx="1097280" cy="274320"/>
          </a:xfrm>
          <a:prstGeom prst="rect">
            <a:avLst/>
          </a:prstGeom>
          <a:noFill/>
        </p:spPr>
        <p:txBody>
          <a:bodyPr wrap="square" anchor="t"/>
          <a:lstStyle/>
          <a:p>
            <a:pPr algn="l">
              <a:spcBef>
                <a:spcPts val="0"/>
              </a:spcBef>
              <a:spcAft>
                <a:spcPts val="0"/>
              </a:spcAft>
              <a:lnSpc>
                <a:spcPct val="120000"/>
              </a:lnSpc>
            </a:pPr>
            <a:r>
              <a:rPr sz="1300" b="1">
                <a:solidFill>
                  <a:srgbClr val="5B8DB8"/>
                </a:solidFill>
                <a:latin typeface="Helvetica Neue"/>
              </a:rPr>
              <a:t>Month 3</a:t>
            </a:r>
          </a:p>
        </p:txBody>
      </p:sp>
      <p:sp>
        <p:nvSpPr>
          <p:cNvPr id="10" name="TextBox 9"/>
          <p:cNvSpPr txBox="1"/>
          <p:nvPr/>
        </p:nvSpPr>
        <p:spPr>
          <a:xfrm>
            <a:off x="2194560" y="2606040"/>
            <a:ext cx="3200400" cy="274320"/>
          </a:xfrm>
          <a:prstGeom prst="rect">
            <a:avLst/>
          </a:prstGeom>
          <a:noFill/>
        </p:spPr>
        <p:txBody>
          <a:bodyPr wrap="square" anchor="t"/>
          <a:lstStyle/>
          <a:p>
            <a:pPr algn="l">
              <a:spcBef>
                <a:spcPts val="0"/>
              </a:spcBef>
              <a:spcAft>
                <a:spcPts val="0"/>
              </a:spcAft>
              <a:lnSpc>
                <a:spcPct val="120000"/>
              </a:lnSpc>
            </a:pPr>
            <a:r>
              <a:rPr sz="1300" b="1">
                <a:solidFill>
                  <a:srgbClr val="2D2D3A"/>
                </a:solidFill>
                <a:latin typeface="Helvetica Neue"/>
              </a:rPr>
              <a:t>2,000–5,000 users</a:t>
            </a:r>
          </a:p>
        </p:txBody>
      </p:sp>
      <p:sp>
        <p:nvSpPr>
          <p:cNvPr id="11" name="TextBox 10"/>
          <p:cNvSpPr txBox="1"/>
          <p:nvPr/>
        </p:nvSpPr>
        <p:spPr>
          <a:xfrm>
            <a:off x="2194560" y="2862072"/>
            <a:ext cx="32004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QS community launch</a:t>
            </a:r>
          </a:p>
        </p:txBody>
      </p:sp>
      <p:sp>
        <p:nvSpPr>
          <p:cNvPr id="12" name="Oval 11"/>
          <p:cNvSpPr/>
          <p:nvPr/>
        </p:nvSpPr>
        <p:spPr>
          <a:xfrm>
            <a:off x="777240" y="3337560"/>
            <a:ext cx="164592" cy="164592"/>
          </a:xfrm>
          <a:prstGeom prst="ellipse">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41248" y="3520440"/>
            <a:ext cx="25400" cy="475488"/>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264408"/>
            <a:ext cx="1097280" cy="274320"/>
          </a:xfrm>
          <a:prstGeom prst="rect">
            <a:avLst/>
          </a:prstGeom>
          <a:noFill/>
        </p:spPr>
        <p:txBody>
          <a:bodyPr wrap="square" anchor="t"/>
          <a:lstStyle/>
          <a:p>
            <a:pPr algn="l">
              <a:spcBef>
                <a:spcPts val="0"/>
              </a:spcBef>
              <a:spcAft>
                <a:spcPts val="0"/>
              </a:spcAft>
              <a:lnSpc>
                <a:spcPct val="120000"/>
              </a:lnSpc>
            </a:pPr>
            <a:r>
              <a:rPr sz="1300" b="1">
                <a:solidFill>
                  <a:srgbClr val="5B8DB8"/>
                </a:solidFill>
                <a:latin typeface="Helvetica Neue"/>
              </a:rPr>
              <a:t>Month 6</a:t>
            </a:r>
          </a:p>
        </p:txBody>
      </p:sp>
      <p:sp>
        <p:nvSpPr>
          <p:cNvPr id="15" name="TextBox 14"/>
          <p:cNvSpPr txBox="1"/>
          <p:nvPr/>
        </p:nvSpPr>
        <p:spPr>
          <a:xfrm>
            <a:off x="2194560" y="3264408"/>
            <a:ext cx="3200400" cy="274320"/>
          </a:xfrm>
          <a:prstGeom prst="rect">
            <a:avLst/>
          </a:prstGeom>
          <a:noFill/>
        </p:spPr>
        <p:txBody>
          <a:bodyPr wrap="square" anchor="t"/>
          <a:lstStyle/>
          <a:p>
            <a:pPr algn="l">
              <a:spcBef>
                <a:spcPts val="0"/>
              </a:spcBef>
              <a:spcAft>
                <a:spcPts val="0"/>
              </a:spcAft>
              <a:lnSpc>
                <a:spcPct val="120000"/>
              </a:lnSpc>
            </a:pPr>
            <a:r>
              <a:rPr sz="1300" b="1">
                <a:solidFill>
                  <a:srgbClr val="2D2D3A"/>
                </a:solidFill>
                <a:latin typeface="Helvetica Neue"/>
              </a:rPr>
              <a:t>15,000–25,000 users</a:t>
            </a:r>
          </a:p>
        </p:txBody>
      </p:sp>
      <p:sp>
        <p:nvSpPr>
          <p:cNvPr id="16" name="TextBox 15"/>
          <p:cNvSpPr txBox="1"/>
          <p:nvPr/>
        </p:nvSpPr>
        <p:spPr>
          <a:xfrm>
            <a:off x="2194560" y="3520440"/>
            <a:ext cx="32004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Product Hunt + influencer partnerships</a:t>
            </a:r>
          </a:p>
        </p:txBody>
      </p:sp>
      <p:sp>
        <p:nvSpPr>
          <p:cNvPr id="17" name="Oval 16"/>
          <p:cNvSpPr/>
          <p:nvPr/>
        </p:nvSpPr>
        <p:spPr>
          <a:xfrm>
            <a:off x="777240" y="3995928"/>
            <a:ext cx="164592" cy="164592"/>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4178808"/>
            <a:ext cx="25400" cy="475488"/>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922776"/>
            <a:ext cx="1097280" cy="274320"/>
          </a:xfrm>
          <a:prstGeom prst="rect">
            <a:avLst/>
          </a:prstGeom>
          <a:noFill/>
        </p:spPr>
        <p:txBody>
          <a:bodyPr wrap="square" anchor="t"/>
          <a:lstStyle/>
          <a:p>
            <a:pPr algn="l">
              <a:spcBef>
                <a:spcPts val="0"/>
              </a:spcBef>
              <a:spcAft>
                <a:spcPts val="0"/>
              </a:spcAft>
              <a:lnSpc>
                <a:spcPct val="120000"/>
              </a:lnSpc>
            </a:pPr>
            <a:r>
              <a:rPr sz="1300" b="1">
                <a:solidFill>
                  <a:srgbClr val="4EC9B0"/>
                </a:solidFill>
                <a:latin typeface="Helvetica Neue"/>
              </a:rPr>
              <a:t>Month 12</a:t>
            </a:r>
          </a:p>
        </p:txBody>
      </p:sp>
      <p:sp>
        <p:nvSpPr>
          <p:cNvPr id="20" name="TextBox 19"/>
          <p:cNvSpPr txBox="1"/>
          <p:nvPr/>
        </p:nvSpPr>
        <p:spPr>
          <a:xfrm>
            <a:off x="2194560" y="3922776"/>
            <a:ext cx="3200400" cy="274320"/>
          </a:xfrm>
          <a:prstGeom prst="rect">
            <a:avLst/>
          </a:prstGeom>
          <a:noFill/>
        </p:spPr>
        <p:txBody>
          <a:bodyPr wrap="square" anchor="t"/>
          <a:lstStyle/>
          <a:p>
            <a:pPr algn="l">
              <a:spcBef>
                <a:spcPts val="0"/>
              </a:spcBef>
              <a:spcAft>
                <a:spcPts val="0"/>
              </a:spcAft>
              <a:lnSpc>
                <a:spcPct val="120000"/>
              </a:lnSpc>
            </a:pPr>
            <a:r>
              <a:rPr sz="1300" b="1">
                <a:solidFill>
                  <a:srgbClr val="2D2D3A"/>
                </a:solidFill>
                <a:latin typeface="Helvetica Neue"/>
              </a:rPr>
              <a:t>40K–75K users • 3K–5K paid</a:t>
            </a:r>
          </a:p>
        </p:txBody>
      </p:sp>
      <p:sp>
        <p:nvSpPr>
          <p:cNvPr id="21" name="TextBox 20"/>
          <p:cNvSpPr txBox="1"/>
          <p:nvPr/>
        </p:nvSpPr>
        <p:spPr>
          <a:xfrm>
            <a:off x="2194560" y="4178808"/>
            <a:ext cx="32004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$540K–$900K ARR</a:t>
            </a:r>
          </a:p>
        </p:txBody>
      </p:sp>
      <p:sp>
        <p:nvSpPr>
          <p:cNvPr id="22" name="Oval 21"/>
          <p:cNvSpPr/>
          <p:nvPr/>
        </p:nvSpPr>
        <p:spPr>
          <a:xfrm>
            <a:off x="777240" y="4654296"/>
            <a:ext cx="164592" cy="164592"/>
          </a:xfrm>
          <a:prstGeom prst="ellipse">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1248" y="4837176"/>
            <a:ext cx="25400" cy="475488"/>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581144"/>
            <a:ext cx="1097280" cy="274320"/>
          </a:xfrm>
          <a:prstGeom prst="rect">
            <a:avLst/>
          </a:prstGeom>
          <a:noFill/>
        </p:spPr>
        <p:txBody>
          <a:bodyPr wrap="square" anchor="t"/>
          <a:lstStyle/>
          <a:p>
            <a:pPr algn="l">
              <a:spcBef>
                <a:spcPts val="0"/>
              </a:spcBef>
              <a:spcAft>
                <a:spcPts val="0"/>
              </a:spcAft>
              <a:lnSpc>
                <a:spcPct val="120000"/>
              </a:lnSpc>
            </a:pPr>
            <a:r>
              <a:rPr sz="1300" b="1">
                <a:solidFill>
                  <a:srgbClr val="4EC9B0"/>
                </a:solidFill>
                <a:latin typeface="Helvetica Neue"/>
              </a:rPr>
              <a:t>Month 18</a:t>
            </a:r>
          </a:p>
        </p:txBody>
      </p:sp>
      <p:sp>
        <p:nvSpPr>
          <p:cNvPr id="25" name="TextBox 24"/>
          <p:cNvSpPr txBox="1"/>
          <p:nvPr/>
        </p:nvSpPr>
        <p:spPr>
          <a:xfrm>
            <a:off x="2194560" y="4581144"/>
            <a:ext cx="3200400" cy="274320"/>
          </a:xfrm>
          <a:prstGeom prst="rect">
            <a:avLst/>
          </a:prstGeom>
          <a:noFill/>
        </p:spPr>
        <p:txBody>
          <a:bodyPr wrap="square" anchor="t"/>
          <a:lstStyle/>
          <a:p>
            <a:pPr algn="l">
              <a:spcBef>
                <a:spcPts val="0"/>
              </a:spcBef>
              <a:spcAft>
                <a:spcPts val="0"/>
              </a:spcAft>
              <a:lnSpc>
                <a:spcPct val="120000"/>
              </a:lnSpc>
            </a:pPr>
            <a:r>
              <a:rPr sz="1300" b="1">
                <a:solidFill>
                  <a:srgbClr val="2D2D3A"/>
                </a:solidFill>
                <a:latin typeface="Helvetica Neue"/>
              </a:rPr>
              <a:t>80K–150K users • 8K–12K paid</a:t>
            </a:r>
          </a:p>
        </p:txBody>
      </p:sp>
      <p:sp>
        <p:nvSpPr>
          <p:cNvPr id="26" name="TextBox 25"/>
          <p:cNvSpPr txBox="1"/>
          <p:nvPr/>
        </p:nvSpPr>
        <p:spPr>
          <a:xfrm>
            <a:off x="2194560" y="4837176"/>
            <a:ext cx="32004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$1.4M–$2.2M ARR</a:t>
            </a:r>
          </a:p>
        </p:txBody>
      </p:sp>
      <p:sp>
        <p:nvSpPr>
          <p:cNvPr id="27" name="Oval 26"/>
          <p:cNvSpPr/>
          <p:nvPr/>
        </p:nvSpPr>
        <p:spPr>
          <a:xfrm>
            <a:off x="777240" y="5312663"/>
            <a:ext cx="164592" cy="164592"/>
          </a:xfrm>
          <a:prstGeom prst="ellipse">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239511"/>
            <a:ext cx="1097280" cy="274320"/>
          </a:xfrm>
          <a:prstGeom prst="rect">
            <a:avLst/>
          </a:prstGeom>
          <a:noFill/>
        </p:spPr>
        <p:txBody>
          <a:bodyPr wrap="square" anchor="t"/>
          <a:lstStyle/>
          <a:p>
            <a:pPr algn="l">
              <a:spcBef>
                <a:spcPts val="0"/>
              </a:spcBef>
              <a:spcAft>
                <a:spcPts val="0"/>
              </a:spcAft>
              <a:lnSpc>
                <a:spcPct val="120000"/>
              </a:lnSpc>
            </a:pPr>
            <a:r>
              <a:rPr sz="1300" b="1">
                <a:solidFill>
                  <a:srgbClr val="D4A537"/>
                </a:solidFill>
                <a:latin typeface="Helvetica Neue"/>
              </a:rPr>
              <a:t>Month 24</a:t>
            </a:r>
          </a:p>
        </p:txBody>
      </p:sp>
      <p:sp>
        <p:nvSpPr>
          <p:cNvPr id="29" name="TextBox 28"/>
          <p:cNvSpPr txBox="1"/>
          <p:nvPr/>
        </p:nvSpPr>
        <p:spPr>
          <a:xfrm>
            <a:off x="2194560" y="5239511"/>
            <a:ext cx="3200400" cy="274320"/>
          </a:xfrm>
          <a:prstGeom prst="rect">
            <a:avLst/>
          </a:prstGeom>
          <a:noFill/>
        </p:spPr>
        <p:txBody>
          <a:bodyPr wrap="square" anchor="t"/>
          <a:lstStyle/>
          <a:p>
            <a:pPr algn="l">
              <a:spcBef>
                <a:spcPts val="0"/>
              </a:spcBef>
              <a:spcAft>
                <a:spcPts val="0"/>
              </a:spcAft>
              <a:lnSpc>
                <a:spcPct val="120000"/>
              </a:lnSpc>
            </a:pPr>
            <a:r>
              <a:rPr sz="1300" b="1">
                <a:solidFill>
                  <a:srgbClr val="2D2D3A"/>
                </a:solidFill>
                <a:latin typeface="Helvetica Neue"/>
              </a:rPr>
              <a:t>200K+ users • 20K+ paid</a:t>
            </a:r>
          </a:p>
        </p:txBody>
      </p:sp>
      <p:sp>
        <p:nvSpPr>
          <p:cNvPr id="30" name="TextBox 29"/>
          <p:cNvSpPr txBox="1"/>
          <p:nvPr/>
        </p:nvSpPr>
        <p:spPr>
          <a:xfrm>
            <a:off x="2194560" y="5495543"/>
            <a:ext cx="32004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$3.6M+ ARR</a:t>
            </a:r>
          </a:p>
        </p:txBody>
      </p:sp>
      <p:sp>
        <p:nvSpPr>
          <p:cNvPr id="31" name="TextBox 30"/>
          <p:cNvSpPr txBox="1"/>
          <p:nvPr/>
        </p:nvSpPr>
        <p:spPr>
          <a:xfrm>
            <a:off x="6217920" y="2103120"/>
            <a:ext cx="5303520" cy="320040"/>
          </a:xfrm>
          <a:prstGeom prst="rect">
            <a:avLst/>
          </a:prstGeom>
          <a:noFill/>
        </p:spPr>
        <p:txBody>
          <a:bodyPr wrap="square" anchor="t"/>
          <a:lstStyle/>
          <a:p>
            <a:pPr algn="l">
              <a:spcBef>
                <a:spcPts val="0"/>
              </a:spcBef>
              <a:spcAft>
                <a:spcPts val="0"/>
              </a:spcAft>
              <a:lnSpc>
                <a:spcPct val="120000"/>
              </a:lnSpc>
            </a:pPr>
            <a:r>
              <a:rPr sz="1800" b="1">
                <a:solidFill>
                  <a:srgbClr val="2D2D3A"/>
                </a:solidFill>
                <a:latin typeface="Georgia"/>
              </a:rPr>
              <a:t>Category Benchmarks</a:t>
            </a:r>
          </a:p>
        </p:txBody>
      </p:sp>
      <p:sp>
        <p:nvSpPr>
          <p:cNvPr id="32" name="Rounded Rectangle 31"/>
          <p:cNvSpPr/>
          <p:nvPr/>
        </p:nvSpPr>
        <p:spPr>
          <a:xfrm>
            <a:off x="6217920" y="2606040"/>
            <a:ext cx="5303520" cy="1005840"/>
          </a:xfrm>
          <a:prstGeom prst="roundRect">
            <a:avLst>
              <a:gd name="adj" fmla="val 8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0" y="2743200"/>
            <a:ext cx="457200" cy="38100"/>
          </a:xfrm>
          <a:prstGeom prst="rect">
            <a:avLst/>
          </a:prstGeom>
          <a:solidFill>
            <a:srgbClr val="7B6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2880360"/>
            <a:ext cx="475488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Oura Ring</a:t>
            </a:r>
          </a:p>
        </p:txBody>
      </p:sp>
      <p:sp>
        <p:nvSpPr>
          <p:cNvPr id="35" name="TextBox 34"/>
          <p:cNvSpPr txBox="1"/>
          <p:nvPr/>
        </p:nvSpPr>
        <p:spPr>
          <a:xfrm>
            <a:off x="6400800" y="3136392"/>
            <a:ext cx="4754880" cy="41148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4 years to 100K users, then 10x'd in 3 years.
$11B valuation.</a:t>
            </a:r>
          </a:p>
        </p:txBody>
      </p:sp>
      <p:sp>
        <p:nvSpPr>
          <p:cNvPr id="36" name="Rounded Rectangle 35"/>
          <p:cNvSpPr/>
          <p:nvPr/>
        </p:nvSpPr>
        <p:spPr>
          <a:xfrm>
            <a:off x="6217920" y="3794760"/>
            <a:ext cx="5303520" cy="1005840"/>
          </a:xfrm>
          <a:prstGeom prst="roundRect">
            <a:avLst>
              <a:gd name="adj" fmla="val 8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0" y="3931920"/>
            <a:ext cx="457200" cy="3810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4069080"/>
            <a:ext cx="475488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WHOOP</a:t>
            </a:r>
          </a:p>
        </p:txBody>
      </p:sp>
      <p:sp>
        <p:nvSpPr>
          <p:cNvPr id="39" name="TextBox 38"/>
          <p:cNvSpPr txBox="1"/>
          <p:nvPr/>
        </p:nvSpPr>
        <p:spPr>
          <a:xfrm>
            <a:off x="6400800" y="4325112"/>
            <a:ext cx="4754880" cy="41148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6 years building with athletes, then consumer breakout.
$3.6B valuation.</a:t>
            </a:r>
          </a:p>
        </p:txBody>
      </p:sp>
      <p:sp>
        <p:nvSpPr>
          <p:cNvPr id="40" name="Rounded Rectangle 39"/>
          <p:cNvSpPr/>
          <p:nvPr/>
        </p:nvSpPr>
        <p:spPr>
          <a:xfrm>
            <a:off x="6217920" y="4983480"/>
            <a:ext cx="5303520" cy="1005840"/>
          </a:xfrm>
          <a:prstGeom prst="roundRect">
            <a:avLst>
              <a:gd name="adj" fmla="val 8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00800" y="5120640"/>
            <a:ext cx="457200" cy="381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5257800"/>
            <a:ext cx="4754880" cy="274320"/>
          </a:xfrm>
          <a:prstGeom prst="rect">
            <a:avLst/>
          </a:prstGeom>
          <a:noFill/>
        </p:spPr>
        <p:txBody>
          <a:bodyPr wrap="square" anchor="t"/>
          <a:lstStyle/>
          <a:p>
            <a:pPr algn="l">
              <a:spcBef>
                <a:spcPts val="0"/>
              </a:spcBef>
              <a:spcAft>
                <a:spcPts val="0"/>
              </a:spcAft>
              <a:lnSpc>
                <a:spcPct val="120000"/>
              </a:lnSpc>
            </a:pPr>
            <a:r>
              <a:rPr sz="1400" b="1">
                <a:solidFill>
                  <a:srgbClr val="2D2D3A"/>
                </a:solidFill>
                <a:latin typeface="Helvetica Neue"/>
              </a:rPr>
              <a:t>Health App Retention</a:t>
            </a:r>
          </a:p>
        </p:txBody>
      </p:sp>
      <p:sp>
        <p:nvSpPr>
          <p:cNvPr id="43" name="TextBox 42"/>
          <p:cNvSpPr txBox="1"/>
          <p:nvPr/>
        </p:nvSpPr>
        <p:spPr>
          <a:xfrm>
            <a:off x="6400800" y="5513832"/>
            <a:ext cx="4754880" cy="41148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Annual plan 12-month retention: 44–60%.
Health &amp; fitness = #1 category for payer LTV.</a:t>
            </a:r>
          </a:p>
        </p:txBody>
      </p:sp>
      <p:sp>
        <p:nvSpPr>
          <p:cNvPr id="44" name="Rectangle 43"/>
          <p:cNvSpPr/>
          <p:nvPr/>
        </p:nvSpPr>
        <p:spPr>
          <a:xfrm>
            <a:off x="731520" y="5760720"/>
            <a:ext cx="10698480" cy="12700"/>
          </a:xfrm>
          <a:prstGeom prst="rect">
            <a:avLst/>
          </a:prstGeom>
          <a:solidFill>
            <a:srgbClr val="E8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5897880"/>
            <a:ext cx="10515600" cy="457200"/>
          </a:xfrm>
          <a:prstGeom prst="rect">
            <a:avLst/>
          </a:prstGeom>
          <a:noFill/>
        </p:spPr>
        <p:txBody>
          <a:bodyPr wrap="square" anchor="t"/>
          <a:lstStyle/>
          <a:p>
            <a:pPr algn="l">
              <a:spcBef>
                <a:spcPts val="0"/>
              </a:spcBef>
              <a:spcAft>
                <a:spcPts val="0"/>
              </a:spcAft>
              <a:lnSpc>
                <a:spcPct val="120000"/>
              </a:lnSpc>
            </a:pPr>
            <a:r>
              <a:rPr sz="1600" b="1">
                <a:solidFill>
                  <a:srgbClr val="2D2D3A"/>
                </a:solidFill>
                <a:latin typeface="Helvetica Neue"/>
              </a:rPr>
              <a:t>At $14.99/mo with 44% annual retention, LTV = $80+. CAC in QS community: $15–25.</a:t>
            </a:r>
          </a:p>
        </p:txBody>
      </p:sp>
      <p:sp>
        <p:nvSpPr>
          <p:cNvPr id="46" name="TextBox 45"/>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17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32004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GO-TO-MARKET</a:t>
            </a:r>
          </a:p>
        </p:txBody>
      </p:sp>
      <p:sp>
        <p:nvSpPr>
          <p:cNvPr id="4" name="Rectangle 3"/>
          <p:cNvSpPr/>
          <p:nvPr/>
        </p:nvSpPr>
        <p:spPr>
          <a:xfrm>
            <a:off x="731520" y="822960"/>
            <a:ext cx="182880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05840"/>
            <a:ext cx="10515600" cy="73152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Land with Consumers. Expand into Enterprise.</a:t>
            </a:r>
          </a:p>
        </p:txBody>
      </p:sp>
      <p:sp>
        <p:nvSpPr>
          <p:cNvPr id="6" name="Rounded Rectangle 5"/>
          <p:cNvSpPr/>
          <p:nvPr/>
        </p:nvSpPr>
        <p:spPr>
          <a:xfrm>
            <a:off x="731520" y="1920240"/>
            <a:ext cx="3291840" cy="3840480"/>
          </a:xfrm>
          <a:prstGeom prst="roundRect">
            <a:avLst>
              <a:gd name="adj" fmla="val 5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05840" y="2103120"/>
            <a:ext cx="731520" cy="381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286000"/>
            <a:ext cx="2743200" cy="365760"/>
          </a:xfrm>
          <a:prstGeom prst="rect">
            <a:avLst/>
          </a:prstGeom>
          <a:noFill/>
        </p:spPr>
        <p:txBody>
          <a:bodyPr wrap="square" anchor="t"/>
          <a:lstStyle/>
          <a:p>
            <a:pPr algn="l">
              <a:spcBef>
                <a:spcPts val="0"/>
              </a:spcBef>
              <a:spcAft>
                <a:spcPts val="0"/>
              </a:spcAft>
              <a:lnSpc>
                <a:spcPct val="120000"/>
              </a:lnSpc>
            </a:pPr>
            <a:r>
              <a:rPr sz="1700" b="1">
                <a:solidFill>
                  <a:srgbClr val="2D2D3A"/>
                </a:solidFill>
                <a:latin typeface="Georgia"/>
              </a:rPr>
              <a:t>Phase 1: Seed</a:t>
            </a:r>
          </a:p>
        </p:txBody>
      </p:sp>
      <p:sp>
        <p:nvSpPr>
          <p:cNvPr id="9" name="TextBox 8"/>
          <p:cNvSpPr txBox="1"/>
          <p:nvPr/>
        </p:nvSpPr>
        <p:spPr>
          <a:xfrm>
            <a:off x="1005840" y="2651760"/>
            <a:ext cx="2743200" cy="274320"/>
          </a:xfrm>
          <a:prstGeom prst="rect">
            <a:avLst/>
          </a:prstGeom>
          <a:noFill/>
        </p:spPr>
        <p:txBody>
          <a:bodyPr wrap="square" anchor="t"/>
          <a:lstStyle/>
          <a:p>
            <a:pPr algn="l">
              <a:spcBef>
                <a:spcPts val="0"/>
              </a:spcBef>
              <a:spcAft>
                <a:spcPts val="0"/>
              </a:spcAft>
              <a:lnSpc>
                <a:spcPct val="120000"/>
              </a:lnSpc>
            </a:pPr>
            <a:r>
              <a:rPr sz="1200" b="1">
                <a:solidFill>
                  <a:srgbClr val="5B8DB8"/>
                </a:solidFill>
                <a:latin typeface="Helvetica Neue"/>
              </a:rPr>
              <a:t>Q2-Q3 2026</a:t>
            </a:r>
          </a:p>
        </p:txBody>
      </p:sp>
      <p:sp>
        <p:nvSpPr>
          <p:cNvPr id="10" name="TextBox 9"/>
          <p:cNvSpPr txBox="1"/>
          <p:nvPr/>
        </p:nvSpPr>
        <p:spPr>
          <a:xfrm>
            <a:off x="1005840" y="3017520"/>
            <a:ext cx="2743200" cy="2560320"/>
          </a:xfrm>
          <a:prstGeom prst="rect">
            <a:avLst/>
          </a:prstGeom>
          <a:noFill/>
        </p:spPr>
        <p:txBody>
          <a:bodyPr wrap="square" anchor="t"/>
          <a:lstStyle/>
          <a:p>
            <a:pPr algn="l">
              <a:spcBef>
                <a:spcPts val="0"/>
              </a:spcBef>
              <a:spcAft>
                <a:spcPts val="0"/>
              </a:spcAft>
              <a:lnSpc>
                <a:spcPct val="150000"/>
              </a:lnSpc>
            </a:pPr>
            <a:r>
              <a:rPr sz="1200" b="0">
                <a:solidFill>
                  <a:srgbClr val="555566"/>
                </a:solidFill>
                <a:latin typeface="Helvetica Neue"/>
              </a:rPr>
              <a:t>Launch on iOS &amp; macOS App Stores
Target: quantified-self communities
Channels: Reddit, Twitter/X, Product Hunt
Partnership: Whoop/Oura influencers
Goal: 5,000 users, 500 paid</a:t>
            </a:r>
          </a:p>
        </p:txBody>
      </p:sp>
      <p:sp>
        <p:nvSpPr>
          <p:cNvPr id="11" name="Rounded Rectangle 10"/>
          <p:cNvSpPr/>
          <p:nvPr/>
        </p:nvSpPr>
        <p:spPr>
          <a:xfrm>
            <a:off x="4389120" y="1920240"/>
            <a:ext cx="3291840" cy="3840480"/>
          </a:xfrm>
          <a:prstGeom prst="roundRect">
            <a:avLst>
              <a:gd name="adj" fmla="val 5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63440" y="2103120"/>
            <a:ext cx="731520" cy="38100"/>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2286000"/>
            <a:ext cx="2743200" cy="365760"/>
          </a:xfrm>
          <a:prstGeom prst="rect">
            <a:avLst/>
          </a:prstGeom>
          <a:noFill/>
        </p:spPr>
        <p:txBody>
          <a:bodyPr wrap="square" anchor="t"/>
          <a:lstStyle/>
          <a:p>
            <a:pPr algn="l">
              <a:spcBef>
                <a:spcPts val="0"/>
              </a:spcBef>
              <a:spcAft>
                <a:spcPts val="0"/>
              </a:spcAft>
              <a:lnSpc>
                <a:spcPct val="120000"/>
              </a:lnSpc>
            </a:pPr>
            <a:r>
              <a:rPr sz="1700" b="1">
                <a:solidFill>
                  <a:srgbClr val="2D2D3A"/>
                </a:solidFill>
                <a:latin typeface="Georgia"/>
              </a:rPr>
              <a:t>Phase 2: Grow</a:t>
            </a:r>
          </a:p>
        </p:txBody>
      </p:sp>
      <p:sp>
        <p:nvSpPr>
          <p:cNvPr id="14" name="TextBox 13"/>
          <p:cNvSpPr txBox="1"/>
          <p:nvPr/>
        </p:nvSpPr>
        <p:spPr>
          <a:xfrm>
            <a:off x="4663440" y="2651760"/>
            <a:ext cx="2743200" cy="274320"/>
          </a:xfrm>
          <a:prstGeom prst="rect">
            <a:avLst/>
          </a:prstGeom>
          <a:noFill/>
        </p:spPr>
        <p:txBody>
          <a:bodyPr wrap="square" anchor="t"/>
          <a:lstStyle/>
          <a:p>
            <a:pPr algn="l">
              <a:spcBef>
                <a:spcPts val="0"/>
              </a:spcBef>
              <a:spcAft>
                <a:spcPts val="0"/>
              </a:spcAft>
              <a:lnSpc>
                <a:spcPct val="120000"/>
              </a:lnSpc>
            </a:pPr>
            <a:r>
              <a:rPr sz="1200" b="1">
                <a:solidFill>
                  <a:srgbClr val="4EC9B0"/>
                </a:solidFill>
                <a:latin typeface="Helvetica Neue"/>
              </a:rPr>
              <a:t>Q4 2026 - Q1 2027</a:t>
            </a:r>
          </a:p>
        </p:txBody>
      </p:sp>
      <p:sp>
        <p:nvSpPr>
          <p:cNvPr id="15" name="TextBox 14"/>
          <p:cNvSpPr txBox="1"/>
          <p:nvPr/>
        </p:nvSpPr>
        <p:spPr>
          <a:xfrm>
            <a:off x="4663440" y="3017520"/>
            <a:ext cx="2743200" cy="2560320"/>
          </a:xfrm>
          <a:prstGeom prst="rect">
            <a:avLst/>
          </a:prstGeom>
          <a:noFill/>
        </p:spPr>
        <p:txBody>
          <a:bodyPr wrap="square" anchor="t"/>
          <a:lstStyle/>
          <a:p>
            <a:pPr algn="l">
              <a:spcBef>
                <a:spcPts val="0"/>
              </a:spcBef>
              <a:spcAft>
                <a:spcPts val="0"/>
              </a:spcAft>
              <a:lnSpc>
                <a:spcPct val="150000"/>
              </a:lnSpc>
            </a:pPr>
            <a:r>
              <a:rPr sz="1200" b="0">
                <a:solidFill>
                  <a:srgbClr val="555566"/>
                </a:solidFill>
                <a:latin typeface="Helvetica Neue"/>
              </a:rPr>
              <a:t>Expand to Android
Launch referral program (1 month free)
Content marketing: voice biomarker education
First 2 B2B employer wellness pilots
Goal: 25,000 users, 3,000 paid</a:t>
            </a:r>
          </a:p>
        </p:txBody>
      </p:sp>
      <p:sp>
        <p:nvSpPr>
          <p:cNvPr id="16" name="Rounded Rectangle 15"/>
          <p:cNvSpPr/>
          <p:nvPr/>
        </p:nvSpPr>
        <p:spPr>
          <a:xfrm>
            <a:off x="8046720" y="1920240"/>
            <a:ext cx="3291840" cy="3840480"/>
          </a:xfrm>
          <a:prstGeom prst="roundRect">
            <a:avLst>
              <a:gd name="adj" fmla="val 5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103120"/>
            <a:ext cx="731520" cy="38100"/>
          </a:xfrm>
          <a:prstGeom prst="rect">
            <a:avLst/>
          </a:prstGeom>
          <a:solidFill>
            <a:srgbClr val="D4A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286000"/>
            <a:ext cx="2743200" cy="365760"/>
          </a:xfrm>
          <a:prstGeom prst="rect">
            <a:avLst/>
          </a:prstGeom>
          <a:noFill/>
        </p:spPr>
        <p:txBody>
          <a:bodyPr wrap="square" anchor="t"/>
          <a:lstStyle/>
          <a:p>
            <a:pPr algn="l">
              <a:spcBef>
                <a:spcPts val="0"/>
              </a:spcBef>
              <a:spcAft>
                <a:spcPts val="0"/>
              </a:spcAft>
              <a:lnSpc>
                <a:spcPct val="120000"/>
              </a:lnSpc>
            </a:pPr>
            <a:r>
              <a:rPr sz="1700" b="1">
                <a:solidFill>
                  <a:srgbClr val="2D2D3A"/>
                </a:solidFill>
                <a:latin typeface="Georgia"/>
              </a:rPr>
              <a:t>Phase 3: Scale</a:t>
            </a:r>
          </a:p>
        </p:txBody>
      </p:sp>
      <p:sp>
        <p:nvSpPr>
          <p:cNvPr id="19" name="TextBox 18"/>
          <p:cNvSpPr txBox="1"/>
          <p:nvPr/>
        </p:nvSpPr>
        <p:spPr>
          <a:xfrm>
            <a:off x="8321040" y="2651760"/>
            <a:ext cx="2743200" cy="274320"/>
          </a:xfrm>
          <a:prstGeom prst="rect">
            <a:avLst/>
          </a:prstGeom>
          <a:noFill/>
        </p:spPr>
        <p:txBody>
          <a:bodyPr wrap="square" anchor="t"/>
          <a:lstStyle/>
          <a:p>
            <a:pPr algn="l">
              <a:spcBef>
                <a:spcPts val="0"/>
              </a:spcBef>
              <a:spcAft>
                <a:spcPts val="0"/>
              </a:spcAft>
              <a:lnSpc>
                <a:spcPct val="120000"/>
              </a:lnSpc>
            </a:pPr>
            <a:r>
              <a:rPr sz="1200" b="1">
                <a:solidFill>
                  <a:srgbClr val="D4A537"/>
                </a:solidFill>
                <a:latin typeface="Helvetica Neue"/>
              </a:rPr>
              <a:t>2027+</a:t>
            </a:r>
          </a:p>
        </p:txBody>
      </p:sp>
      <p:sp>
        <p:nvSpPr>
          <p:cNvPr id="20" name="TextBox 19"/>
          <p:cNvSpPr txBox="1"/>
          <p:nvPr/>
        </p:nvSpPr>
        <p:spPr>
          <a:xfrm>
            <a:off x="8321040" y="3017520"/>
            <a:ext cx="2743200" cy="2560320"/>
          </a:xfrm>
          <a:prstGeom prst="rect">
            <a:avLst/>
          </a:prstGeom>
          <a:noFill/>
        </p:spPr>
        <p:txBody>
          <a:bodyPr wrap="square" anchor="t"/>
          <a:lstStyle/>
          <a:p>
            <a:pPr algn="l">
              <a:spcBef>
                <a:spcPts val="0"/>
              </a:spcBef>
              <a:spcAft>
                <a:spcPts val="0"/>
              </a:spcAft>
              <a:lnSpc>
                <a:spcPct val="150000"/>
              </a:lnSpc>
            </a:pPr>
            <a:r>
              <a:rPr sz="1200" b="0">
                <a:solidFill>
                  <a:srgbClr val="555566"/>
                </a:solidFill>
                <a:latin typeface="Helvetica Neue"/>
              </a:rPr>
              <a:t>Insurance / payer partnerships
White-label for telehealth platforms
International expansion (UK, EU, Japan)
Platform API for third-party integrations
Goal: 100,000+ users, ARR $5M+</a:t>
            </a:r>
          </a:p>
        </p:txBody>
      </p:sp>
      <p:sp>
        <p:nvSpPr>
          <p:cNvPr id="21" name="TextBox 20"/>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18 / 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0" y="1645920"/>
            <a:ext cx="3931920" cy="2540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con.png"/>
          <p:cNvPicPr>
            <a:picLocks noChangeAspect="1"/>
          </p:cNvPicPr>
          <p:nvPr/>
        </p:nvPicPr>
        <p:blipFill>
          <a:blip r:embed="rId2"/>
          <a:stretch>
            <a:fillRect/>
          </a:stretch>
        </p:blipFill>
        <p:spPr>
          <a:xfrm>
            <a:off x="5394960" y="1920240"/>
            <a:ext cx="1371600" cy="1371600"/>
          </a:xfrm>
          <a:prstGeom prst="rect">
            <a:avLst/>
          </a:prstGeom>
        </p:spPr>
      </p:pic>
      <p:sp>
        <p:nvSpPr>
          <p:cNvPr id="5" name="TextBox 4"/>
          <p:cNvSpPr txBox="1"/>
          <p:nvPr/>
        </p:nvSpPr>
        <p:spPr>
          <a:xfrm>
            <a:off x="1828800" y="3474720"/>
            <a:ext cx="8503920" cy="731520"/>
          </a:xfrm>
          <a:prstGeom prst="rect">
            <a:avLst/>
          </a:prstGeom>
          <a:noFill/>
        </p:spPr>
        <p:txBody>
          <a:bodyPr wrap="square" anchor="t"/>
          <a:lstStyle/>
          <a:p>
            <a:pPr algn="ctr">
              <a:spcBef>
                <a:spcPts val="0"/>
              </a:spcBef>
              <a:spcAft>
                <a:spcPts val="0"/>
              </a:spcAft>
              <a:lnSpc>
                <a:spcPct val="120000"/>
              </a:lnSpc>
            </a:pPr>
            <a:r>
              <a:rPr sz="3000" b="1">
                <a:solidFill>
                  <a:srgbClr val="FFFFFF"/>
                </a:solidFill>
                <a:latin typeface="Georgia"/>
              </a:rPr>
              <a:t>Clinical-Grade Mental Health Monitoring.</a:t>
            </a:r>
          </a:p>
        </p:txBody>
      </p:sp>
      <p:sp>
        <p:nvSpPr>
          <p:cNvPr id="6" name="TextBox 5"/>
          <p:cNvSpPr txBox="1"/>
          <p:nvPr/>
        </p:nvSpPr>
        <p:spPr>
          <a:xfrm>
            <a:off x="1828800" y="4206240"/>
            <a:ext cx="8503920" cy="457200"/>
          </a:xfrm>
          <a:prstGeom prst="rect">
            <a:avLst/>
          </a:prstGeom>
          <a:noFill/>
        </p:spPr>
        <p:txBody>
          <a:bodyPr wrap="square" anchor="t"/>
          <a:lstStyle/>
          <a:p>
            <a:pPr algn="ctr">
              <a:spcBef>
                <a:spcPts val="0"/>
              </a:spcBef>
              <a:spcAft>
                <a:spcPts val="0"/>
              </a:spcAft>
              <a:lnSpc>
                <a:spcPct val="120000"/>
              </a:lnSpc>
            </a:pPr>
            <a:r>
              <a:rPr sz="2600" b="0">
                <a:solidFill>
                  <a:srgbClr val="5B8DB8"/>
                </a:solidFill>
                <a:latin typeface="Georgia"/>
              </a:rPr>
              <a:t>No Clinic Required.</a:t>
            </a:r>
          </a:p>
        </p:txBody>
      </p:sp>
      <p:sp>
        <p:nvSpPr>
          <p:cNvPr id="7" name="Rectangle 6"/>
          <p:cNvSpPr/>
          <p:nvPr/>
        </p:nvSpPr>
        <p:spPr>
          <a:xfrm>
            <a:off x="5029200" y="4937760"/>
            <a:ext cx="2103120" cy="12700"/>
          </a:xfrm>
          <a:prstGeom prst="rect">
            <a:avLst/>
          </a:prstGeom>
          <a:solidFill>
            <a:srgbClr val="3355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212080"/>
            <a:ext cx="8503920" cy="365760"/>
          </a:xfrm>
          <a:prstGeom prst="rect">
            <a:avLst/>
          </a:prstGeom>
          <a:noFill/>
        </p:spPr>
        <p:txBody>
          <a:bodyPr wrap="square" anchor="t"/>
          <a:lstStyle/>
          <a:p>
            <a:pPr algn="ctr">
              <a:spcBef>
                <a:spcPts val="0"/>
              </a:spcBef>
              <a:spcAft>
                <a:spcPts val="0"/>
              </a:spcAft>
              <a:lnSpc>
                <a:spcPct val="120000"/>
              </a:lnSpc>
            </a:pPr>
            <a:r>
              <a:rPr sz="1600" b="0">
                <a:solidFill>
                  <a:srgbClr val="AABBCC"/>
                </a:solidFill>
                <a:latin typeface="Helvetica Neue"/>
              </a:rPr>
              <a:t>hello@attunehealth.com</a:t>
            </a:r>
          </a:p>
        </p:txBody>
      </p:sp>
      <p:sp>
        <p:nvSpPr>
          <p:cNvPr id="9" name="TextBox 8"/>
          <p:cNvSpPr txBox="1"/>
          <p:nvPr/>
        </p:nvSpPr>
        <p:spPr>
          <a:xfrm>
            <a:off x="1828800" y="5577840"/>
            <a:ext cx="8503920" cy="365760"/>
          </a:xfrm>
          <a:prstGeom prst="rect">
            <a:avLst/>
          </a:prstGeom>
          <a:noFill/>
        </p:spPr>
        <p:txBody>
          <a:bodyPr wrap="square" anchor="t"/>
          <a:lstStyle/>
          <a:p>
            <a:pPr algn="ctr">
              <a:spcBef>
                <a:spcPts val="0"/>
              </a:spcBef>
              <a:spcAft>
                <a:spcPts val="0"/>
              </a:spcAft>
              <a:lnSpc>
                <a:spcPct val="120000"/>
              </a:lnSpc>
            </a:pPr>
            <a:r>
              <a:rPr sz="1400" b="0">
                <a:solidFill>
                  <a:srgbClr val="8899AA"/>
                </a:solidFill>
                <a:latin typeface="Helvetica Neue"/>
              </a:rPr>
              <a:t>attunehealth.com</a:t>
            </a:r>
          </a:p>
        </p:txBody>
      </p:sp>
      <p:sp>
        <p:nvSpPr>
          <p:cNvPr id="10" name="TextBox 9"/>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667788"/>
                </a:solidFill>
                <a:latin typeface="Helvetica Neue"/>
              </a:rPr>
              <a:t>19 / 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4572000" cy="27432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APPENDIX: PAIN QUANTIFICATION</a:t>
            </a:r>
          </a:p>
        </p:txBody>
      </p:sp>
      <p:sp>
        <p:nvSpPr>
          <p:cNvPr id="4" name="TextBox 3"/>
          <p:cNvSpPr txBox="1"/>
          <p:nvPr/>
        </p:nvSpPr>
        <p:spPr>
          <a:xfrm>
            <a:off x="731520" y="777240"/>
            <a:ext cx="10058400" cy="64008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The Economic Cost of Ignoring Mental Health</a:t>
            </a:r>
          </a:p>
        </p:txBody>
      </p:sp>
      <p:sp>
        <p:nvSpPr>
          <p:cNvPr id="5" name="Rectangle 4"/>
          <p:cNvSpPr/>
          <p:nvPr/>
        </p:nvSpPr>
        <p:spPr>
          <a:xfrm>
            <a:off x="731520" y="1417320"/>
            <a:ext cx="3657600" cy="1905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3200400" cy="173736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57400"/>
            <a:ext cx="2651760" cy="548640"/>
          </a:xfrm>
          <a:prstGeom prst="rect">
            <a:avLst/>
          </a:prstGeom>
          <a:noFill/>
        </p:spPr>
        <p:txBody>
          <a:bodyPr wrap="square" anchor="t"/>
          <a:lstStyle/>
          <a:p>
            <a:pPr algn="l">
              <a:spcBef>
                <a:spcPts val="0"/>
              </a:spcBef>
              <a:spcAft>
                <a:spcPts val="0"/>
              </a:spcAft>
              <a:lnSpc>
                <a:spcPct val="120000"/>
              </a:lnSpc>
            </a:pPr>
            <a:r>
              <a:rPr sz="2800" b="1">
                <a:solidFill>
                  <a:srgbClr val="E86B6B"/>
                </a:solidFill>
                <a:latin typeface="Georgia"/>
              </a:rPr>
              <a:t>$282B/yr</a:t>
            </a:r>
          </a:p>
        </p:txBody>
      </p:sp>
      <p:sp>
        <p:nvSpPr>
          <p:cNvPr id="8" name="TextBox 7"/>
          <p:cNvSpPr txBox="1"/>
          <p:nvPr/>
        </p:nvSpPr>
        <p:spPr>
          <a:xfrm>
            <a:off x="1005840" y="2606040"/>
            <a:ext cx="2651760" cy="73152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US economic cost of mental illness
(Yale/Columbia/UW-Madison 2024)</a:t>
            </a:r>
          </a:p>
        </p:txBody>
      </p:sp>
      <p:sp>
        <p:nvSpPr>
          <p:cNvPr id="9" name="Rounded Rectangle 8"/>
          <p:cNvSpPr/>
          <p:nvPr/>
        </p:nvSpPr>
        <p:spPr>
          <a:xfrm>
            <a:off x="4389120" y="1828800"/>
            <a:ext cx="3200400" cy="173736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2057400"/>
            <a:ext cx="2651760" cy="548640"/>
          </a:xfrm>
          <a:prstGeom prst="rect">
            <a:avLst/>
          </a:prstGeom>
          <a:noFill/>
        </p:spPr>
        <p:txBody>
          <a:bodyPr wrap="square" anchor="t"/>
          <a:lstStyle/>
          <a:p>
            <a:pPr algn="l">
              <a:spcBef>
                <a:spcPts val="0"/>
              </a:spcBef>
              <a:spcAft>
                <a:spcPts val="0"/>
              </a:spcAft>
              <a:lnSpc>
                <a:spcPct val="120000"/>
              </a:lnSpc>
            </a:pPr>
            <a:r>
              <a:rPr sz="2800" b="1">
                <a:solidFill>
                  <a:srgbClr val="E86B6B"/>
                </a:solidFill>
                <a:latin typeface="Georgia"/>
              </a:rPr>
              <a:t>$1T/yr</a:t>
            </a:r>
          </a:p>
        </p:txBody>
      </p:sp>
      <p:sp>
        <p:nvSpPr>
          <p:cNvPr id="11" name="TextBox 10"/>
          <p:cNvSpPr txBox="1"/>
          <p:nvPr/>
        </p:nvSpPr>
        <p:spPr>
          <a:xfrm>
            <a:off x="4663440" y="2606040"/>
            <a:ext cx="2651760" cy="73152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Global productivity loss
12B working days (WHO)</a:t>
            </a:r>
          </a:p>
        </p:txBody>
      </p:sp>
      <p:sp>
        <p:nvSpPr>
          <p:cNvPr id="12" name="Rounded Rectangle 11"/>
          <p:cNvSpPr/>
          <p:nvPr/>
        </p:nvSpPr>
        <p:spPr>
          <a:xfrm>
            <a:off x="8046720" y="1828800"/>
            <a:ext cx="3200400" cy="173736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2057400"/>
            <a:ext cx="2651760" cy="548640"/>
          </a:xfrm>
          <a:prstGeom prst="rect">
            <a:avLst/>
          </a:prstGeom>
          <a:noFill/>
        </p:spPr>
        <p:txBody>
          <a:bodyPr wrap="square" anchor="t"/>
          <a:lstStyle/>
          <a:p>
            <a:pPr algn="l">
              <a:spcBef>
                <a:spcPts val="0"/>
              </a:spcBef>
              <a:spcAft>
                <a:spcPts val="0"/>
              </a:spcAft>
              <a:lnSpc>
                <a:spcPct val="120000"/>
              </a:lnSpc>
            </a:pPr>
            <a:r>
              <a:rPr sz="2800" b="1">
                <a:solidFill>
                  <a:srgbClr val="5B8DB8"/>
                </a:solidFill>
                <a:latin typeface="Georgia"/>
              </a:rPr>
              <a:t>35%</a:t>
            </a:r>
          </a:p>
        </p:txBody>
      </p:sp>
      <p:sp>
        <p:nvSpPr>
          <p:cNvPr id="14" name="TextBox 13"/>
          <p:cNvSpPr txBox="1"/>
          <p:nvPr/>
        </p:nvSpPr>
        <p:spPr>
          <a:xfrm>
            <a:off x="8321040" y="2606040"/>
            <a:ext cx="2651760" cy="73152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Productivity reduction in
depressed employees (APA)</a:t>
            </a:r>
          </a:p>
        </p:txBody>
      </p:sp>
      <p:sp>
        <p:nvSpPr>
          <p:cNvPr id="15" name="Rounded Rectangle 14"/>
          <p:cNvSpPr/>
          <p:nvPr/>
        </p:nvSpPr>
        <p:spPr>
          <a:xfrm>
            <a:off x="731520" y="4023360"/>
            <a:ext cx="3200400" cy="173736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51960"/>
            <a:ext cx="2651760" cy="548640"/>
          </a:xfrm>
          <a:prstGeom prst="rect">
            <a:avLst/>
          </a:prstGeom>
          <a:noFill/>
        </p:spPr>
        <p:txBody>
          <a:bodyPr wrap="square" anchor="t"/>
          <a:lstStyle/>
          <a:p>
            <a:pPr algn="l">
              <a:spcBef>
                <a:spcPts val="0"/>
              </a:spcBef>
              <a:spcAft>
                <a:spcPts val="0"/>
              </a:spcAft>
              <a:lnSpc>
                <a:spcPct val="120000"/>
              </a:lnSpc>
            </a:pPr>
            <a:r>
              <a:rPr sz="2800" b="1">
                <a:solidFill>
                  <a:srgbClr val="E86B6B"/>
                </a:solidFill>
                <a:latin typeface="Georgia"/>
              </a:rPr>
              <a:t>$6T/yr</a:t>
            </a:r>
          </a:p>
        </p:txBody>
      </p:sp>
      <p:sp>
        <p:nvSpPr>
          <p:cNvPr id="17" name="TextBox 16"/>
          <p:cNvSpPr txBox="1"/>
          <p:nvPr/>
        </p:nvSpPr>
        <p:spPr>
          <a:xfrm>
            <a:off x="1005840" y="4800600"/>
            <a:ext cx="2651760" cy="73152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Projected global cost
by 2030 (WEF)</a:t>
            </a:r>
          </a:p>
        </p:txBody>
      </p:sp>
      <p:sp>
        <p:nvSpPr>
          <p:cNvPr id="18" name="Rounded Rectangle 17"/>
          <p:cNvSpPr/>
          <p:nvPr/>
        </p:nvSpPr>
        <p:spPr>
          <a:xfrm>
            <a:off x="4389120" y="4023360"/>
            <a:ext cx="3200400" cy="173736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4251960"/>
            <a:ext cx="2651760" cy="548640"/>
          </a:xfrm>
          <a:prstGeom prst="rect">
            <a:avLst/>
          </a:prstGeom>
          <a:noFill/>
        </p:spPr>
        <p:txBody>
          <a:bodyPr wrap="square" anchor="t"/>
          <a:lstStyle/>
          <a:p>
            <a:pPr algn="l">
              <a:spcBef>
                <a:spcPts val="0"/>
              </a:spcBef>
              <a:spcAft>
                <a:spcPts val="0"/>
              </a:spcAft>
              <a:lnSpc>
                <a:spcPct val="120000"/>
              </a:lnSpc>
            </a:pPr>
            <a:r>
              <a:rPr sz="2800" b="1">
                <a:solidFill>
                  <a:srgbClr val="7B68D4"/>
                </a:solidFill>
                <a:latin typeface="Georgia"/>
              </a:rPr>
              <a:t>4.3%</a:t>
            </a:r>
          </a:p>
        </p:txBody>
      </p:sp>
      <p:sp>
        <p:nvSpPr>
          <p:cNvPr id="20" name="TextBox 19"/>
          <p:cNvSpPr txBox="1"/>
          <p:nvPr/>
        </p:nvSpPr>
        <p:spPr>
          <a:xfrm>
            <a:off x="4663440" y="4800600"/>
            <a:ext cx="2651760" cy="73152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Primary care visits with
mental health screening</a:t>
            </a:r>
          </a:p>
        </p:txBody>
      </p:sp>
      <p:sp>
        <p:nvSpPr>
          <p:cNvPr id="21" name="Rounded Rectangle 20"/>
          <p:cNvSpPr/>
          <p:nvPr/>
        </p:nvSpPr>
        <p:spPr>
          <a:xfrm>
            <a:off x="8046720" y="4023360"/>
            <a:ext cx="3200400" cy="173736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4251960"/>
            <a:ext cx="2651760" cy="548640"/>
          </a:xfrm>
          <a:prstGeom prst="rect">
            <a:avLst/>
          </a:prstGeom>
          <a:noFill/>
        </p:spPr>
        <p:txBody>
          <a:bodyPr wrap="square" anchor="t"/>
          <a:lstStyle/>
          <a:p>
            <a:pPr algn="l">
              <a:spcBef>
                <a:spcPts val="0"/>
              </a:spcBef>
              <a:spcAft>
                <a:spcPts val="0"/>
              </a:spcAft>
              <a:lnSpc>
                <a:spcPct val="120000"/>
              </a:lnSpc>
            </a:pPr>
            <a:r>
              <a:rPr sz="2800" b="1">
                <a:solidFill>
                  <a:srgbClr val="7B68D4"/>
                </a:solidFill>
                <a:latin typeface="Georgia"/>
              </a:rPr>
              <a:t>82%</a:t>
            </a:r>
          </a:p>
        </p:txBody>
      </p:sp>
      <p:sp>
        <p:nvSpPr>
          <p:cNvPr id="23" name="TextBox 22"/>
          <p:cNvSpPr txBox="1"/>
          <p:nvPr/>
        </p:nvSpPr>
        <p:spPr>
          <a:xfrm>
            <a:off x="8321040" y="4800600"/>
            <a:ext cx="2651760" cy="73152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Tech employees feeling
close to burnout (Talkspace)</a:t>
            </a:r>
          </a:p>
        </p:txBody>
      </p:sp>
      <p:sp>
        <p:nvSpPr>
          <p:cNvPr id="24" name="TextBox 23"/>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20 / 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4572000" cy="27432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APPENDIX: PAIN QUANTIFICATION</a:t>
            </a:r>
          </a:p>
        </p:txBody>
      </p:sp>
      <p:sp>
        <p:nvSpPr>
          <p:cNvPr id="4" name="TextBox 3"/>
          <p:cNvSpPr txBox="1"/>
          <p:nvPr/>
        </p:nvSpPr>
        <p:spPr>
          <a:xfrm>
            <a:off x="731520" y="777240"/>
            <a:ext cx="10058400" cy="64008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What QS Users Spend — And What’s Failed</a:t>
            </a:r>
          </a:p>
        </p:txBody>
      </p:sp>
      <p:sp>
        <p:nvSpPr>
          <p:cNvPr id="5" name="Rectangle 4"/>
          <p:cNvSpPr/>
          <p:nvPr/>
        </p:nvSpPr>
        <p:spPr>
          <a:xfrm>
            <a:off x="731520" y="1417320"/>
            <a:ext cx="3657600" cy="1905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5120640" cy="457200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572000" cy="365760"/>
          </a:xfrm>
          <a:prstGeom prst="rect">
            <a:avLst/>
          </a:prstGeom>
          <a:noFill/>
        </p:spPr>
        <p:txBody>
          <a:bodyPr wrap="square" anchor="t"/>
          <a:lstStyle/>
          <a:p>
            <a:pPr algn="l">
              <a:spcBef>
                <a:spcPts val="0"/>
              </a:spcBef>
              <a:spcAft>
                <a:spcPts val="0"/>
              </a:spcAft>
              <a:lnSpc>
                <a:spcPct val="120000"/>
              </a:lnSpc>
            </a:pPr>
            <a:r>
              <a:rPr sz="1600" b="1">
                <a:solidFill>
                  <a:srgbClr val="4EC9B0"/>
                </a:solidFill>
                <a:latin typeface="Georgia"/>
              </a:rPr>
              <a:t>What They Spend</a:t>
            </a:r>
          </a:p>
        </p:txBody>
      </p:sp>
      <p:sp>
        <p:nvSpPr>
          <p:cNvPr id="8" name="TextBox 7"/>
          <p:cNvSpPr txBox="1"/>
          <p:nvPr/>
        </p:nvSpPr>
        <p:spPr>
          <a:xfrm>
            <a:off x="1005840" y="2331720"/>
            <a:ext cx="4572000" cy="3657600"/>
          </a:xfrm>
          <a:prstGeom prst="rect">
            <a:avLst/>
          </a:prstGeom>
          <a:noFill/>
        </p:spPr>
        <p:txBody>
          <a:bodyPr wrap="square"/>
          <a:lstStyle/>
          <a:p>
            <a:pPr algn="l">
              <a:spcBef>
                <a:spcPts val="0"/>
              </a:spcBef>
              <a:spcAft>
                <a:spcPts val="100"/>
              </a:spcAft>
              <a:lnSpc>
                <a:spcPct val="120000"/>
              </a:lnSpc>
            </a:pPr>
            <a:r>
              <a:rPr sz="1400" b="1">
                <a:solidFill>
                  <a:srgbClr val="4EC9B0"/>
                </a:solidFill>
                <a:latin typeface="Georgia"/>
              </a:rPr>
              <a:t>$5,321/yr</a:t>
            </a:r>
          </a:p>
          <a:p>
            <a:pPr algn="l">
              <a:spcBef>
                <a:spcPts val="0"/>
              </a:spcBef>
              <a:spcAft>
                <a:spcPts val="1000"/>
              </a:spcAft>
              <a:lnSpc>
                <a:spcPct val="120000"/>
              </a:lnSpc>
            </a:pPr>
            <a:r>
              <a:rPr sz="1100" b="0">
                <a:solidFill>
                  <a:srgbClr val="555566"/>
                </a:solidFill>
                <a:latin typeface="Helvetica Neue"/>
              </a:rPr>
              <a:t>Average American wellness spending</a:t>
            </a:r>
          </a:p>
          <a:p>
            <a:pPr algn="l">
              <a:spcBef>
                <a:spcPts val="0"/>
              </a:spcBef>
              <a:spcAft>
                <a:spcPts val="100"/>
              </a:spcAft>
              <a:lnSpc>
                <a:spcPct val="120000"/>
              </a:lnSpc>
            </a:pPr>
            <a:r>
              <a:rPr sz="1400" b="1">
                <a:solidFill>
                  <a:srgbClr val="4EC9B0"/>
                </a:solidFill>
                <a:latin typeface="Georgia"/>
              </a:rPr>
              <a:t>&gt;$400</a:t>
            </a:r>
          </a:p>
          <a:p>
            <a:pPr algn="l">
              <a:spcBef>
                <a:spcPts val="0"/>
              </a:spcBef>
              <a:spcAft>
                <a:spcPts val="1000"/>
              </a:spcAft>
              <a:lnSpc>
                <a:spcPct val="120000"/>
              </a:lnSpc>
            </a:pPr>
            <a:r>
              <a:rPr sz="1100" b="0">
                <a:solidFill>
                  <a:srgbClr val="555566"/>
                </a:solidFill>
                <a:latin typeface="Helvetica Neue"/>
              </a:rPr>
              <a:t>Oura average ticket (52% YoY growth)</a:t>
            </a:r>
          </a:p>
          <a:p>
            <a:pPr algn="l">
              <a:spcBef>
                <a:spcPts val="0"/>
              </a:spcBef>
              <a:spcAft>
                <a:spcPts val="100"/>
              </a:spcAft>
              <a:lnSpc>
                <a:spcPct val="120000"/>
              </a:lnSpc>
            </a:pPr>
            <a:r>
              <a:rPr sz="1400" b="1">
                <a:solidFill>
                  <a:srgbClr val="4EC9B0"/>
                </a:solidFill>
                <a:latin typeface="Georgia"/>
              </a:rPr>
              <a:t>$199–$399/yr</a:t>
            </a:r>
          </a:p>
          <a:p>
            <a:pPr algn="l">
              <a:spcBef>
                <a:spcPts val="0"/>
              </a:spcBef>
              <a:spcAft>
                <a:spcPts val="1000"/>
              </a:spcAft>
              <a:lnSpc>
                <a:spcPct val="120000"/>
              </a:lnSpc>
            </a:pPr>
            <a:r>
              <a:rPr sz="1100" b="0">
                <a:solidFill>
                  <a:srgbClr val="555566"/>
                </a:solidFill>
                <a:latin typeface="Helvetica Neue"/>
              </a:rPr>
              <a:t>WHOOP annual cost</a:t>
            </a:r>
          </a:p>
          <a:p>
            <a:pPr algn="l">
              <a:spcBef>
                <a:spcPts val="0"/>
              </a:spcBef>
              <a:spcAft>
                <a:spcPts val="100"/>
              </a:spcAft>
              <a:lnSpc>
                <a:spcPct val="120000"/>
              </a:lnSpc>
            </a:pPr>
            <a:r>
              <a:rPr sz="1400" b="1">
                <a:solidFill>
                  <a:srgbClr val="4EC9B0"/>
                </a:solidFill>
                <a:latin typeface="Georgia"/>
              </a:rPr>
              <a:t>58.9%</a:t>
            </a:r>
          </a:p>
          <a:p>
            <a:pPr algn="l">
              <a:spcBef>
                <a:spcPts val="0"/>
              </a:spcBef>
              <a:spcAft>
                <a:spcPts val="1000"/>
              </a:spcAft>
              <a:lnSpc>
                <a:spcPct val="120000"/>
              </a:lnSpc>
            </a:pPr>
            <a:r>
              <a:rPr sz="1100" b="0">
                <a:solidFill>
                  <a:srgbClr val="555566"/>
                </a:solidFill>
                <a:latin typeface="Helvetica Neue"/>
              </a:rPr>
              <a:t>Willing to pay for health apps</a:t>
            </a:r>
          </a:p>
          <a:p>
            <a:pPr algn="l">
              <a:spcBef>
                <a:spcPts val="0"/>
              </a:spcBef>
              <a:spcAft>
                <a:spcPts val="100"/>
              </a:spcAft>
              <a:lnSpc>
                <a:spcPct val="120000"/>
              </a:lnSpc>
            </a:pPr>
            <a:r>
              <a:rPr sz="1400" b="1">
                <a:solidFill>
                  <a:srgbClr val="5B8DB8"/>
                </a:solidFill>
                <a:latin typeface="Georgia"/>
              </a:rPr>
              <a:t>$14.99/mo</a:t>
            </a:r>
          </a:p>
          <a:p>
            <a:pPr algn="l">
              <a:spcBef>
                <a:spcPts val="0"/>
              </a:spcBef>
              <a:spcAft>
                <a:spcPts val="400"/>
              </a:spcAft>
              <a:lnSpc>
                <a:spcPct val="120000"/>
              </a:lnSpc>
            </a:pPr>
            <a:r>
              <a:rPr sz="1100" b="0">
                <a:solidFill>
                  <a:srgbClr val="555566"/>
                </a:solidFill>
                <a:latin typeface="Helvetica Neue"/>
              </a:rPr>
              <a:t>Attune’s price fits the envelope</a:t>
            </a:r>
          </a:p>
        </p:txBody>
      </p:sp>
      <p:sp>
        <p:nvSpPr>
          <p:cNvPr id="9" name="Rounded Rectangle 8"/>
          <p:cNvSpPr/>
          <p:nvPr/>
        </p:nvSpPr>
        <p:spPr>
          <a:xfrm>
            <a:off x="6309360" y="1737360"/>
            <a:ext cx="5120640" cy="457200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920240"/>
            <a:ext cx="4572000" cy="365760"/>
          </a:xfrm>
          <a:prstGeom prst="rect">
            <a:avLst/>
          </a:prstGeom>
          <a:noFill/>
        </p:spPr>
        <p:txBody>
          <a:bodyPr wrap="square" anchor="t"/>
          <a:lstStyle/>
          <a:p>
            <a:pPr algn="l">
              <a:spcBef>
                <a:spcPts val="0"/>
              </a:spcBef>
              <a:spcAft>
                <a:spcPts val="0"/>
              </a:spcAft>
              <a:lnSpc>
                <a:spcPct val="120000"/>
              </a:lnSpc>
            </a:pPr>
            <a:r>
              <a:rPr sz="1600" b="1">
                <a:solidFill>
                  <a:srgbClr val="E86B6B"/>
                </a:solidFill>
                <a:latin typeface="Georgia"/>
              </a:rPr>
              <a:t>What’s Failed</a:t>
            </a:r>
          </a:p>
        </p:txBody>
      </p:sp>
      <p:sp>
        <p:nvSpPr>
          <p:cNvPr id="11" name="TextBox 10"/>
          <p:cNvSpPr txBox="1"/>
          <p:nvPr/>
        </p:nvSpPr>
        <p:spPr>
          <a:xfrm>
            <a:off x="6583680" y="2331720"/>
            <a:ext cx="4572000" cy="3657600"/>
          </a:xfrm>
          <a:prstGeom prst="rect">
            <a:avLst/>
          </a:prstGeom>
          <a:noFill/>
        </p:spPr>
        <p:txBody>
          <a:bodyPr wrap="square"/>
          <a:lstStyle/>
          <a:p>
            <a:pPr algn="l">
              <a:spcBef>
                <a:spcPts val="0"/>
              </a:spcBef>
              <a:spcAft>
                <a:spcPts val="100"/>
              </a:spcAft>
              <a:lnSpc>
                <a:spcPct val="120000"/>
              </a:lnSpc>
            </a:pPr>
            <a:r>
              <a:rPr sz="1400" b="1">
                <a:solidFill>
                  <a:srgbClr val="E86B6B"/>
                </a:solidFill>
                <a:latin typeface="Georgia"/>
              </a:rPr>
              <a:t>Therapy</a:t>
            </a:r>
          </a:p>
          <a:p>
            <a:pPr algn="l">
              <a:spcBef>
                <a:spcPts val="0"/>
              </a:spcBef>
              <a:spcAft>
                <a:spcPts val="1000"/>
              </a:spcAft>
              <a:lnSpc>
                <a:spcPct val="120000"/>
              </a:lnSpc>
            </a:pPr>
            <a:r>
              <a:rPr sz="1100" b="0">
                <a:solidFill>
                  <a:srgbClr val="555566"/>
                </a:solidFill>
                <a:latin typeface="Helvetica Neue"/>
              </a:rPr>
              <a:t>34.8% dropout, $140/session avg</a:t>
            </a:r>
          </a:p>
          <a:p>
            <a:pPr algn="l">
              <a:spcBef>
                <a:spcPts val="0"/>
              </a:spcBef>
              <a:spcAft>
                <a:spcPts val="100"/>
              </a:spcAft>
              <a:lnSpc>
                <a:spcPct val="120000"/>
              </a:lnSpc>
            </a:pPr>
            <a:r>
              <a:rPr sz="1400" b="1">
                <a:solidFill>
                  <a:srgbClr val="E86B6B"/>
                </a:solidFill>
                <a:latin typeface="Georgia"/>
              </a:rPr>
              <a:t>Mental Health Apps</a:t>
            </a:r>
          </a:p>
          <a:p>
            <a:pPr algn="l">
              <a:spcBef>
                <a:spcPts val="0"/>
              </a:spcBef>
              <a:spcAft>
                <a:spcPts val="1000"/>
              </a:spcAft>
              <a:lnSpc>
                <a:spcPct val="120000"/>
              </a:lnSpc>
            </a:pPr>
            <a:r>
              <a:rPr sz="1100" b="0">
                <a:solidFill>
                  <a:srgbClr val="555566"/>
                </a:solidFill>
                <a:latin typeface="Helvetica Neue"/>
              </a:rPr>
              <a:t>3.3% median 30-day retention</a:t>
            </a:r>
          </a:p>
          <a:p>
            <a:pPr algn="l">
              <a:spcBef>
                <a:spcPts val="0"/>
              </a:spcBef>
              <a:spcAft>
                <a:spcPts val="100"/>
              </a:spcAft>
              <a:lnSpc>
                <a:spcPct val="120000"/>
              </a:lnSpc>
            </a:pPr>
            <a:r>
              <a:rPr sz="1400" b="1">
                <a:solidFill>
                  <a:srgbClr val="E86B6B"/>
                </a:solidFill>
                <a:latin typeface="Georgia"/>
              </a:rPr>
              <a:t>Telehealth</a:t>
            </a:r>
          </a:p>
          <a:p>
            <a:pPr algn="l">
              <a:spcBef>
                <a:spcPts val="0"/>
              </a:spcBef>
              <a:spcAft>
                <a:spcPts val="1000"/>
              </a:spcAft>
              <a:lnSpc>
                <a:spcPct val="120000"/>
              </a:lnSpc>
            </a:pPr>
            <a:r>
              <a:rPr sz="1100" b="0">
                <a:solidFill>
                  <a:srgbClr val="555566"/>
                </a:solidFill>
                <a:latin typeface="Helvetica Neue"/>
              </a:rPr>
              <a:t>$134/session, same friction</a:t>
            </a:r>
          </a:p>
          <a:p>
            <a:pPr algn="l">
              <a:spcBef>
                <a:spcPts val="0"/>
              </a:spcBef>
              <a:spcAft>
                <a:spcPts val="100"/>
              </a:spcAft>
              <a:lnSpc>
                <a:spcPct val="120000"/>
              </a:lnSpc>
            </a:pPr>
            <a:r>
              <a:rPr sz="1400" b="1">
                <a:solidFill>
                  <a:srgbClr val="E86B6B"/>
                </a:solidFill>
                <a:latin typeface="Georgia"/>
              </a:rPr>
              <a:t>EAPs</a:t>
            </a:r>
          </a:p>
          <a:p>
            <a:pPr algn="l">
              <a:spcBef>
                <a:spcPts val="0"/>
              </a:spcBef>
              <a:spcAft>
                <a:spcPts val="1000"/>
              </a:spcAft>
              <a:lnSpc>
                <a:spcPct val="120000"/>
              </a:lnSpc>
            </a:pPr>
            <a:r>
              <a:rPr sz="1100" b="0">
                <a:solidFill>
                  <a:srgbClr val="555566"/>
                </a:solidFill>
                <a:latin typeface="Helvetica Neue"/>
              </a:rPr>
              <a:t>4–6% utilization despite being free</a:t>
            </a:r>
          </a:p>
          <a:p>
            <a:pPr algn="l">
              <a:spcBef>
                <a:spcPts val="0"/>
              </a:spcBef>
              <a:spcAft>
                <a:spcPts val="100"/>
              </a:spcAft>
              <a:lnSpc>
                <a:spcPct val="120000"/>
              </a:lnSpc>
            </a:pPr>
            <a:r>
              <a:rPr sz="1400" b="1">
                <a:solidFill>
                  <a:srgbClr val="E86B6B"/>
                </a:solidFill>
                <a:latin typeface="Georgia"/>
              </a:rPr>
              <a:t>Woebot</a:t>
            </a:r>
          </a:p>
          <a:p>
            <a:pPr algn="l">
              <a:spcBef>
                <a:spcPts val="0"/>
              </a:spcBef>
              <a:spcAft>
                <a:spcPts val="400"/>
              </a:spcAft>
              <a:lnSpc>
                <a:spcPct val="120000"/>
              </a:lnSpc>
            </a:pPr>
            <a:r>
              <a:rPr sz="1100" b="0">
                <a:solidFill>
                  <a:srgbClr val="555566"/>
                </a:solidFill>
                <a:latin typeface="Helvetica Neue"/>
              </a:rPr>
              <a:t>$114M raised → shut down 2025</a:t>
            </a:r>
          </a:p>
        </p:txBody>
      </p:sp>
      <p:sp>
        <p:nvSpPr>
          <p:cNvPr id="12" name="TextBox 11"/>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21 / 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4572000" cy="27432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APPENDIX: BEHAVIORAL SCIENCE</a:t>
            </a:r>
          </a:p>
        </p:txBody>
      </p:sp>
      <p:sp>
        <p:nvSpPr>
          <p:cNvPr id="4" name="TextBox 3"/>
          <p:cNvSpPr txBox="1"/>
          <p:nvPr/>
        </p:nvSpPr>
        <p:spPr>
          <a:xfrm>
            <a:off x="731520" y="777240"/>
            <a:ext cx="10058400" cy="64008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Engagement Architecture: Behavioral Science</a:t>
            </a:r>
          </a:p>
        </p:txBody>
      </p:sp>
      <p:sp>
        <p:nvSpPr>
          <p:cNvPr id="5" name="Rectangle 4"/>
          <p:cNvSpPr/>
          <p:nvPr/>
        </p:nvSpPr>
        <p:spPr>
          <a:xfrm>
            <a:off x="731520" y="1417320"/>
            <a:ext cx="3657600" cy="1905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91640"/>
            <a:ext cx="10698480" cy="822960"/>
          </a:xfrm>
          <a:prstGeom prst="roundRect">
            <a:avLst>
              <a:gd name="adj" fmla="val 4000"/>
            </a:avLst>
          </a:prstGeom>
          <a:solidFill>
            <a:srgbClr val="EEF4FA"/>
          </a:solidFill>
          <a:ln w="12700">
            <a:solidFill>
              <a:srgbClr val="5B8D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241280" cy="640080"/>
          </a:xfrm>
          <a:prstGeom prst="rect">
            <a:avLst/>
          </a:prstGeom>
          <a:noFill/>
        </p:spPr>
        <p:txBody>
          <a:bodyPr wrap="square" anchor="t"/>
          <a:lstStyle/>
          <a:p>
            <a:pPr algn="l">
              <a:spcBef>
                <a:spcPts val="0"/>
              </a:spcBef>
              <a:spcAft>
                <a:spcPts val="0"/>
              </a:spcAft>
              <a:lnSpc>
                <a:spcPct val="140000"/>
              </a:lnSpc>
            </a:pPr>
            <a:r>
              <a:rPr sz="1300" b="1">
                <a:solidFill>
                  <a:srgbClr val="2D2D3A"/>
                </a:solidFill>
                <a:latin typeface="Helvetica Neue"/>
              </a:rPr>
              <a:t>Mental health apps: 3.3% retention at 30 days. Monitoring apps: 88%+ at 12 months. Attune is a monitoring tool, not a treatment app.</a:t>
            </a:r>
          </a:p>
        </p:txBody>
      </p:sp>
      <p:sp>
        <p:nvSpPr>
          <p:cNvPr id="8" name="Rounded Rectangle 7"/>
          <p:cNvSpPr/>
          <p:nvPr/>
        </p:nvSpPr>
        <p:spPr>
          <a:xfrm>
            <a:off x="731520" y="2788920"/>
            <a:ext cx="3200400" cy="164592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26080"/>
            <a:ext cx="2743200" cy="411480"/>
          </a:xfrm>
          <a:prstGeom prst="rect">
            <a:avLst/>
          </a:prstGeom>
          <a:noFill/>
        </p:spPr>
        <p:txBody>
          <a:bodyPr wrap="square" anchor="t"/>
          <a:lstStyle/>
          <a:p>
            <a:pPr algn="l">
              <a:spcBef>
                <a:spcPts val="0"/>
              </a:spcBef>
              <a:spcAft>
                <a:spcPts val="0"/>
              </a:spcAft>
              <a:lnSpc>
                <a:spcPct val="120000"/>
              </a:lnSpc>
            </a:pPr>
            <a:r>
              <a:rPr sz="1300" b="1">
                <a:solidFill>
                  <a:srgbClr val="5B8DB8"/>
                </a:solidFill>
                <a:latin typeface="Helvetica Neue"/>
              </a:rPr>
              <a:t>Hook Model (Eyal)</a:t>
            </a:r>
          </a:p>
        </p:txBody>
      </p:sp>
      <p:sp>
        <p:nvSpPr>
          <p:cNvPr id="10" name="TextBox 9"/>
          <p:cNvSpPr txBox="1"/>
          <p:nvPr/>
        </p:nvSpPr>
        <p:spPr>
          <a:xfrm>
            <a:off x="960120" y="3383280"/>
            <a:ext cx="2743200" cy="8229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Notification → Record →
Score reveal → Data accumulates</a:t>
            </a:r>
          </a:p>
        </p:txBody>
      </p:sp>
      <p:sp>
        <p:nvSpPr>
          <p:cNvPr id="11" name="Rounded Rectangle 10"/>
          <p:cNvSpPr/>
          <p:nvPr/>
        </p:nvSpPr>
        <p:spPr>
          <a:xfrm>
            <a:off x="4389120" y="2788920"/>
            <a:ext cx="3200400" cy="164592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926080"/>
            <a:ext cx="2743200" cy="411480"/>
          </a:xfrm>
          <a:prstGeom prst="rect">
            <a:avLst/>
          </a:prstGeom>
          <a:noFill/>
        </p:spPr>
        <p:txBody>
          <a:bodyPr wrap="square" anchor="t"/>
          <a:lstStyle/>
          <a:p>
            <a:pPr algn="l">
              <a:spcBef>
                <a:spcPts val="0"/>
              </a:spcBef>
              <a:spcAft>
                <a:spcPts val="0"/>
              </a:spcAft>
              <a:lnSpc>
                <a:spcPct val="120000"/>
              </a:lnSpc>
            </a:pPr>
            <a:r>
              <a:rPr sz="1300" b="1">
                <a:solidFill>
                  <a:srgbClr val="4EC9B0"/>
                </a:solidFill>
                <a:latin typeface="Helvetica Neue"/>
              </a:rPr>
              <a:t>Behavior Model (Fogg)</a:t>
            </a:r>
          </a:p>
        </p:txBody>
      </p:sp>
      <p:sp>
        <p:nvSpPr>
          <p:cNvPr id="13" name="TextBox 12"/>
          <p:cNvSpPr txBox="1"/>
          <p:nvPr/>
        </p:nvSpPr>
        <p:spPr>
          <a:xfrm>
            <a:off x="4617720" y="3383280"/>
            <a:ext cx="2743200" cy="8229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High motivation × 25-sec
barrier × System prompt</a:t>
            </a:r>
          </a:p>
        </p:txBody>
      </p:sp>
      <p:sp>
        <p:nvSpPr>
          <p:cNvPr id="14" name="Rounded Rectangle 13"/>
          <p:cNvSpPr/>
          <p:nvPr/>
        </p:nvSpPr>
        <p:spPr>
          <a:xfrm>
            <a:off x="8046720" y="2788920"/>
            <a:ext cx="3200400" cy="164592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926080"/>
            <a:ext cx="2743200" cy="411480"/>
          </a:xfrm>
          <a:prstGeom prst="rect">
            <a:avLst/>
          </a:prstGeom>
          <a:noFill/>
        </p:spPr>
        <p:txBody>
          <a:bodyPr wrap="square" anchor="t"/>
          <a:lstStyle/>
          <a:p>
            <a:pPr algn="l">
              <a:spcBef>
                <a:spcPts val="0"/>
              </a:spcBef>
              <a:spcAft>
                <a:spcPts val="0"/>
              </a:spcAft>
              <a:lnSpc>
                <a:spcPct val="120000"/>
              </a:lnSpc>
            </a:pPr>
            <a:r>
              <a:rPr sz="1300" b="1">
                <a:solidFill>
                  <a:srgbClr val="E86B6B"/>
                </a:solidFill>
                <a:latin typeface="Helvetica Neue"/>
              </a:rPr>
              <a:t>Loss Aversion (Kahneman)</a:t>
            </a:r>
          </a:p>
        </p:txBody>
      </p:sp>
      <p:sp>
        <p:nvSpPr>
          <p:cNvPr id="16" name="TextBox 15"/>
          <p:cNvSpPr txBox="1"/>
          <p:nvPr/>
        </p:nvSpPr>
        <p:spPr>
          <a:xfrm>
            <a:off x="8275320" y="3383280"/>
            <a:ext cx="2743200" cy="8229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Grove wilting on missed
days (losses feel 2×)</a:t>
            </a:r>
          </a:p>
        </p:txBody>
      </p:sp>
      <p:sp>
        <p:nvSpPr>
          <p:cNvPr id="17" name="Rounded Rectangle 16"/>
          <p:cNvSpPr/>
          <p:nvPr/>
        </p:nvSpPr>
        <p:spPr>
          <a:xfrm>
            <a:off x="731520" y="4709160"/>
            <a:ext cx="3200400" cy="164592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846320"/>
            <a:ext cx="2743200" cy="411480"/>
          </a:xfrm>
          <a:prstGeom prst="rect">
            <a:avLst/>
          </a:prstGeom>
          <a:noFill/>
        </p:spPr>
        <p:txBody>
          <a:bodyPr wrap="square" anchor="t"/>
          <a:lstStyle/>
          <a:p>
            <a:pPr algn="l">
              <a:spcBef>
                <a:spcPts val="0"/>
              </a:spcBef>
              <a:spcAft>
                <a:spcPts val="0"/>
              </a:spcAft>
              <a:lnSpc>
                <a:spcPct val="120000"/>
              </a:lnSpc>
            </a:pPr>
            <a:r>
              <a:rPr sz="1300" b="1">
                <a:solidFill>
                  <a:srgbClr val="7B68D4"/>
                </a:solidFill>
                <a:latin typeface="Helvetica Neue"/>
              </a:rPr>
              <a:t>Endowed Progress (Nunes &amp; Dreze)</a:t>
            </a:r>
          </a:p>
        </p:txBody>
      </p:sp>
      <p:sp>
        <p:nvSpPr>
          <p:cNvPr id="19" name="TextBox 18"/>
          <p:cNvSpPr txBox="1"/>
          <p:nvPr/>
        </p:nvSpPr>
        <p:spPr>
          <a:xfrm>
            <a:off x="960120" y="5303520"/>
            <a:ext cx="2743200" cy="8229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First 2 waypoints auto-
complete (19% → 34%)</a:t>
            </a:r>
          </a:p>
        </p:txBody>
      </p:sp>
      <p:sp>
        <p:nvSpPr>
          <p:cNvPr id="20" name="Rounded Rectangle 19"/>
          <p:cNvSpPr/>
          <p:nvPr/>
        </p:nvSpPr>
        <p:spPr>
          <a:xfrm>
            <a:off x="4389120" y="4709160"/>
            <a:ext cx="3200400" cy="164592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17720" y="4846320"/>
            <a:ext cx="2743200" cy="411480"/>
          </a:xfrm>
          <a:prstGeom prst="rect">
            <a:avLst/>
          </a:prstGeom>
          <a:noFill/>
        </p:spPr>
        <p:txBody>
          <a:bodyPr wrap="square" anchor="t"/>
          <a:lstStyle/>
          <a:p>
            <a:pPr algn="l">
              <a:spcBef>
                <a:spcPts val="0"/>
              </a:spcBef>
              <a:spcAft>
                <a:spcPts val="0"/>
              </a:spcAft>
              <a:lnSpc>
                <a:spcPct val="120000"/>
              </a:lnSpc>
            </a:pPr>
            <a:r>
              <a:rPr sz="1300" b="1">
                <a:solidFill>
                  <a:srgbClr val="D4A537"/>
                </a:solidFill>
                <a:latin typeface="Helvetica Neue"/>
              </a:rPr>
              <a:t>Variable Reinforcement (Skinner)</a:t>
            </a:r>
          </a:p>
        </p:txBody>
      </p:sp>
      <p:sp>
        <p:nvSpPr>
          <p:cNvPr id="22" name="TextBox 21"/>
          <p:cNvSpPr txBox="1"/>
          <p:nvPr/>
        </p:nvSpPr>
        <p:spPr>
          <a:xfrm>
            <a:off x="4617720" y="5303520"/>
            <a:ext cx="2743200" cy="8229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Echoes appear
unpredictably</a:t>
            </a:r>
          </a:p>
        </p:txBody>
      </p:sp>
      <p:sp>
        <p:nvSpPr>
          <p:cNvPr id="23" name="Rounded Rectangle 22"/>
          <p:cNvSpPr/>
          <p:nvPr/>
        </p:nvSpPr>
        <p:spPr>
          <a:xfrm>
            <a:off x="8046720" y="4709160"/>
            <a:ext cx="3200400" cy="164592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4846320"/>
            <a:ext cx="2743200" cy="411480"/>
          </a:xfrm>
          <a:prstGeom prst="rect">
            <a:avLst/>
          </a:prstGeom>
          <a:noFill/>
        </p:spPr>
        <p:txBody>
          <a:bodyPr wrap="square" anchor="t"/>
          <a:lstStyle/>
          <a:p>
            <a:pPr algn="l">
              <a:spcBef>
                <a:spcPts val="0"/>
              </a:spcBef>
              <a:spcAft>
                <a:spcPts val="0"/>
              </a:spcAft>
              <a:lnSpc>
                <a:spcPct val="120000"/>
              </a:lnSpc>
            </a:pPr>
            <a:r>
              <a:rPr sz="1300" b="1">
                <a:solidFill>
                  <a:srgbClr val="5B8DB8"/>
                </a:solidFill>
                <a:latin typeface="Helvetica Neue"/>
              </a:rPr>
              <a:t>Zeigarnik Effect</a:t>
            </a:r>
          </a:p>
        </p:txBody>
      </p:sp>
      <p:sp>
        <p:nvSpPr>
          <p:cNvPr id="25" name="TextBox 24"/>
          <p:cNvSpPr txBox="1"/>
          <p:nvPr/>
        </p:nvSpPr>
        <p:spPr>
          <a:xfrm>
            <a:off x="8275320" y="5303520"/>
            <a:ext cx="2743200" cy="822960"/>
          </a:xfrm>
          <a:prstGeom prst="rect">
            <a:avLst/>
          </a:prstGeom>
          <a:noFill/>
        </p:spPr>
        <p:txBody>
          <a:bodyPr wrap="square" anchor="t"/>
          <a:lstStyle/>
          <a:p>
            <a:pPr algn="l">
              <a:spcBef>
                <a:spcPts val="0"/>
              </a:spcBef>
              <a:spcAft>
                <a:spcPts val="0"/>
              </a:spcAft>
              <a:lnSpc>
                <a:spcPct val="130000"/>
              </a:lnSpc>
            </a:pPr>
            <a:r>
              <a:rPr sz="1100" b="0">
                <a:solidFill>
                  <a:srgbClr val="555566"/>
                </a:solidFill>
                <a:latin typeface="Helvetica Neue"/>
              </a:rPr>
              <a:t>Rhythm Rings show
partial progress (1.9× recall)</a:t>
            </a:r>
          </a:p>
        </p:txBody>
      </p:sp>
      <p:sp>
        <p:nvSpPr>
          <p:cNvPr id="26" name="TextBox 25"/>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22 / 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4572000" cy="27432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APPENDIX: BEHAVIORAL SCIENCE</a:t>
            </a:r>
          </a:p>
        </p:txBody>
      </p:sp>
      <p:sp>
        <p:nvSpPr>
          <p:cNvPr id="4" name="TextBox 3"/>
          <p:cNvSpPr txBox="1"/>
          <p:nvPr/>
        </p:nvSpPr>
        <p:spPr>
          <a:xfrm>
            <a:off x="731520" y="777240"/>
            <a:ext cx="10058400" cy="64008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10 Features × Engagement Loops</a:t>
            </a:r>
          </a:p>
        </p:txBody>
      </p:sp>
      <p:sp>
        <p:nvSpPr>
          <p:cNvPr id="5" name="Rectangle 4"/>
          <p:cNvSpPr/>
          <p:nvPr/>
        </p:nvSpPr>
        <p:spPr>
          <a:xfrm>
            <a:off x="731520" y="1417320"/>
            <a:ext cx="3657600" cy="1905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5120640" cy="384048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74519"/>
            <a:ext cx="4572000" cy="320040"/>
          </a:xfrm>
          <a:prstGeom prst="rect">
            <a:avLst/>
          </a:prstGeom>
          <a:noFill/>
        </p:spPr>
        <p:txBody>
          <a:bodyPr wrap="square" anchor="t"/>
          <a:lstStyle/>
          <a:p>
            <a:pPr algn="l">
              <a:spcBef>
                <a:spcPts val="0"/>
              </a:spcBef>
              <a:spcAft>
                <a:spcPts val="0"/>
              </a:spcAft>
              <a:lnSpc>
                <a:spcPct val="120000"/>
              </a:lnSpc>
            </a:pPr>
            <a:r>
              <a:rPr sz="1300" b="1">
                <a:solidFill>
                  <a:srgbClr val="5B8DB8"/>
                </a:solidFill>
                <a:latin typeface="Helvetica Neue"/>
              </a:rPr>
              <a:t>1. Canopy Score (0–100)</a:t>
            </a:r>
          </a:p>
        </p:txBody>
      </p:sp>
      <p:sp>
        <p:nvSpPr>
          <p:cNvPr id="8" name="TextBox 7"/>
          <p:cNvSpPr txBox="1"/>
          <p:nvPr/>
        </p:nvSpPr>
        <p:spPr>
          <a:xfrm>
            <a:off x="1005840" y="2148839"/>
            <a:ext cx="45720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cf. Oura Readiness Score</a:t>
            </a:r>
          </a:p>
        </p:txBody>
      </p:sp>
      <p:sp>
        <p:nvSpPr>
          <p:cNvPr id="9" name="TextBox 8"/>
          <p:cNvSpPr txBox="1"/>
          <p:nvPr/>
        </p:nvSpPr>
        <p:spPr>
          <a:xfrm>
            <a:off x="1005840" y="2587751"/>
            <a:ext cx="4572000" cy="320040"/>
          </a:xfrm>
          <a:prstGeom prst="rect">
            <a:avLst/>
          </a:prstGeom>
          <a:noFill/>
        </p:spPr>
        <p:txBody>
          <a:bodyPr wrap="square" anchor="t"/>
          <a:lstStyle/>
          <a:p>
            <a:pPr algn="l">
              <a:spcBef>
                <a:spcPts val="0"/>
              </a:spcBef>
              <a:spcAft>
                <a:spcPts val="0"/>
              </a:spcAft>
              <a:lnSpc>
                <a:spcPct val="120000"/>
              </a:lnSpc>
            </a:pPr>
            <a:r>
              <a:rPr sz="1300" b="1">
                <a:solidFill>
                  <a:srgbClr val="4EC9B0"/>
                </a:solidFill>
                <a:latin typeface="Helvetica Neue"/>
              </a:rPr>
              <a:t>2. Grove (streak forest)</a:t>
            </a:r>
          </a:p>
        </p:txBody>
      </p:sp>
      <p:sp>
        <p:nvSpPr>
          <p:cNvPr id="10" name="TextBox 9"/>
          <p:cNvSpPr txBox="1"/>
          <p:nvPr/>
        </p:nvSpPr>
        <p:spPr>
          <a:xfrm>
            <a:off x="1005840" y="2862071"/>
            <a:ext cx="45720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cf. Duolingo streaks (8× retention)</a:t>
            </a:r>
          </a:p>
        </p:txBody>
      </p:sp>
      <p:sp>
        <p:nvSpPr>
          <p:cNvPr id="11" name="TextBox 10"/>
          <p:cNvSpPr txBox="1"/>
          <p:nvPr/>
        </p:nvSpPr>
        <p:spPr>
          <a:xfrm>
            <a:off x="1005840" y="3300983"/>
            <a:ext cx="4572000" cy="320040"/>
          </a:xfrm>
          <a:prstGeom prst="rect">
            <a:avLst/>
          </a:prstGeom>
          <a:noFill/>
        </p:spPr>
        <p:txBody>
          <a:bodyPr wrap="square" anchor="t"/>
          <a:lstStyle/>
          <a:p>
            <a:pPr algn="l">
              <a:spcBef>
                <a:spcPts val="0"/>
              </a:spcBef>
              <a:spcAft>
                <a:spcPts val="0"/>
              </a:spcAft>
              <a:lnSpc>
                <a:spcPct val="120000"/>
              </a:lnSpc>
            </a:pPr>
            <a:r>
              <a:rPr sz="1300" b="1">
                <a:solidFill>
                  <a:srgbClr val="D4A537"/>
                </a:solidFill>
                <a:latin typeface="Helvetica Neue"/>
              </a:rPr>
              <a:t>3. Sanctuary (micro-celebrations)</a:t>
            </a:r>
          </a:p>
        </p:txBody>
      </p:sp>
      <p:sp>
        <p:nvSpPr>
          <p:cNvPr id="12" name="TextBox 11"/>
          <p:cNvSpPr txBox="1"/>
          <p:nvPr/>
        </p:nvSpPr>
        <p:spPr>
          <a:xfrm>
            <a:off x="1005840" y="3575303"/>
            <a:ext cx="45720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Variable reward + cooldown</a:t>
            </a:r>
          </a:p>
        </p:txBody>
      </p:sp>
      <p:sp>
        <p:nvSpPr>
          <p:cNvPr id="13" name="TextBox 12"/>
          <p:cNvSpPr txBox="1"/>
          <p:nvPr/>
        </p:nvSpPr>
        <p:spPr>
          <a:xfrm>
            <a:off x="1005840" y="4014215"/>
            <a:ext cx="4572000" cy="320040"/>
          </a:xfrm>
          <a:prstGeom prst="rect">
            <a:avLst/>
          </a:prstGeom>
          <a:noFill/>
        </p:spPr>
        <p:txBody>
          <a:bodyPr wrap="square" anchor="t"/>
          <a:lstStyle/>
          <a:p>
            <a:pPr algn="l">
              <a:spcBef>
                <a:spcPts val="0"/>
              </a:spcBef>
              <a:spcAft>
                <a:spcPts val="0"/>
              </a:spcAft>
              <a:lnSpc>
                <a:spcPct val="120000"/>
              </a:lnSpc>
            </a:pPr>
            <a:r>
              <a:rPr sz="1300" b="1">
                <a:solidFill>
                  <a:srgbClr val="E86B6B"/>
                </a:solidFill>
                <a:latin typeface="Helvetica Neue"/>
              </a:rPr>
              <a:t>4. Rhythm Rings (3 goals)</a:t>
            </a:r>
          </a:p>
        </p:txBody>
      </p:sp>
      <p:sp>
        <p:nvSpPr>
          <p:cNvPr id="14" name="TextBox 13"/>
          <p:cNvSpPr txBox="1"/>
          <p:nvPr/>
        </p:nvSpPr>
        <p:spPr>
          <a:xfrm>
            <a:off x="1005840" y="4288535"/>
            <a:ext cx="45720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cf. Apple Watch Activity Rings</a:t>
            </a:r>
          </a:p>
        </p:txBody>
      </p:sp>
      <p:sp>
        <p:nvSpPr>
          <p:cNvPr id="15" name="TextBox 14"/>
          <p:cNvSpPr txBox="1"/>
          <p:nvPr/>
        </p:nvSpPr>
        <p:spPr>
          <a:xfrm>
            <a:off x="1005840" y="4727447"/>
            <a:ext cx="4572000" cy="320040"/>
          </a:xfrm>
          <a:prstGeom prst="rect">
            <a:avLst/>
          </a:prstGeom>
          <a:noFill/>
        </p:spPr>
        <p:txBody>
          <a:bodyPr wrap="square" anchor="t"/>
          <a:lstStyle/>
          <a:p>
            <a:pPr algn="l">
              <a:spcBef>
                <a:spcPts val="0"/>
              </a:spcBef>
              <a:spcAft>
                <a:spcPts val="0"/>
              </a:spcAft>
              <a:lnSpc>
                <a:spcPct val="120000"/>
              </a:lnSpc>
            </a:pPr>
            <a:r>
              <a:rPr sz="1300" b="1">
                <a:solidFill>
                  <a:srgbClr val="7B68D4"/>
                </a:solidFill>
                <a:latin typeface="Helvetica Neue"/>
              </a:rPr>
              <a:t>5. Waypoints (30-tier trail)</a:t>
            </a:r>
          </a:p>
        </p:txBody>
      </p:sp>
      <p:sp>
        <p:nvSpPr>
          <p:cNvPr id="16" name="TextBox 15"/>
          <p:cNvSpPr txBox="1"/>
          <p:nvPr/>
        </p:nvSpPr>
        <p:spPr>
          <a:xfrm>
            <a:off x="1005840" y="5001767"/>
            <a:ext cx="45720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Endowed progress over 90 days</a:t>
            </a:r>
          </a:p>
        </p:txBody>
      </p:sp>
      <p:sp>
        <p:nvSpPr>
          <p:cNvPr id="17" name="Rounded Rectangle 16"/>
          <p:cNvSpPr/>
          <p:nvPr/>
        </p:nvSpPr>
        <p:spPr>
          <a:xfrm>
            <a:off x="6309360" y="1737360"/>
            <a:ext cx="5120640" cy="384048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1874519"/>
            <a:ext cx="4572000" cy="320040"/>
          </a:xfrm>
          <a:prstGeom prst="rect">
            <a:avLst/>
          </a:prstGeom>
          <a:noFill/>
        </p:spPr>
        <p:txBody>
          <a:bodyPr wrap="square" anchor="t"/>
          <a:lstStyle/>
          <a:p>
            <a:pPr algn="l">
              <a:spcBef>
                <a:spcPts val="0"/>
              </a:spcBef>
              <a:spcAft>
                <a:spcPts val="0"/>
              </a:spcAft>
              <a:lnSpc>
                <a:spcPct val="120000"/>
              </a:lnSpc>
            </a:pPr>
            <a:r>
              <a:rPr sz="1300" b="1">
                <a:solidFill>
                  <a:srgbClr val="5B8DB8"/>
                </a:solidFill>
                <a:latin typeface="Helvetica Neue"/>
              </a:rPr>
              <a:t>6. Morning Briefing</a:t>
            </a:r>
          </a:p>
        </p:txBody>
      </p:sp>
      <p:sp>
        <p:nvSpPr>
          <p:cNvPr id="19" name="TextBox 18"/>
          <p:cNvSpPr txBox="1"/>
          <p:nvPr/>
        </p:nvSpPr>
        <p:spPr>
          <a:xfrm>
            <a:off x="6583680" y="2148839"/>
            <a:ext cx="45720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cf. Oura morning ritual</a:t>
            </a:r>
          </a:p>
        </p:txBody>
      </p:sp>
      <p:sp>
        <p:nvSpPr>
          <p:cNvPr id="20" name="TextBox 19"/>
          <p:cNvSpPr txBox="1"/>
          <p:nvPr/>
        </p:nvSpPr>
        <p:spPr>
          <a:xfrm>
            <a:off x="6583680" y="2587751"/>
            <a:ext cx="4572000" cy="320040"/>
          </a:xfrm>
          <a:prstGeom prst="rect">
            <a:avLst/>
          </a:prstGeom>
          <a:noFill/>
        </p:spPr>
        <p:txBody>
          <a:bodyPr wrap="square" anchor="t"/>
          <a:lstStyle/>
          <a:p>
            <a:pPr algn="l">
              <a:spcBef>
                <a:spcPts val="0"/>
              </a:spcBef>
              <a:spcAft>
                <a:spcPts val="0"/>
              </a:spcAft>
              <a:lnSpc>
                <a:spcPct val="120000"/>
              </a:lnSpc>
            </a:pPr>
            <a:r>
              <a:rPr sz="1300" b="1">
                <a:solidFill>
                  <a:srgbClr val="4EC9B0"/>
                </a:solidFill>
                <a:latin typeface="Helvetica Neue"/>
              </a:rPr>
              <a:t>7. Weekly Wrapped</a:t>
            </a:r>
          </a:p>
        </p:txBody>
      </p:sp>
      <p:sp>
        <p:nvSpPr>
          <p:cNvPr id="21" name="TextBox 20"/>
          <p:cNvSpPr txBox="1"/>
          <p:nvPr/>
        </p:nvSpPr>
        <p:spPr>
          <a:xfrm>
            <a:off x="6583680" y="2862071"/>
            <a:ext cx="45720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cf. Spotify Wrapped (200M users)</a:t>
            </a:r>
          </a:p>
        </p:txBody>
      </p:sp>
      <p:sp>
        <p:nvSpPr>
          <p:cNvPr id="22" name="TextBox 21"/>
          <p:cNvSpPr txBox="1"/>
          <p:nvPr/>
        </p:nvSpPr>
        <p:spPr>
          <a:xfrm>
            <a:off x="6583680" y="3300983"/>
            <a:ext cx="4572000" cy="320040"/>
          </a:xfrm>
          <a:prstGeom prst="rect">
            <a:avLst/>
          </a:prstGeom>
          <a:noFill/>
        </p:spPr>
        <p:txBody>
          <a:bodyPr wrap="square" anchor="t"/>
          <a:lstStyle/>
          <a:p>
            <a:pPr algn="l">
              <a:spcBef>
                <a:spcPts val="0"/>
              </a:spcBef>
              <a:spcAft>
                <a:spcPts val="0"/>
              </a:spcAft>
              <a:lnSpc>
                <a:spcPct val="120000"/>
              </a:lnSpc>
            </a:pPr>
            <a:r>
              <a:rPr sz="1300" b="1">
                <a:solidFill>
                  <a:srgbClr val="D4A537"/>
                </a:solidFill>
                <a:latin typeface="Helvetica Neue"/>
              </a:rPr>
              <a:t>8. Echoes (pattern discovery)</a:t>
            </a:r>
          </a:p>
        </p:txBody>
      </p:sp>
      <p:sp>
        <p:nvSpPr>
          <p:cNvPr id="23" name="TextBox 22"/>
          <p:cNvSpPr txBox="1"/>
          <p:nvPr/>
        </p:nvSpPr>
        <p:spPr>
          <a:xfrm>
            <a:off x="6583680" y="3575303"/>
            <a:ext cx="45720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Variable reward after 7+ days</a:t>
            </a:r>
          </a:p>
        </p:txBody>
      </p:sp>
      <p:sp>
        <p:nvSpPr>
          <p:cNvPr id="24" name="TextBox 23"/>
          <p:cNvSpPr txBox="1"/>
          <p:nvPr/>
        </p:nvSpPr>
        <p:spPr>
          <a:xfrm>
            <a:off x="6583680" y="4014215"/>
            <a:ext cx="4572000" cy="320040"/>
          </a:xfrm>
          <a:prstGeom prst="rect">
            <a:avLst/>
          </a:prstGeom>
          <a:noFill/>
        </p:spPr>
        <p:txBody>
          <a:bodyPr wrap="square" anchor="t"/>
          <a:lstStyle/>
          <a:p>
            <a:pPr algn="l">
              <a:spcBef>
                <a:spcPts val="0"/>
              </a:spcBef>
              <a:spcAft>
                <a:spcPts val="0"/>
              </a:spcAft>
              <a:lnSpc>
                <a:spcPct val="120000"/>
              </a:lnSpc>
            </a:pPr>
            <a:r>
              <a:rPr sz="1300" b="1">
                <a:solidFill>
                  <a:srgbClr val="E86B6B"/>
                </a:solidFill>
                <a:latin typeface="Helvetica Neue"/>
              </a:rPr>
              <a:t>9. The Pulse (notifications)</a:t>
            </a:r>
          </a:p>
        </p:txBody>
      </p:sp>
      <p:sp>
        <p:nvSpPr>
          <p:cNvPr id="25" name="TextBox 24"/>
          <p:cNvSpPr txBox="1"/>
          <p:nvPr/>
        </p:nvSpPr>
        <p:spPr>
          <a:xfrm>
            <a:off x="6583680" y="4288535"/>
            <a:ext cx="45720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Rate-limited contextual alerts</a:t>
            </a:r>
          </a:p>
        </p:txBody>
      </p:sp>
      <p:sp>
        <p:nvSpPr>
          <p:cNvPr id="26" name="TextBox 25"/>
          <p:cNvSpPr txBox="1"/>
          <p:nvPr/>
        </p:nvSpPr>
        <p:spPr>
          <a:xfrm>
            <a:off x="6583680" y="4727447"/>
            <a:ext cx="4572000" cy="320040"/>
          </a:xfrm>
          <a:prstGeom prst="rect">
            <a:avLst/>
          </a:prstGeom>
          <a:noFill/>
        </p:spPr>
        <p:txBody>
          <a:bodyPr wrap="square" anchor="t"/>
          <a:lstStyle/>
          <a:p>
            <a:pPr algn="l">
              <a:spcBef>
                <a:spcPts val="0"/>
              </a:spcBef>
              <a:spcAft>
                <a:spcPts val="0"/>
              </a:spcAft>
              <a:lnSpc>
                <a:spcPct val="120000"/>
              </a:lnSpc>
            </a:pPr>
            <a:r>
              <a:rPr sz="1300" b="1">
                <a:solidFill>
                  <a:srgbClr val="7B68D4"/>
                </a:solidFill>
                <a:latin typeface="Helvetica Neue"/>
              </a:rPr>
              <a:t>10. Onboarding (6-step)</a:t>
            </a:r>
          </a:p>
        </p:txBody>
      </p:sp>
      <p:sp>
        <p:nvSpPr>
          <p:cNvPr id="27" name="TextBox 26"/>
          <p:cNvSpPr txBox="1"/>
          <p:nvPr/>
        </p:nvSpPr>
        <p:spPr>
          <a:xfrm>
            <a:off x="6583680" y="5001767"/>
            <a:ext cx="4572000" cy="274320"/>
          </a:xfrm>
          <a:prstGeom prst="rect">
            <a:avLst/>
          </a:prstGeom>
          <a:noFill/>
        </p:spPr>
        <p:txBody>
          <a:bodyPr wrap="square" anchor="t"/>
          <a:lstStyle/>
          <a:p>
            <a:pPr algn="l">
              <a:spcBef>
                <a:spcPts val="0"/>
              </a:spcBef>
              <a:spcAft>
                <a:spcPts val="0"/>
              </a:spcAft>
              <a:lnSpc>
                <a:spcPct val="120000"/>
              </a:lnSpc>
            </a:pPr>
            <a:r>
              <a:rPr sz="1100" b="0">
                <a:solidFill>
                  <a:srgbClr val="555566"/>
                </a:solidFill>
                <a:latin typeface="Helvetica Neue"/>
              </a:rPr>
              <a:t>Micro-commitments + calibration</a:t>
            </a:r>
          </a:p>
        </p:txBody>
      </p:sp>
      <p:sp>
        <p:nvSpPr>
          <p:cNvPr id="28" name="Rounded Rectangle 27"/>
          <p:cNvSpPr/>
          <p:nvPr/>
        </p:nvSpPr>
        <p:spPr>
          <a:xfrm>
            <a:off x="731520" y="5760720"/>
            <a:ext cx="10698480" cy="64008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806440"/>
            <a:ext cx="10241280" cy="457200"/>
          </a:xfrm>
          <a:prstGeom prst="rect">
            <a:avLst/>
          </a:prstGeom>
          <a:noFill/>
        </p:spPr>
        <p:txBody>
          <a:bodyPr wrap="square" anchor="t"/>
          <a:lstStyle/>
          <a:p>
            <a:pPr algn="ctr">
              <a:spcBef>
                <a:spcPts val="0"/>
              </a:spcBef>
              <a:spcAft>
                <a:spcPts val="0"/>
              </a:spcAft>
              <a:lnSpc>
                <a:spcPct val="120000"/>
              </a:lnSpc>
            </a:pPr>
            <a:r>
              <a:rPr sz="1100" b="1">
                <a:solidFill>
                  <a:srgbClr val="5B8DB8"/>
                </a:solidFill>
                <a:latin typeface="Helvetica Neue"/>
              </a:rPr>
              <a:t>Duolingo: 8× retention with streaks  |  Apple Watch: 89%+ at 12 mo  |  Oura: 3×/day opens  |  Spotify Wrapped: 200M in 24hrs</a:t>
            </a:r>
          </a:p>
        </p:txBody>
      </p:sp>
      <p:sp>
        <p:nvSpPr>
          <p:cNvPr id="30" name="TextBox 29"/>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23 /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4572000" cy="27432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APPENDIX: FINANCIAL MODEL</a:t>
            </a:r>
          </a:p>
        </p:txBody>
      </p:sp>
      <p:sp>
        <p:nvSpPr>
          <p:cNvPr id="4" name="TextBox 3"/>
          <p:cNvSpPr txBox="1"/>
          <p:nvPr/>
        </p:nvSpPr>
        <p:spPr>
          <a:xfrm>
            <a:off x="731520" y="777240"/>
            <a:ext cx="10058400" cy="64008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Unit Economics &amp; Gross Margins</a:t>
            </a:r>
          </a:p>
        </p:txBody>
      </p:sp>
      <p:sp>
        <p:nvSpPr>
          <p:cNvPr id="5" name="Rectangle 4"/>
          <p:cNvSpPr/>
          <p:nvPr/>
        </p:nvSpPr>
        <p:spPr>
          <a:xfrm>
            <a:off x="731520" y="1417320"/>
            <a:ext cx="3657600" cy="1905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10698480" cy="365760"/>
          </a:xfrm>
          <a:prstGeom prst="rect">
            <a:avLst/>
          </a:prstGeom>
          <a:noFill/>
        </p:spPr>
        <p:txBody>
          <a:bodyPr wrap="square" anchor="t"/>
          <a:lstStyle/>
          <a:p>
            <a:pPr algn="ctr">
              <a:spcBef>
                <a:spcPts val="0"/>
              </a:spcBef>
              <a:spcAft>
                <a:spcPts val="0"/>
              </a:spcAft>
              <a:lnSpc>
                <a:spcPct val="120000"/>
              </a:lnSpc>
            </a:pPr>
            <a:r>
              <a:rPr sz="1400" b="1">
                <a:solidFill>
                  <a:srgbClr val="2D2D3A"/>
                </a:solidFill>
                <a:latin typeface="Georgia"/>
              </a:rPr>
              <a:t>$14.99/mo  |  $149/yr  |  Blended ARPU ~$12.42</a:t>
            </a:r>
          </a:p>
        </p:txBody>
      </p:sp>
      <p:sp>
        <p:nvSpPr>
          <p:cNvPr id="7" name="Rounded Rectangle 6"/>
          <p:cNvSpPr/>
          <p:nvPr/>
        </p:nvSpPr>
        <p:spPr>
          <a:xfrm>
            <a:off x="731520" y="2194560"/>
            <a:ext cx="5120640" cy="228600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331720"/>
            <a:ext cx="4572000" cy="32004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Georgia"/>
              </a:rPr>
              <a:t>Gross Margin Comparison</a:t>
            </a:r>
          </a:p>
        </p:txBody>
      </p:sp>
      <p:sp>
        <p:nvSpPr>
          <p:cNvPr id="9" name="TextBox 8"/>
          <p:cNvSpPr txBox="1"/>
          <p:nvPr/>
        </p:nvSpPr>
        <p:spPr>
          <a:xfrm>
            <a:off x="1005840" y="2697480"/>
            <a:ext cx="4572000" cy="1554480"/>
          </a:xfrm>
          <a:prstGeom prst="rect">
            <a:avLst/>
          </a:prstGeom>
          <a:noFill/>
        </p:spPr>
        <p:txBody>
          <a:bodyPr wrap="square"/>
          <a:lstStyle/>
          <a:p>
            <a:pPr algn="l">
              <a:spcBef>
                <a:spcPts val="0"/>
              </a:spcBef>
              <a:spcAft>
                <a:spcPts val="400"/>
              </a:spcAft>
              <a:lnSpc>
                <a:spcPct val="120000"/>
              </a:lnSpc>
            </a:pPr>
            <a:r>
              <a:rPr sz="1300" b="1">
                <a:solidFill>
                  <a:srgbClr val="4EC9B0"/>
                </a:solidFill>
                <a:latin typeface="Helvetica Neue"/>
              </a:rPr>
              <a:t>Attune (App Store): 81.7%</a:t>
            </a:r>
          </a:p>
          <a:p>
            <a:pPr algn="l">
              <a:spcBef>
                <a:spcPts val="0"/>
              </a:spcBef>
              <a:spcAft>
                <a:spcPts val="1000"/>
              </a:spcAft>
              <a:lnSpc>
                <a:spcPct val="120000"/>
              </a:lnSpc>
            </a:pPr>
            <a:r>
              <a:rPr sz="1300" b="1">
                <a:solidFill>
                  <a:srgbClr val="4EC9B0"/>
                </a:solidFill>
                <a:latin typeface="Helvetica Neue"/>
              </a:rPr>
              <a:t>Attune (Direct): 91.8%</a:t>
            </a:r>
          </a:p>
          <a:p>
            <a:pPr algn="l">
              <a:spcBef>
                <a:spcPts val="0"/>
              </a:spcBef>
              <a:spcAft>
                <a:spcPts val="1000"/>
              </a:spcAft>
              <a:lnSpc>
                <a:spcPct val="120000"/>
              </a:lnSpc>
            </a:pPr>
            <a:r>
              <a:rPr sz="1100" b="0">
                <a:solidFill>
                  <a:srgbClr val="555566"/>
                </a:solidFill>
                <a:latin typeface="Helvetica Neue"/>
              </a:rPr>
              <a:t>vs Oura ~60%  |  Peloton ~40%  |  Typical SaaS 75–85%</a:t>
            </a:r>
          </a:p>
          <a:p>
            <a:pPr algn="l">
              <a:spcBef>
                <a:spcPts val="0"/>
              </a:spcBef>
              <a:spcAft>
                <a:spcPts val="400"/>
              </a:spcAft>
              <a:lnSpc>
                <a:spcPct val="120000"/>
              </a:lnSpc>
            </a:pPr>
            <a:r>
              <a:rPr sz="1100" b="1">
                <a:solidFill>
                  <a:srgbClr val="5B8DB8"/>
                </a:solidFill>
                <a:latin typeface="Helvetica Neue"/>
              </a:rPr>
              <a:t>Key: Zero compute COGS — all on-device</a:t>
            </a:r>
          </a:p>
        </p:txBody>
      </p:sp>
      <p:sp>
        <p:nvSpPr>
          <p:cNvPr id="10" name="Rounded Rectangle 9"/>
          <p:cNvSpPr/>
          <p:nvPr/>
        </p:nvSpPr>
        <p:spPr>
          <a:xfrm>
            <a:off x="6309360" y="2194560"/>
            <a:ext cx="5120640" cy="228600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2331720"/>
            <a:ext cx="4572000" cy="32004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Georgia"/>
              </a:rPr>
              <a:t>Three-Scenario Unit Economics</a:t>
            </a:r>
          </a:p>
        </p:txBody>
      </p:sp>
      <p:sp>
        <p:nvSpPr>
          <p:cNvPr id="12" name="TextBox 11"/>
          <p:cNvSpPr txBox="1"/>
          <p:nvPr/>
        </p:nvSpPr>
        <p:spPr>
          <a:xfrm>
            <a:off x="6583680" y="2697480"/>
            <a:ext cx="4572000" cy="1554480"/>
          </a:xfrm>
          <a:prstGeom prst="rect">
            <a:avLst/>
          </a:prstGeom>
          <a:noFill/>
        </p:spPr>
        <p:txBody>
          <a:bodyPr wrap="square"/>
          <a:lstStyle/>
          <a:p>
            <a:pPr algn="l">
              <a:spcBef>
                <a:spcPts val="0"/>
              </a:spcBef>
              <a:spcAft>
                <a:spcPts val="100"/>
              </a:spcAft>
              <a:lnSpc>
                <a:spcPct val="120000"/>
              </a:lnSpc>
            </a:pPr>
            <a:r>
              <a:rPr sz="1200" b="1">
                <a:solidFill>
                  <a:srgbClr val="555566"/>
                </a:solidFill>
                <a:latin typeface="Helvetica Neue"/>
              </a:rPr>
              <a:t>Conservative</a:t>
            </a:r>
          </a:p>
          <a:p>
            <a:pPr algn="l">
              <a:spcBef>
                <a:spcPts val="0"/>
              </a:spcBef>
              <a:spcAft>
                <a:spcPts val="800"/>
              </a:spcAft>
              <a:lnSpc>
                <a:spcPct val="120000"/>
              </a:lnSpc>
            </a:pPr>
            <a:r>
              <a:rPr sz="1200" b="0">
                <a:solidFill>
                  <a:srgbClr val="555566"/>
                </a:solidFill>
                <a:latin typeface="Helvetica Neue"/>
              </a:rPr>
              <a:t>LTV $80  |  CAC $80  |  LTV/CAC 1.0×</a:t>
            </a:r>
          </a:p>
          <a:p>
            <a:pPr algn="l">
              <a:spcBef>
                <a:spcPts val="0"/>
              </a:spcBef>
              <a:spcAft>
                <a:spcPts val="100"/>
              </a:spcAft>
              <a:lnSpc>
                <a:spcPct val="120000"/>
              </a:lnSpc>
            </a:pPr>
            <a:r>
              <a:rPr sz="1200" b="1">
                <a:solidFill>
                  <a:srgbClr val="5B8DB8"/>
                </a:solidFill>
                <a:latin typeface="Helvetica Neue"/>
              </a:rPr>
              <a:t>Target</a:t>
            </a:r>
          </a:p>
          <a:p>
            <a:pPr algn="l">
              <a:spcBef>
                <a:spcPts val="0"/>
              </a:spcBef>
              <a:spcAft>
                <a:spcPts val="800"/>
              </a:spcAft>
              <a:lnSpc>
                <a:spcPct val="120000"/>
              </a:lnSpc>
            </a:pPr>
            <a:r>
              <a:rPr sz="1200" b="0">
                <a:solidFill>
                  <a:srgbClr val="5B8DB8"/>
                </a:solidFill>
                <a:latin typeface="Helvetica Neue"/>
              </a:rPr>
              <a:t>LTV $149  |  CAC $60  |  LTV/CAC 2.5×</a:t>
            </a:r>
          </a:p>
          <a:p>
            <a:pPr algn="l">
              <a:spcBef>
                <a:spcPts val="0"/>
              </a:spcBef>
              <a:spcAft>
                <a:spcPts val="100"/>
              </a:spcAft>
              <a:lnSpc>
                <a:spcPct val="120000"/>
              </a:lnSpc>
            </a:pPr>
            <a:r>
              <a:rPr sz="1200" b="1">
                <a:solidFill>
                  <a:srgbClr val="4EC9B0"/>
                </a:solidFill>
                <a:latin typeface="Helvetica Neue"/>
              </a:rPr>
              <a:t>Optimistic</a:t>
            </a:r>
          </a:p>
          <a:p>
            <a:pPr algn="l">
              <a:spcBef>
                <a:spcPts val="0"/>
              </a:spcBef>
              <a:spcAft>
                <a:spcPts val="400"/>
              </a:spcAft>
              <a:lnSpc>
                <a:spcPct val="120000"/>
              </a:lnSpc>
            </a:pPr>
            <a:r>
              <a:rPr sz="1200" b="0">
                <a:solidFill>
                  <a:srgbClr val="4EC9B0"/>
                </a:solidFill>
                <a:latin typeface="Helvetica Neue"/>
              </a:rPr>
              <a:t>LTV $270  |  CAC $40  |  LTV/CAC 6.8×</a:t>
            </a:r>
          </a:p>
        </p:txBody>
      </p:sp>
      <p:sp>
        <p:nvSpPr>
          <p:cNvPr id="13" name="Rounded Rectangle 12"/>
          <p:cNvSpPr/>
          <p:nvPr/>
        </p:nvSpPr>
        <p:spPr>
          <a:xfrm>
            <a:off x="731520" y="4754880"/>
            <a:ext cx="10698480" cy="137160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892040"/>
            <a:ext cx="10241280" cy="32004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Georgia"/>
              </a:rPr>
              <a:t>Path to 3:1+ LTV/CAC</a:t>
            </a:r>
          </a:p>
        </p:txBody>
      </p:sp>
      <p:sp>
        <p:nvSpPr>
          <p:cNvPr id="15" name="TextBox 14"/>
          <p:cNvSpPr txBox="1"/>
          <p:nvPr/>
        </p:nvSpPr>
        <p:spPr>
          <a:xfrm>
            <a:off x="1005840" y="5257800"/>
            <a:ext cx="10241280" cy="640080"/>
          </a:xfrm>
          <a:prstGeom prst="rect">
            <a:avLst/>
          </a:prstGeom>
          <a:noFill/>
        </p:spPr>
        <p:txBody>
          <a:bodyPr wrap="square" anchor="t"/>
          <a:lstStyle/>
          <a:p>
            <a:pPr algn="l">
              <a:spcBef>
                <a:spcPts val="0"/>
              </a:spcBef>
              <a:spcAft>
                <a:spcPts val="0"/>
              </a:spcAft>
              <a:lnSpc>
                <a:spcPct val="140000"/>
              </a:lnSpc>
            </a:pPr>
            <a:r>
              <a:rPr sz="1200" b="0">
                <a:solidFill>
                  <a:srgbClr val="555566"/>
                </a:solidFill>
                <a:latin typeface="Helvetica Neue"/>
              </a:rPr>
              <a:t>Organic/referral channels must comprise 40%+ of acquisition. Consistent with WHOOP and Oura growth patterns — both grew primarily through organic/community channels before scaling paid. Conservative case (1.0×) models worst-case paid-only; Target (2.5×) is viable with organic supplement.</a:t>
            </a:r>
          </a:p>
        </p:txBody>
      </p:sp>
      <p:sp>
        <p:nvSpPr>
          <p:cNvPr id="16" name="TextBox 15"/>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24 / 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4572000" cy="274320"/>
          </a:xfrm>
          <a:prstGeom prst="rect">
            <a:avLst/>
          </a:prstGeom>
          <a:noFill/>
        </p:spPr>
        <p:txBody>
          <a:bodyPr wrap="square" anchor="t"/>
          <a:lstStyle/>
          <a:p>
            <a:pPr algn="l">
              <a:spcBef>
                <a:spcPts val="0"/>
              </a:spcBef>
              <a:spcAft>
                <a:spcPts val="0"/>
              </a:spcAft>
              <a:lnSpc>
                <a:spcPct val="120000"/>
              </a:lnSpc>
            </a:pPr>
            <a:r>
              <a:rPr sz="1100" b="1">
                <a:solidFill>
                  <a:srgbClr val="5B8DB8"/>
                </a:solidFill>
                <a:latin typeface="Helvetica Neue"/>
              </a:rPr>
              <a:t>APPENDIX: FINANCIAL MODEL</a:t>
            </a:r>
          </a:p>
        </p:txBody>
      </p:sp>
      <p:sp>
        <p:nvSpPr>
          <p:cNvPr id="4" name="TextBox 3"/>
          <p:cNvSpPr txBox="1"/>
          <p:nvPr/>
        </p:nvSpPr>
        <p:spPr>
          <a:xfrm>
            <a:off x="731520" y="777240"/>
            <a:ext cx="10058400" cy="640080"/>
          </a:xfrm>
          <a:prstGeom prst="rect">
            <a:avLst/>
          </a:prstGeom>
          <a:noFill/>
        </p:spPr>
        <p:txBody>
          <a:bodyPr wrap="square" anchor="t"/>
          <a:lstStyle/>
          <a:p>
            <a:pPr algn="l">
              <a:spcBef>
                <a:spcPts val="0"/>
              </a:spcBef>
              <a:spcAft>
                <a:spcPts val="0"/>
              </a:spcAft>
              <a:lnSpc>
                <a:spcPct val="120000"/>
              </a:lnSpc>
            </a:pPr>
            <a:r>
              <a:rPr sz="3200" b="1">
                <a:solidFill>
                  <a:srgbClr val="2D2D3A"/>
                </a:solidFill>
                <a:latin typeface="Georgia"/>
              </a:rPr>
              <a:t>Acquisition Channels, Breakeven &amp; Comps</a:t>
            </a:r>
          </a:p>
        </p:txBody>
      </p:sp>
      <p:sp>
        <p:nvSpPr>
          <p:cNvPr id="5" name="Rectangle 4"/>
          <p:cNvSpPr/>
          <p:nvPr/>
        </p:nvSpPr>
        <p:spPr>
          <a:xfrm>
            <a:off x="731520" y="1417320"/>
            <a:ext cx="3657600" cy="1905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91640"/>
            <a:ext cx="5120640" cy="201168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4572000" cy="32004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Georgia"/>
              </a:rPr>
              <a:t>Top Acquisition Channels (CAC)</a:t>
            </a:r>
          </a:p>
        </p:txBody>
      </p:sp>
      <p:sp>
        <p:nvSpPr>
          <p:cNvPr id="8" name="TextBox 7"/>
          <p:cNvSpPr txBox="1"/>
          <p:nvPr/>
        </p:nvSpPr>
        <p:spPr>
          <a:xfrm>
            <a:off x="1005840" y="2148840"/>
            <a:ext cx="4572000" cy="1371600"/>
          </a:xfrm>
          <a:prstGeom prst="rect">
            <a:avLst/>
          </a:prstGeom>
          <a:noFill/>
        </p:spPr>
        <p:txBody>
          <a:bodyPr wrap="square"/>
          <a:lstStyle/>
          <a:p>
            <a:pPr algn="l">
              <a:spcBef>
                <a:spcPts val="0"/>
              </a:spcBef>
              <a:spcAft>
                <a:spcPts val="400"/>
              </a:spcAft>
              <a:lnSpc>
                <a:spcPct val="120000"/>
              </a:lnSpc>
            </a:pPr>
            <a:r>
              <a:rPr sz="1200" b="1">
                <a:solidFill>
                  <a:srgbClr val="4EC9B0"/>
                </a:solidFill>
                <a:latin typeface="Helvetica Neue"/>
              </a:rPr>
              <a:t>Apple Search Ads: $32–$85</a:t>
            </a:r>
          </a:p>
          <a:p>
            <a:pPr algn="l">
              <a:spcBef>
                <a:spcPts val="0"/>
              </a:spcBef>
              <a:spcAft>
                <a:spcPts val="400"/>
              </a:spcAft>
              <a:lnSpc>
                <a:spcPct val="120000"/>
              </a:lnSpc>
            </a:pPr>
            <a:r>
              <a:rPr sz="1200" b="1">
                <a:solidFill>
                  <a:srgbClr val="4EC9B0"/>
                </a:solidFill>
                <a:latin typeface="Helvetica Neue"/>
              </a:rPr>
              <a:t>Reddit: $32–$85</a:t>
            </a:r>
          </a:p>
          <a:p>
            <a:pPr algn="l">
              <a:spcBef>
                <a:spcPts val="0"/>
              </a:spcBef>
              <a:spcAft>
                <a:spcPts val="400"/>
              </a:spcAft>
              <a:lnSpc>
                <a:spcPct val="120000"/>
              </a:lnSpc>
            </a:pPr>
            <a:r>
              <a:rPr sz="1200" b="1">
                <a:solidFill>
                  <a:srgbClr val="4EC9B0"/>
                </a:solidFill>
                <a:latin typeface="Helvetica Neue"/>
              </a:rPr>
              <a:t>Organic/SEO: $15–$50 (at scale)</a:t>
            </a:r>
          </a:p>
          <a:p>
            <a:pPr algn="l">
              <a:spcBef>
                <a:spcPts val="0"/>
              </a:spcBef>
              <a:spcAft>
                <a:spcPts val="800"/>
              </a:spcAft>
              <a:lnSpc>
                <a:spcPct val="120000"/>
              </a:lnSpc>
            </a:pPr>
            <a:r>
              <a:rPr sz="1200" b="1">
                <a:solidFill>
                  <a:srgbClr val="5B8DB8"/>
                </a:solidFill>
                <a:latin typeface="Helvetica Neue"/>
              </a:rPr>
              <a:t>Instagram: $37</a:t>
            </a:r>
          </a:p>
          <a:p>
            <a:pPr algn="l">
              <a:spcBef>
                <a:spcPts val="0"/>
              </a:spcBef>
              <a:spcAft>
                <a:spcPts val="400"/>
              </a:spcAft>
              <a:lnSpc>
                <a:spcPct val="120000"/>
              </a:lnSpc>
            </a:pPr>
            <a:r>
              <a:rPr sz="1200" b="1">
                <a:solidFill>
                  <a:srgbClr val="2D2D3A"/>
                </a:solidFill>
                <a:latin typeface="Helvetica Neue"/>
              </a:rPr>
              <a:t>Blended target: $50–$80</a:t>
            </a:r>
          </a:p>
        </p:txBody>
      </p:sp>
      <p:sp>
        <p:nvSpPr>
          <p:cNvPr id="9" name="Rounded Rectangle 8"/>
          <p:cNvSpPr/>
          <p:nvPr/>
        </p:nvSpPr>
        <p:spPr>
          <a:xfrm>
            <a:off x="6309360" y="1691640"/>
            <a:ext cx="5120640" cy="201168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783080"/>
            <a:ext cx="4572000" cy="32004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Georgia"/>
              </a:rPr>
              <a:t>Breakeven Scenarios</a:t>
            </a:r>
          </a:p>
        </p:txBody>
      </p:sp>
      <p:sp>
        <p:nvSpPr>
          <p:cNvPr id="11" name="TextBox 10"/>
          <p:cNvSpPr txBox="1"/>
          <p:nvPr/>
        </p:nvSpPr>
        <p:spPr>
          <a:xfrm>
            <a:off x="6583680" y="2148840"/>
            <a:ext cx="4572000" cy="1371600"/>
          </a:xfrm>
          <a:prstGeom prst="rect">
            <a:avLst/>
          </a:prstGeom>
          <a:noFill/>
        </p:spPr>
        <p:txBody>
          <a:bodyPr wrap="square"/>
          <a:lstStyle/>
          <a:p>
            <a:pPr algn="l">
              <a:spcBef>
                <a:spcPts val="0"/>
              </a:spcBef>
              <a:spcAft>
                <a:spcPts val="100"/>
              </a:spcAft>
              <a:lnSpc>
                <a:spcPct val="120000"/>
              </a:lnSpc>
            </a:pPr>
            <a:r>
              <a:rPr sz="1200" b="1">
                <a:solidFill>
                  <a:srgbClr val="5B8DB8"/>
                </a:solidFill>
                <a:latin typeface="Helvetica Neue"/>
              </a:rPr>
              <a:t>Lean (3 FTE)</a:t>
            </a:r>
          </a:p>
          <a:p>
            <a:pPr algn="l">
              <a:spcBef>
                <a:spcPts val="0"/>
              </a:spcBef>
              <a:spcAft>
                <a:spcPts val="800"/>
              </a:spcAft>
              <a:lnSpc>
                <a:spcPct val="120000"/>
              </a:lnSpc>
            </a:pPr>
            <a:r>
              <a:rPr sz="1200" b="0">
                <a:solidFill>
                  <a:srgbClr val="555566"/>
                </a:solidFill>
                <a:latin typeface="Helvetica Neue"/>
              </a:rPr>
              <a:t>2,034 subs  |  $364K ARR</a:t>
            </a:r>
          </a:p>
          <a:p>
            <a:pPr algn="l">
              <a:spcBef>
                <a:spcPts val="0"/>
              </a:spcBef>
              <a:spcAft>
                <a:spcPts val="100"/>
              </a:spcAft>
              <a:lnSpc>
                <a:spcPct val="120000"/>
              </a:lnSpc>
            </a:pPr>
            <a:r>
              <a:rPr sz="1200" b="1">
                <a:solidFill>
                  <a:srgbClr val="5B8DB8"/>
                </a:solidFill>
                <a:latin typeface="Helvetica Neue"/>
              </a:rPr>
              <a:t>Seed (5–7 FTE)</a:t>
            </a:r>
          </a:p>
          <a:p>
            <a:pPr algn="l">
              <a:spcBef>
                <a:spcPts val="0"/>
              </a:spcBef>
              <a:spcAft>
                <a:spcPts val="800"/>
              </a:spcAft>
              <a:lnSpc>
                <a:spcPct val="120000"/>
              </a:lnSpc>
            </a:pPr>
            <a:r>
              <a:rPr sz="1200" b="0">
                <a:solidFill>
                  <a:srgbClr val="555566"/>
                </a:solidFill>
                <a:latin typeface="Helvetica Neue"/>
              </a:rPr>
              <a:t>4,068 subs  |  $729K ARR</a:t>
            </a:r>
          </a:p>
          <a:p>
            <a:pPr algn="l">
              <a:spcBef>
                <a:spcPts val="0"/>
              </a:spcBef>
              <a:spcAft>
                <a:spcPts val="100"/>
              </a:spcAft>
              <a:lnSpc>
                <a:spcPct val="120000"/>
              </a:lnSpc>
            </a:pPr>
            <a:r>
              <a:rPr sz="1200" b="1">
                <a:solidFill>
                  <a:srgbClr val="5B8DB8"/>
                </a:solidFill>
                <a:latin typeface="Helvetica Neue"/>
              </a:rPr>
              <a:t>Growth (10 FTE)</a:t>
            </a:r>
          </a:p>
          <a:p>
            <a:pPr algn="l">
              <a:spcBef>
                <a:spcPts val="0"/>
              </a:spcBef>
              <a:spcAft>
                <a:spcPts val="400"/>
              </a:spcAft>
              <a:lnSpc>
                <a:spcPct val="120000"/>
              </a:lnSpc>
            </a:pPr>
            <a:r>
              <a:rPr sz="1200" b="0">
                <a:solidFill>
                  <a:srgbClr val="555566"/>
                </a:solidFill>
                <a:latin typeface="Helvetica Neue"/>
              </a:rPr>
              <a:t>7,843 subs  |  $1.4M ARR</a:t>
            </a:r>
          </a:p>
        </p:txBody>
      </p:sp>
      <p:sp>
        <p:nvSpPr>
          <p:cNvPr id="12" name="Rounded Rectangle 11"/>
          <p:cNvSpPr/>
          <p:nvPr/>
        </p:nvSpPr>
        <p:spPr>
          <a:xfrm>
            <a:off x="731520" y="3931920"/>
            <a:ext cx="10698480" cy="2377440"/>
          </a:xfrm>
          <a:prstGeom prst="roundRect">
            <a:avLst>
              <a:gd name="adj" fmla="val 4000"/>
            </a:avLst>
          </a:prstGeom>
          <a:solidFill>
            <a:srgbClr val="FFFFFF"/>
          </a:solidFill>
          <a:ln w="12700">
            <a:solidFill>
              <a:srgbClr val="E0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23360"/>
            <a:ext cx="10241280" cy="320040"/>
          </a:xfrm>
          <a:prstGeom prst="rect">
            <a:avLst/>
          </a:prstGeom>
          <a:noFill/>
        </p:spPr>
        <p:txBody>
          <a:bodyPr wrap="square" anchor="t"/>
          <a:lstStyle/>
          <a:p>
            <a:pPr algn="l">
              <a:spcBef>
                <a:spcPts val="0"/>
              </a:spcBef>
              <a:spcAft>
                <a:spcPts val="0"/>
              </a:spcAft>
              <a:lnSpc>
                <a:spcPct val="120000"/>
              </a:lnSpc>
            </a:pPr>
            <a:r>
              <a:rPr sz="1500" b="1">
                <a:solidFill>
                  <a:srgbClr val="2D2D3A"/>
                </a:solidFill>
                <a:latin typeface="Georgia"/>
              </a:rPr>
              <a:t>Comparable Companies</a:t>
            </a:r>
          </a:p>
        </p:txBody>
      </p:sp>
      <p:sp>
        <p:nvSpPr>
          <p:cNvPr id="14" name="TextBox 13"/>
          <p:cNvSpPr txBox="1"/>
          <p:nvPr/>
        </p:nvSpPr>
        <p:spPr>
          <a:xfrm>
            <a:off x="1005840" y="4434840"/>
            <a:ext cx="2286000" cy="274320"/>
          </a:xfrm>
          <a:prstGeom prst="rect">
            <a:avLst/>
          </a:prstGeom>
          <a:noFill/>
        </p:spPr>
        <p:txBody>
          <a:bodyPr wrap="square" anchor="t"/>
          <a:lstStyle/>
          <a:p>
            <a:pPr algn="l">
              <a:spcBef>
                <a:spcPts val="0"/>
              </a:spcBef>
              <a:spcAft>
                <a:spcPts val="0"/>
              </a:spcAft>
              <a:lnSpc>
                <a:spcPct val="120000"/>
              </a:lnSpc>
            </a:pPr>
            <a:r>
              <a:rPr sz="1400" b="1">
                <a:solidFill>
                  <a:srgbClr val="5B8DB8"/>
                </a:solidFill>
                <a:latin typeface="Georgia"/>
              </a:rPr>
              <a:t>Oura</a:t>
            </a:r>
          </a:p>
        </p:txBody>
      </p:sp>
      <p:sp>
        <p:nvSpPr>
          <p:cNvPr id="15" name="TextBox 14"/>
          <p:cNvSpPr txBox="1"/>
          <p:nvPr/>
        </p:nvSpPr>
        <p:spPr>
          <a:xfrm>
            <a:off x="1005840" y="4709160"/>
            <a:ext cx="2286000" cy="1097280"/>
          </a:xfrm>
          <a:prstGeom prst="rect">
            <a:avLst/>
          </a:prstGeom>
          <a:noFill/>
        </p:spPr>
        <p:txBody>
          <a:bodyPr wrap="square"/>
          <a:lstStyle/>
          <a:p>
            <a:pPr algn="l">
              <a:spcBef>
                <a:spcPts val="0"/>
              </a:spcBef>
              <a:spcAft>
                <a:spcPts val="200"/>
              </a:spcAft>
              <a:lnSpc>
                <a:spcPct val="120000"/>
              </a:lnSpc>
            </a:pPr>
            <a:r>
              <a:rPr sz="1200" b="0">
                <a:solidFill>
                  <a:srgbClr val="555566"/>
                </a:solidFill>
                <a:latin typeface="Helvetica Neue"/>
              </a:rPr>
              <a:t>$500M rev</a:t>
            </a:r>
          </a:p>
          <a:p>
            <a:pPr algn="l">
              <a:spcBef>
                <a:spcPts val="0"/>
              </a:spcBef>
              <a:spcAft>
                <a:spcPts val="200"/>
              </a:spcAft>
              <a:lnSpc>
                <a:spcPct val="120000"/>
              </a:lnSpc>
            </a:pPr>
            <a:r>
              <a:rPr sz="1200" b="0">
                <a:solidFill>
                  <a:srgbClr val="555566"/>
                </a:solidFill>
                <a:latin typeface="Helvetica Neue"/>
              </a:rPr>
              <a:t>Valuation: $11B</a:t>
            </a:r>
          </a:p>
          <a:p>
            <a:pPr algn="l">
              <a:spcBef>
                <a:spcPts val="0"/>
              </a:spcBef>
              <a:spcAft>
                <a:spcPts val="400"/>
              </a:spcAft>
              <a:lnSpc>
                <a:spcPct val="120000"/>
              </a:lnSpc>
            </a:pPr>
            <a:r>
              <a:rPr sz="1200" b="1">
                <a:solidFill>
                  <a:srgbClr val="4EC9B0"/>
                </a:solidFill>
                <a:latin typeface="Helvetica Neue"/>
              </a:rPr>
              <a:t>Rev Multiple: 10.4×</a:t>
            </a:r>
          </a:p>
        </p:txBody>
      </p:sp>
      <p:sp>
        <p:nvSpPr>
          <p:cNvPr id="16" name="TextBox 15"/>
          <p:cNvSpPr txBox="1"/>
          <p:nvPr/>
        </p:nvSpPr>
        <p:spPr>
          <a:xfrm>
            <a:off x="3611880" y="4434840"/>
            <a:ext cx="2286000" cy="274320"/>
          </a:xfrm>
          <a:prstGeom prst="rect">
            <a:avLst/>
          </a:prstGeom>
          <a:noFill/>
        </p:spPr>
        <p:txBody>
          <a:bodyPr wrap="square" anchor="t"/>
          <a:lstStyle/>
          <a:p>
            <a:pPr algn="l">
              <a:spcBef>
                <a:spcPts val="0"/>
              </a:spcBef>
              <a:spcAft>
                <a:spcPts val="0"/>
              </a:spcAft>
              <a:lnSpc>
                <a:spcPct val="120000"/>
              </a:lnSpc>
            </a:pPr>
            <a:r>
              <a:rPr sz="1400" b="1">
                <a:solidFill>
                  <a:srgbClr val="5B8DB8"/>
                </a:solidFill>
                <a:latin typeface="Georgia"/>
              </a:rPr>
              <a:t>WHOOP</a:t>
            </a:r>
          </a:p>
        </p:txBody>
      </p:sp>
      <p:sp>
        <p:nvSpPr>
          <p:cNvPr id="17" name="TextBox 16"/>
          <p:cNvSpPr txBox="1"/>
          <p:nvPr/>
        </p:nvSpPr>
        <p:spPr>
          <a:xfrm>
            <a:off x="3611880" y="4709160"/>
            <a:ext cx="2286000" cy="1097280"/>
          </a:xfrm>
          <a:prstGeom prst="rect">
            <a:avLst/>
          </a:prstGeom>
          <a:noFill/>
        </p:spPr>
        <p:txBody>
          <a:bodyPr wrap="square"/>
          <a:lstStyle/>
          <a:p>
            <a:pPr algn="l">
              <a:spcBef>
                <a:spcPts val="0"/>
              </a:spcBef>
              <a:spcAft>
                <a:spcPts val="200"/>
              </a:spcAft>
              <a:lnSpc>
                <a:spcPct val="120000"/>
              </a:lnSpc>
            </a:pPr>
            <a:r>
              <a:rPr sz="1200" b="0">
                <a:solidFill>
                  <a:srgbClr val="555566"/>
                </a:solidFill>
                <a:latin typeface="Helvetica Neue"/>
              </a:rPr>
              <a:t>$260M rev</a:t>
            </a:r>
          </a:p>
          <a:p>
            <a:pPr algn="l">
              <a:spcBef>
                <a:spcPts val="0"/>
              </a:spcBef>
              <a:spcAft>
                <a:spcPts val="200"/>
              </a:spcAft>
              <a:lnSpc>
                <a:spcPct val="120000"/>
              </a:lnSpc>
            </a:pPr>
            <a:r>
              <a:rPr sz="1200" b="0">
                <a:solidFill>
                  <a:srgbClr val="555566"/>
                </a:solidFill>
                <a:latin typeface="Helvetica Neue"/>
              </a:rPr>
              <a:t>Valuation: $3.7B</a:t>
            </a:r>
          </a:p>
          <a:p>
            <a:pPr algn="l">
              <a:spcBef>
                <a:spcPts val="0"/>
              </a:spcBef>
              <a:spcAft>
                <a:spcPts val="400"/>
              </a:spcAft>
              <a:lnSpc>
                <a:spcPct val="120000"/>
              </a:lnSpc>
            </a:pPr>
            <a:r>
              <a:rPr sz="1200" b="1">
                <a:solidFill>
                  <a:srgbClr val="4EC9B0"/>
                </a:solidFill>
                <a:latin typeface="Helvetica Neue"/>
              </a:rPr>
              <a:t>Rev Multiple: ~14×</a:t>
            </a:r>
          </a:p>
        </p:txBody>
      </p:sp>
      <p:sp>
        <p:nvSpPr>
          <p:cNvPr id="18" name="TextBox 17"/>
          <p:cNvSpPr txBox="1"/>
          <p:nvPr/>
        </p:nvSpPr>
        <p:spPr>
          <a:xfrm>
            <a:off x="6217920" y="4434840"/>
            <a:ext cx="2286000" cy="274320"/>
          </a:xfrm>
          <a:prstGeom prst="rect">
            <a:avLst/>
          </a:prstGeom>
          <a:noFill/>
        </p:spPr>
        <p:txBody>
          <a:bodyPr wrap="square" anchor="t"/>
          <a:lstStyle/>
          <a:p>
            <a:pPr algn="l">
              <a:spcBef>
                <a:spcPts val="0"/>
              </a:spcBef>
              <a:spcAft>
                <a:spcPts val="0"/>
              </a:spcAft>
              <a:lnSpc>
                <a:spcPct val="120000"/>
              </a:lnSpc>
            </a:pPr>
            <a:r>
              <a:rPr sz="1400" b="1">
                <a:solidFill>
                  <a:srgbClr val="5B8DB8"/>
                </a:solidFill>
                <a:latin typeface="Georgia"/>
              </a:rPr>
              <a:t>Calm</a:t>
            </a:r>
          </a:p>
        </p:txBody>
      </p:sp>
      <p:sp>
        <p:nvSpPr>
          <p:cNvPr id="19" name="TextBox 18"/>
          <p:cNvSpPr txBox="1"/>
          <p:nvPr/>
        </p:nvSpPr>
        <p:spPr>
          <a:xfrm>
            <a:off x="6217920" y="4709160"/>
            <a:ext cx="2286000" cy="1097280"/>
          </a:xfrm>
          <a:prstGeom prst="rect">
            <a:avLst/>
          </a:prstGeom>
          <a:noFill/>
        </p:spPr>
        <p:txBody>
          <a:bodyPr wrap="square"/>
          <a:lstStyle/>
          <a:p>
            <a:pPr algn="l">
              <a:spcBef>
                <a:spcPts val="0"/>
              </a:spcBef>
              <a:spcAft>
                <a:spcPts val="200"/>
              </a:spcAft>
              <a:lnSpc>
                <a:spcPct val="120000"/>
              </a:lnSpc>
            </a:pPr>
            <a:r>
              <a:rPr sz="1200" b="0">
                <a:solidFill>
                  <a:srgbClr val="555566"/>
                </a:solidFill>
                <a:latin typeface="Helvetica Neue"/>
              </a:rPr>
              <a:t>$596M rev</a:t>
            </a:r>
          </a:p>
          <a:p>
            <a:pPr algn="l">
              <a:spcBef>
                <a:spcPts val="0"/>
              </a:spcBef>
              <a:spcAft>
                <a:spcPts val="200"/>
              </a:spcAft>
              <a:lnSpc>
                <a:spcPct val="120000"/>
              </a:lnSpc>
            </a:pPr>
            <a:r>
              <a:rPr sz="1200" b="0">
                <a:solidFill>
                  <a:srgbClr val="555566"/>
                </a:solidFill>
                <a:latin typeface="Helvetica Neue"/>
              </a:rPr>
              <a:t>Valuation: $2B</a:t>
            </a:r>
          </a:p>
          <a:p>
            <a:pPr algn="l">
              <a:spcBef>
                <a:spcPts val="0"/>
              </a:spcBef>
              <a:spcAft>
                <a:spcPts val="400"/>
              </a:spcAft>
              <a:lnSpc>
                <a:spcPct val="120000"/>
              </a:lnSpc>
            </a:pPr>
            <a:r>
              <a:rPr sz="1200" b="1">
                <a:solidFill>
                  <a:srgbClr val="4EC9B0"/>
                </a:solidFill>
                <a:latin typeface="Helvetica Neue"/>
              </a:rPr>
              <a:t>Rev Multiple: 3.4×</a:t>
            </a:r>
          </a:p>
        </p:txBody>
      </p:sp>
      <p:sp>
        <p:nvSpPr>
          <p:cNvPr id="20" name="TextBox 19"/>
          <p:cNvSpPr txBox="1"/>
          <p:nvPr/>
        </p:nvSpPr>
        <p:spPr>
          <a:xfrm>
            <a:off x="8823960" y="4434840"/>
            <a:ext cx="2286000" cy="274320"/>
          </a:xfrm>
          <a:prstGeom prst="rect">
            <a:avLst/>
          </a:prstGeom>
          <a:noFill/>
        </p:spPr>
        <p:txBody>
          <a:bodyPr wrap="square" anchor="t"/>
          <a:lstStyle/>
          <a:p>
            <a:pPr algn="l">
              <a:spcBef>
                <a:spcPts val="0"/>
              </a:spcBef>
              <a:spcAft>
                <a:spcPts val="0"/>
              </a:spcAft>
              <a:lnSpc>
                <a:spcPct val="120000"/>
              </a:lnSpc>
            </a:pPr>
            <a:r>
              <a:rPr sz="1400" b="1">
                <a:solidFill>
                  <a:srgbClr val="5B8DB8"/>
                </a:solidFill>
                <a:latin typeface="Georgia"/>
              </a:rPr>
              <a:t>Headspace</a:t>
            </a:r>
          </a:p>
        </p:txBody>
      </p:sp>
      <p:sp>
        <p:nvSpPr>
          <p:cNvPr id="21" name="TextBox 20"/>
          <p:cNvSpPr txBox="1"/>
          <p:nvPr/>
        </p:nvSpPr>
        <p:spPr>
          <a:xfrm>
            <a:off x="8823960" y="4709160"/>
            <a:ext cx="2286000" cy="1097280"/>
          </a:xfrm>
          <a:prstGeom prst="rect">
            <a:avLst/>
          </a:prstGeom>
          <a:noFill/>
        </p:spPr>
        <p:txBody>
          <a:bodyPr wrap="square"/>
          <a:lstStyle/>
          <a:p>
            <a:pPr algn="l">
              <a:spcBef>
                <a:spcPts val="0"/>
              </a:spcBef>
              <a:spcAft>
                <a:spcPts val="200"/>
              </a:spcAft>
              <a:lnSpc>
                <a:spcPct val="120000"/>
              </a:lnSpc>
            </a:pPr>
            <a:r>
              <a:rPr sz="1200" b="0">
                <a:solidFill>
                  <a:srgbClr val="555566"/>
                </a:solidFill>
                <a:latin typeface="Helvetica Neue"/>
              </a:rPr>
              <a:t>$348M rev</a:t>
            </a:r>
          </a:p>
          <a:p>
            <a:pPr algn="l">
              <a:spcBef>
                <a:spcPts val="0"/>
              </a:spcBef>
              <a:spcAft>
                <a:spcPts val="200"/>
              </a:spcAft>
              <a:lnSpc>
                <a:spcPct val="120000"/>
              </a:lnSpc>
            </a:pPr>
            <a:r>
              <a:rPr sz="1200" b="0">
                <a:solidFill>
                  <a:srgbClr val="555566"/>
                </a:solidFill>
                <a:latin typeface="Helvetica Neue"/>
              </a:rPr>
              <a:t>Valuation: $3B</a:t>
            </a:r>
          </a:p>
          <a:p>
            <a:pPr algn="l">
              <a:spcBef>
                <a:spcPts val="0"/>
              </a:spcBef>
              <a:spcAft>
                <a:spcPts val="400"/>
              </a:spcAft>
              <a:lnSpc>
                <a:spcPct val="120000"/>
              </a:lnSpc>
            </a:pPr>
            <a:r>
              <a:rPr sz="1200" b="1">
                <a:solidFill>
                  <a:srgbClr val="4EC9B0"/>
                </a:solidFill>
                <a:latin typeface="Helvetica Neue"/>
              </a:rPr>
              <a:t>Rev Multiple: 8.6×</a:t>
            </a:r>
          </a:p>
        </p:txBody>
      </p:sp>
      <p:sp>
        <p:nvSpPr>
          <p:cNvPr id="22" name="TextBox 21"/>
          <p:cNvSpPr txBox="1"/>
          <p:nvPr/>
        </p:nvSpPr>
        <p:spPr>
          <a:xfrm>
            <a:off x="10789920" y="6309360"/>
            <a:ext cx="1097280" cy="365760"/>
          </a:xfrm>
          <a:prstGeom prst="rect">
            <a:avLst/>
          </a:prstGeom>
          <a:noFill/>
        </p:spPr>
        <p:txBody>
          <a:bodyPr wrap="square" anchor="t"/>
          <a:lstStyle/>
          <a:p>
            <a:pPr algn="r">
              <a:spcBef>
                <a:spcPts val="0"/>
              </a:spcBef>
              <a:spcAft>
                <a:spcPts val="0"/>
              </a:spcAft>
              <a:lnSpc>
                <a:spcPct val="120000"/>
              </a:lnSpc>
            </a:pPr>
            <a:r>
              <a:rPr sz="1000" b="0">
                <a:solidFill>
                  <a:srgbClr val="888899"/>
                </a:solidFill>
                <a:latin typeface="Helvetica Neue"/>
              </a:rPr>
              <a:t>25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