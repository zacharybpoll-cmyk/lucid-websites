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A4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7315200" cy="1097280"/>
          </a:xfrm>
          <a:prstGeom prst="rect">
            <a:avLst/>
          </a:prstGeom>
          <a:noFill/>
        </p:spPr>
        <p:txBody>
          <a:bodyPr wrap="square"/>
          <a:lstStyle/>
          <a:p>
            <a:pPr algn="l">
              <a:defRPr sz="6000" b="1">
                <a:solidFill>
                  <a:srgbClr val="FFFFFF"/>
                </a:solidFill>
                <a:latin typeface="Playfair Display"/>
              </a:defRPr>
            </a:pPr>
            <a:r>
              <a:t>Lucid</a:t>
            </a:r>
          </a:p>
        </p:txBody>
      </p:sp>
      <p:sp>
        <p:nvSpPr>
          <p:cNvPr id="4" name="TextBox 3"/>
          <p:cNvSpPr txBox="1"/>
          <p:nvPr/>
        </p:nvSpPr>
        <p:spPr>
          <a:xfrm>
            <a:off x="1097280" y="2743200"/>
            <a:ext cx="8229600" cy="914400"/>
          </a:xfrm>
          <a:prstGeom prst="rect">
            <a:avLst/>
          </a:prstGeom>
          <a:noFill/>
        </p:spPr>
        <p:txBody>
          <a:bodyPr wrap="square"/>
          <a:lstStyle/>
          <a:p>
            <a:pPr algn="l">
              <a:defRPr sz="3600" b="0">
                <a:solidFill>
                  <a:srgbClr val="D4E4F0"/>
                </a:solidFill>
                <a:latin typeface="Playfair Display"/>
              </a:defRPr>
            </a:pPr>
            <a:r>
              <a:t>User Persona Analysis</a:t>
            </a:r>
          </a:p>
        </p:txBody>
      </p:sp>
      <p:sp>
        <p:nvSpPr>
          <p:cNvPr id="5" name="TextBox 4"/>
          <p:cNvSpPr txBox="1"/>
          <p:nvPr/>
        </p:nvSpPr>
        <p:spPr>
          <a:xfrm>
            <a:off x="1097280" y="3657600"/>
            <a:ext cx="8229600" cy="548640"/>
          </a:xfrm>
          <a:prstGeom prst="rect">
            <a:avLst/>
          </a:prstGeom>
          <a:noFill/>
        </p:spPr>
        <p:txBody>
          <a:bodyPr wrap="square"/>
          <a:lstStyle/>
          <a:p>
            <a:pPr algn="l">
              <a:defRPr sz="1800" b="0" i="1">
                <a:solidFill>
                  <a:srgbClr val="A0B8CC"/>
                </a:solidFill>
                <a:latin typeface="Inter"/>
              </a:defRPr>
            </a:pPr>
            <a:r>
              <a:t>Understanding who we serve and how to reach them.</a:t>
            </a:r>
          </a:p>
        </p:txBody>
      </p:sp>
      <p:sp>
        <p:nvSpPr>
          <p:cNvPr id="6" name="Rectangle 5"/>
          <p:cNvSpPr/>
          <p:nvPr/>
        </p:nvSpPr>
        <p:spPr>
          <a:xfrm>
            <a:off x="1097280" y="457200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846320"/>
            <a:ext cx="5486400" cy="457200"/>
          </a:xfrm>
          <a:prstGeom prst="rect">
            <a:avLst/>
          </a:prstGeom>
          <a:noFill/>
        </p:spPr>
        <p:txBody>
          <a:bodyPr wrap="square"/>
          <a:lstStyle/>
          <a:p>
            <a:pPr algn="l">
              <a:defRPr sz="1400" b="0">
                <a:solidFill>
                  <a:srgbClr val="8099AA"/>
                </a:solidFill>
                <a:latin typeface="Inter"/>
              </a:defRPr>
            </a:pPr>
            <a:r>
              <a:t>March 2026  |  Confidential</a:t>
            </a:r>
          </a:p>
        </p:txBody>
      </p:sp>
      <p:sp>
        <p:nvSpPr>
          <p:cNvPr id="8" name="TextBox 7"/>
          <p:cNvSpPr txBox="1"/>
          <p:nvPr/>
        </p:nvSpPr>
        <p:spPr>
          <a:xfrm>
            <a:off x="9601200" y="1645920"/>
            <a:ext cx="2286000" cy="457200"/>
          </a:xfrm>
          <a:prstGeom prst="rect">
            <a:avLst/>
          </a:prstGeom>
          <a:noFill/>
        </p:spPr>
        <p:txBody>
          <a:bodyPr wrap="square"/>
          <a:lstStyle/>
          <a:p>
            <a:pPr algn="r">
              <a:defRPr sz="3200" b="1">
                <a:solidFill>
                  <a:srgbClr val="5B8DB8"/>
                </a:solidFill>
                <a:latin typeface="Playfair Display"/>
              </a:defRPr>
            </a:pPr>
            <a:r>
              <a:t>5</a:t>
            </a:r>
          </a:p>
        </p:txBody>
      </p:sp>
      <p:sp>
        <p:nvSpPr>
          <p:cNvPr id="9" name="TextBox 8"/>
          <p:cNvSpPr txBox="1"/>
          <p:nvPr/>
        </p:nvSpPr>
        <p:spPr>
          <a:xfrm>
            <a:off x="9601200" y="2057400"/>
            <a:ext cx="2286000" cy="365760"/>
          </a:xfrm>
          <a:prstGeom prst="rect">
            <a:avLst/>
          </a:prstGeom>
          <a:noFill/>
        </p:spPr>
        <p:txBody>
          <a:bodyPr wrap="square"/>
          <a:lstStyle/>
          <a:p>
            <a:pPr algn="r">
              <a:defRPr sz="1300" b="0">
                <a:solidFill>
                  <a:srgbClr val="8099AA"/>
                </a:solidFill>
                <a:latin typeface="Inter"/>
              </a:defRPr>
            </a:pPr>
            <a:r>
              <a:t>Core Personas</a:t>
            </a:r>
          </a:p>
        </p:txBody>
      </p:sp>
      <p:sp>
        <p:nvSpPr>
          <p:cNvPr id="10" name="TextBox 9"/>
          <p:cNvSpPr txBox="1"/>
          <p:nvPr/>
        </p:nvSpPr>
        <p:spPr>
          <a:xfrm>
            <a:off x="9601200" y="2743200"/>
            <a:ext cx="2286000" cy="457200"/>
          </a:xfrm>
          <a:prstGeom prst="rect">
            <a:avLst/>
          </a:prstGeom>
          <a:noFill/>
        </p:spPr>
        <p:txBody>
          <a:bodyPr wrap="square"/>
          <a:lstStyle/>
          <a:p>
            <a:pPr algn="r">
              <a:defRPr sz="3200" b="1">
                <a:solidFill>
                  <a:srgbClr val="5B8DB8"/>
                </a:solidFill>
                <a:latin typeface="Playfair Display"/>
              </a:defRPr>
            </a:pPr>
            <a:r>
              <a:t>20+</a:t>
            </a:r>
          </a:p>
        </p:txBody>
      </p:sp>
      <p:sp>
        <p:nvSpPr>
          <p:cNvPr id="11" name="TextBox 10"/>
          <p:cNvSpPr txBox="1"/>
          <p:nvPr/>
        </p:nvSpPr>
        <p:spPr>
          <a:xfrm>
            <a:off x="9601200" y="3154680"/>
            <a:ext cx="2286000" cy="365760"/>
          </a:xfrm>
          <a:prstGeom prst="rect">
            <a:avLst/>
          </a:prstGeom>
          <a:noFill/>
        </p:spPr>
        <p:txBody>
          <a:bodyPr wrap="square"/>
          <a:lstStyle/>
          <a:p>
            <a:pPr algn="r">
              <a:defRPr sz="1300" b="0">
                <a:solidFill>
                  <a:srgbClr val="8099AA"/>
                </a:solidFill>
                <a:latin typeface="Inter"/>
              </a:defRPr>
            </a:pPr>
            <a:r>
              <a:t>Vocal Biomarkers</a:t>
            </a:r>
          </a:p>
        </p:txBody>
      </p:sp>
      <p:sp>
        <p:nvSpPr>
          <p:cNvPr id="12" name="TextBox 11"/>
          <p:cNvSpPr txBox="1"/>
          <p:nvPr/>
        </p:nvSpPr>
        <p:spPr>
          <a:xfrm>
            <a:off x="9601200" y="3840480"/>
            <a:ext cx="2286000" cy="457200"/>
          </a:xfrm>
          <a:prstGeom prst="rect">
            <a:avLst/>
          </a:prstGeom>
          <a:noFill/>
        </p:spPr>
        <p:txBody>
          <a:bodyPr wrap="square"/>
          <a:lstStyle/>
          <a:p>
            <a:pPr algn="r">
              <a:defRPr sz="3200" b="1">
                <a:solidFill>
                  <a:srgbClr val="5B8DB8"/>
                </a:solidFill>
                <a:latin typeface="Playfair Display"/>
              </a:defRPr>
            </a:pPr>
            <a:r>
              <a:t>$14.99/mo</a:t>
            </a:r>
          </a:p>
        </p:txBody>
      </p:sp>
      <p:sp>
        <p:nvSpPr>
          <p:cNvPr id="13" name="TextBox 12"/>
          <p:cNvSpPr txBox="1"/>
          <p:nvPr/>
        </p:nvSpPr>
        <p:spPr>
          <a:xfrm>
            <a:off x="9601200" y="4251960"/>
            <a:ext cx="2286000" cy="365760"/>
          </a:xfrm>
          <a:prstGeom prst="rect">
            <a:avLst/>
          </a:prstGeom>
          <a:noFill/>
        </p:spPr>
        <p:txBody>
          <a:bodyPr wrap="square"/>
          <a:lstStyle/>
          <a:p>
            <a:pPr algn="r">
              <a:defRPr sz="1300" b="0">
                <a:solidFill>
                  <a:srgbClr val="8099AA"/>
                </a:solidFill>
                <a:latin typeface="Inter"/>
              </a:defRPr>
            </a:pPr>
            <a:r>
              <a:t>Price Point</a:t>
            </a:r>
          </a:p>
        </p:txBody>
      </p:sp>
      <p:sp>
        <p:nvSpPr>
          <p:cNvPr id="14" name="TextBox 13"/>
          <p:cNvSpPr txBox="1"/>
          <p:nvPr/>
        </p:nvSpPr>
        <p:spPr>
          <a:xfrm>
            <a:off x="9601200" y="4937759"/>
            <a:ext cx="2286000" cy="457200"/>
          </a:xfrm>
          <a:prstGeom prst="rect">
            <a:avLst/>
          </a:prstGeom>
          <a:noFill/>
        </p:spPr>
        <p:txBody>
          <a:bodyPr wrap="square"/>
          <a:lstStyle/>
          <a:p>
            <a:pPr algn="r">
              <a:defRPr sz="3200" b="1">
                <a:solidFill>
                  <a:srgbClr val="5B8DB8"/>
                </a:solidFill>
                <a:latin typeface="Playfair Display"/>
              </a:defRPr>
            </a:pPr>
            <a:r>
              <a:t>100%</a:t>
            </a:r>
          </a:p>
        </p:txBody>
      </p:sp>
      <p:sp>
        <p:nvSpPr>
          <p:cNvPr id="15" name="TextBox 14"/>
          <p:cNvSpPr txBox="1"/>
          <p:nvPr/>
        </p:nvSpPr>
        <p:spPr>
          <a:xfrm>
            <a:off x="9601200" y="5349239"/>
            <a:ext cx="2286000" cy="365760"/>
          </a:xfrm>
          <a:prstGeom prst="rect">
            <a:avLst/>
          </a:prstGeom>
          <a:noFill/>
        </p:spPr>
        <p:txBody>
          <a:bodyPr wrap="square"/>
          <a:lstStyle/>
          <a:p>
            <a:pPr algn="r">
              <a:defRPr sz="1300" b="0">
                <a:solidFill>
                  <a:srgbClr val="8099AA"/>
                </a:solidFill>
                <a:latin typeface="Inter"/>
              </a:defRPr>
            </a:pPr>
            <a:r>
              <a:t>On-Device Privacy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457200"/>
            <a:ext cx="7315200" cy="548640"/>
          </a:xfrm>
          <a:prstGeom prst="rect">
            <a:avLst/>
          </a:prstGeom>
          <a:noFill/>
        </p:spPr>
        <p:txBody>
          <a:bodyPr wrap="square"/>
          <a:lstStyle/>
          <a:p>
            <a:pPr algn="l">
              <a:defRPr sz="3200" b="1">
                <a:solidFill>
                  <a:srgbClr val="1A1D21"/>
                </a:solidFill>
                <a:latin typeface="Playfair Display"/>
              </a:defRPr>
            </a:pPr>
            <a:r>
              <a:t>Why Personas Matter</a:t>
            </a:r>
          </a:p>
        </p:txBody>
      </p:sp>
      <p:sp>
        <p:nvSpPr>
          <p:cNvPr id="3" name="Rectangle 2"/>
          <p:cNvSpPr/>
          <p:nvPr/>
        </p:nvSpPr>
        <p:spPr>
          <a:xfrm>
            <a:off x="731520" y="105156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6858000" cy="1097280"/>
          </a:xfrm>
          <a:prstGeom prst="rect">
            <a:avLst/>
          </a:prstGeom>
          <a:noFill/>
        </p:spPr>
        <p:txBody>
          <a:bodyPr wrap="square"/>
          <a:lstStyle/>
          <a:p>
            <a:pPr algn="l">
              <a:defRPr sz="1500" b="0">
                <a:solidFill>
                  <a:srgbClr val="5A6270"/>
                </a:solidFill>
                <a:latin typeface="Inter"/>
              </a:defRPr>
            </a:pPr>
            <a:r>
              <a:t>Lucid is a passive voice wellness monitor. But different users come for different reasons, stay for different features, and respond to different messaging. Understanding these five personas lets us craft targeted acquisition funnels, prioritize features by impact, and speak each user's language.</a:t>
            </a:r>
          </a:p>
        </p:txBody>
      </p:sp>
      <p:sp>
        <p:nvSpPr>
          <p:cNvPr id="5" name="Rounded Rectangle 4"/>
          <p:cNvSpPr/>
          <p:nvPr/>
        </p:nvSpPr>
        <p:spPr>
          <a:xfrm>
            <a:off x="731520" y="2743200"/>
            <a:ext cx="2651760" cy="34747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743200"/>
            <a:ext cx="2651760" cy="635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3063240"/>
            <a:ext cx="457200" cy="45720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Inter"/>
              </a:defRPr>
            </a:pPr>
            <a:r>
              <a:t>1</a:t>
            </a:r>
          </a:p>
        </p:txBody>
      </p:sp>
      <p:sp>
        <p:nvSpPr>
          <p:cNvPr id="8" name="TextBox 7"/>
          <p:cNvSpPr txBox="1"/>
          <p:nvPr/>
        </p:nvSpPr>
        <p:spPr>
          <a:xfrm>
            <a:off x="1508760" y="3063240"/>
            <a:ext cx="1645920" cy="457200"/>
          </a:xfrm>
          <a:prstGeom prst="rect">
            <a:avLst/>
          </a:prstGeom>
          <a:noFill/>
        </p:spPr>
        <p:txBody>
          <a:bodyPr wrap="square"/>
          <a:lstStyle/>
          <a:p>
            <a:pPr algn="l">
              <a:defRPr sz="1500" b="1">
                <a:solidFill>
                  <a:srgbClr val="1A1D21"/>
                </a:solidFill>
                <a:latin typeface="Playfair Display"/>
              </a:defRPr>
            </a:pPr>
            <a:r>
              <a:t>The Burned-Out Builder</a:t>
            </a:r>
          </a:p>
        </p:txBody>
      </p:sp>
      <p:sp>
        <p:nvSpPr>
          <p:cNvPr id="9" name="TextBox 8"/>
          <p:cNvSpPr txBox="1"/>
          <p:nvPr/>
        </p:nvSpPr>
        <p:spPr>
          <a:xfrm>
            <a:off x="914400" y="3749040"/>
            <a:ext cx="2286000" cy="1097280"/>
          </a:xfrm>
          <a:prstGeom prst="rect">
            <a:avLst/>
          </a:prstGeom>
          <a:noFill/>
        </p:spPr>
        <p:txBody>
          <a:bodyPr wrap="square"/>
          <a:lstStyle/>
          <a:p>
            <a:pPr algn="l">
              <a:defRPr sz="1200" b="0">
                <a:solidFill>
                  <a:srgbClr val="5A6270"/>
                </a:solidFill>
                <a:latin typeface="Inter"/>
              </a:defRPr>
            </a:pPr>
            <a:r>
              <a:t>Tech workers drowning in</a:t>
            </a:r>
            <a:br/>
            <a:r>
              <a:t>meetings and screen time</a:t>
            </a:r>
          </a:p>
        </p:txBody>
      </p:sp>
      <p:sp>
        <p:nvSpPr>
          <p:cNvPr id="10" name="Rounded Rectangle 9"/>
          <p:cNvSpPr/>
          <p:nvPr/>
        </p:nvSpPr>
        <p:spPr>
          <a:xfrm>
            <a:off x="914400" y="5303520"/>
            <a:ext cx="2286000" cy="365760"/>
          </a:xfrm>
          <a:prstGeom prst="roundRect">
            <a:avLst>
              <a:gd name="adj" fmla="val 5000"/>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49240"/>
            <a:ext cx="2286000" cy="274320"/>
          </a:xfrm>
          <a:prstGeom prst="rect">
            <a:avLst/>
          </a:prstGeom>
          <a:noFill/>
        </p:spPr>
        <p:txBody>
          <a:bodyPr wrap="square"/>
          <a:lstStyle/>
          <a:p>
            <a:pPr algn="ctr">
              <a:defRPr sz="1100" b="1">
                <a:solidFill>
                  <a:srgbClr val="5B8DB8"/>
                </a:solidFill>
                <a:latin typeface="Inter"/>
              </a:defRPr>
            </a:pPr>
            <a:r>
              <a:t>34% of the TAM</a:t>
            </a:r>
          </a:p>
        </p:txBody>
      </p:sp>
      <p:sp>
        <p:nvSpPr>
          <p:cNvPr id="12" name="Rounded Rectangle 11"/>
          <p:cNvSpPr/>
          <p:nvPr/>
        </p:nvSpPr>
        <p:spPr>
          <a:xfrm>
            <a:off x="3566160" y="2743200"/>
            <a:ext cx="2651760" cy="34747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66160" y="2743200"/>
            <a:ext cx="2651760" cy="635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49040" y="3063240"/>
            <a:ext cx="457200" cy="457200"/>
          </a:xfrm>
          <a:prstGeom prst="ellipse">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Inter"/>
              </a:defRPr>
            </a:pPr>
            <a:r>
              <a:t>2</a:t>
            </a:r>
          </a:p>
        </p:txBody>
      </p:sp>
      <p:sp>
        <p:nvSpPr>
          <p:cNvPr id="15" name="TextBox 14"/>
          <p:cNvSpPr txBox="1"/>
          <p:nvPr/>
        </p:nvSpPr>
        <p:spPr>
          <a:xfrm>
            <a:off x="4343400" y="3063240"/>
            <a:ext cx="1645920" cy="457200"/>
          </a:xfrm>
          <a:prstGeom prst="rect">
            <a:avLst/>
          </a:prstGeom>
          <a:noFill/>
        </p:spPr>
        <p:txBody>
          <a:bodyPr wrap="square"/>
          <a:lstStyle/>
          <a:p>
            <a:pPr algn="l">
              <a:defRPr sz="1500" b="1">
                <a:solidFill>
                  <a:srgbClr val="1A1D21"/>
                </a:solidFill>
                <a:latin typeface="Playfair Display"/>
              </a:defRPr>
            </a:pPr>
            <a:r>
              <a:t>The Optimization Architect</a:t>
            </a:r>
          </a:p>
        </p:txBody>
      </p:sp>
      <p:sp>
        <p:nvSpPr>
          <p:cNvPr id="16" name="TextBox 15"/>
          <p:cNvSpPr txBox="1"/>
          <p:nvPr/>
        </p:nvSpPr>
        <p:spPr>
          <a:xfrm>
            <a:off x="3749040" y="3749040"/>
            <a:ext cx="2286000" cy="1097280"/>
          </a:xfrm>
          <a:prstGeom prst="rect">
            <a:avLst/>
          </a:prstGeom>
          <a:noFill/>
        </p:spPr>
        <p:txBody>
          <a:bodyPr wrap="square"/>
          <a:lstStyle/>
          <a:p>
            <a:pPr algn="l">
              <a:defRPr sz="1200" b="0">
                <a:solidFill>
                  <a:srgbClr val="5A6270"/>
                </a:solidFill>
                <a:latin typeface="Inter"/>
              </a:defRPr>
            </a:pPr>
            <a:r>
              <a:t>Longevity-focused biohackers</a:t>
            </a:r>
            <a:br/>
            <a:r>
              <a:t>who track everything</a:t>
            </a:r>
          </a:p>
        </p:txBody>
      </p:sp>
      <p:sp>
        <p:nvSpPr>
          <p:cNvPr id="17" name="Rounded Rectangle 16"/>
          <p:cNvSpPr/>
          <p:nvPr/>
        </p:nvSpPr>
        <p:spPr>
          <a:xfrm>
            <a:off x="3749040" y="5303520"/>
            <a:ext cx="2286000" cy="365760"/>
          </a:xfrm>
          <a:prstGeom prst="roundRect">
            <a:avLst>
              <a:gd name="adj" fmla="val 5000"/>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40" y="5349240"/>
            <a:ext cx="2286000" cy="274320"/>
          </a:xfrm>
          <a:prstGeom prst="rect">
            <a:avLst/>
          </a:prstGeom>
          <a:noFill/>
        </p:spPr>
        <p:txBody>
          <a:bodyPr wrap="square"/>
          <a:lstStyle/>
          <a:p>
            <a:pPr algn="ctr">
              <a:defRPr sz="1100" b="1">
                <a:solidFill>
                  <a:srgbClr val="6BA37E"/>
                </a:solidFill>
                <a:latin typeface="Inter"/>
              </a:defRPr>
            </a:pPr>
            <a:r>
              <a:t>28% of the TAM</a:t>
            </a:r>
          </a:p>
        </p:txBody>
      </p:sp>
      <p:sp>
        <p:nvSpPr>
          <p:cNvPr id="19" name="Rounded Rectangle 18"/>
          <p:cNvSpPr/>
          <p:nvPr/>
        </p:nvSpPr>
        <p:spPr>
          <a:xfrm>
            <a:off x="6400800" y="2743200"/>
            <a:ext cx="2651760" cy="34747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2743200"/>
            <a:ext cx="2651760" cy="635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0" y="3063240"/>
            <a:ext cx="457200" cy="457200"/>
          </a:xfrm>
          <a:prstGeom prst="ellipse">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Inter"/>
              </a:defRPr>
            </a:pPr>
            <a:r>
              <a:t>3</a:t>
            </a:r>
          </a:p>
        </p:txBody>
      </p:sp>
      <p:sp>
        <p:nvSpPr>
          <p:cNvPr id="22" name="TextBox 21"/>
          <p:cNvSpPr txBox="1"/>
          <p:nvPr/>
        </p:nvSpPr>
        <p:spPr>
          <a:xfrm>
            <a:off x="7178040" y="3063240"/>
            <a:ext cx="1645920" cy="457200"/>
          </a:xfrm>
          <a:prstGeom prst="rect">
            <a:avLst/>
          </a:prstGeom>
          <a:noFill/>
        </p:spPr>
        <p:txBody>
          <a:bodyPr wrap="square"/>
          <a:lstStyle/>
          <a:p>
            <a:pPr algn="l">
              <a:defRPr sz="1500" b="1">
                <a:solidFill>
                  <a:srgbClr val="1A1D21"/>
                </a:solidFill>
                <a:latin typeface="Playfair Display"/>
              </a:defRPr>
            </a:pPr>
            <a:r>
              <a:t>The System Skeptic</a:t>
            </a:r>
          </a:p>
        </p:txBody>
      </p:sp>
      <p:sp>
        <p:nvSpPr>
          <p:cNvPr id="23" name="TextBox 22"/>
          <p:cNvSpPr txBox="1"/>
          <p:nvPr/>
        </p:nvSpPr>
        <p:spPr>
          <a:xfrm>
            <a:off x="6583680" y="3749040"/>
            <a:ext cx="2286000" cy="1097280"/>
          </a:xfrm>
          <a:prstGeom prst="rect">
            <a:avLst/>
          </a:prstGeom>
          <a:noFill/>
        </p:spPr>
        <p:txBody>
          <a:bodyPr wrap="square"/>
          <a:lstStyle/>
          <a:p>
            <a:pPr algn="l">
              <a:defRPr sz="1200" b="0">
                <a:solidFill>
                  <a:srgbClr val="5A6270"/>
                </a:solidFill>
                <a:latin typeface="Inter"/>
              </a:defRPr>
            </a:pPr>
            <a:r>
              <a:t>Privacy-first individuals who</a:t>
            </a:r>
            <a:br/>
            <a:r>
              <a:t>don't trust the healthcare system</a:t>
            </a:r>
          </a:p>
        </p:txBody>
      </p:sp>
      <p:sp>
        <p:nvSpPr>
          <p:cNvPr id="24" name="Rounded Rectangle 23"/>
          <p:cNvSpPr/>
          <p:nvPr/>
        </p:nvSpPr>
        <p:spPr>
          <a:xfrm>
            <a:off x="6583680" y="5303520"/>
            <a:ext cx="2286000" cy="365760"/>
          </a:xfrm>
          <a:prstGeom prst="roundRect">
            <a:avLst>
              <a:gd name="adj" fmla="val 5000"/>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5349240"/>
            <a:ext cx="2286000" cy="274320"/>
          </a:xfrm>
          <a:prstGeom prst="rect">
            <a:avLst/>
          </a:prstGeom>
          <a:noFill/>
        </p:spPr>
        <p:txBody>
          <a:bodyPr wrap="square"/>
          <a:lstStyle/>
          <a:p>
            <a:pPr algn="ctr">
              <a:defRPr sz="1100" b="1">
                <a:solidFill>
                  <a:srgbClr val="9B7EB8"/>
                </a:solidFill>
                <a:latin typeface="Inter"/>
              </a:defRPr>
            </a:pPr>
            <a:r>
              <a:t>22% of the TAM</a:t>
            </a:r>
          </a:p>
        </p:txBody>
      </p:sp>
      <p:sp>
        <p:nvSpPr>
          <p:cNvPr id="26" name="Rounded Rectangle 25"/>
          <p:cNvSpPr/>
          <p:nvPr/>
        </p:nvSpPr>
        <p:spPr>
          <a:xfrm>
            <a:off x="9235440" y="2743200"/>
            <a:ext cx="2651760" cy="34747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35440" y="2743200"/>
            <a:ext cx="2651760" cy="635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18320" y="3063240"/>
            <a:ext cx="457200" cy="457200"/>
          </a:xfrm>
          <a:prstGeom prst="ellipse">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Inter"/>
              </a:defRPr>
            </a:pPr>
            <a:r>
              <a:t>4</a:t>
            </a:r>
          </a:p>
        </p:txBody>
      </p:sp>
      <p:sp>
        <p:nvSpPr>
          <p:cNvPr id="29" name="TextBox 28"/>
          <p:cNvSpPr txBox="1"/>
          <p:nvPr/>
        </p:nvSpPr>
        <p:spPr>
          <a:xfrm>
            <a:off x="10012680" y="3063240"/>
            <a:ext cx="1645920" cy="457200"/>
          </a:xfrm>
          <a:prstGeom prst="rect">
            <a:avLst/>
          </a:prstGeom>
          <a:noFill/>
        </p:spPr>
        <p:txBody>
          <a:bodyPr wrap="square"/>
          <a:lstStyle/>
          <a:p>
            <a:pPr algn="l">
              <a:defRPr sz="1500" b="1">
                <a:solidFill>
                  <a:srgbClr val="1A1D21"/>
                </a:solidFill>
                <a:latin typeface="Playfair Display"/>
              </a:defRPr>
            </a:pPr>
            <a:r>
              <a:t>The Performance Athlete</a:t>
            </a:r>
          </a:p>
        </p:txBody>
      </p:sp>
      <p:sp>
        <p:nvSpPr>
          <p:cNvPr id="30" name="TextBox 29"/>
          <p:cNvSpPr txBox="1"/>
          <p:nvPr/>
        </p:nvSpPr>
        <p:spPr>
          <a:xfrm>
            <a:off x="9418320" y="3749040"/>
            <a:ext cx="2286000" cy="1097280"/>
          </a:xfrm>
          <a:prstGeom prst="rect">
            <a:avLst/>
          </a:prstGeom>
          <a:noFill/>
        </p:spPr>
        <p:txBody>
          <a:bodyPr wrap="square"/>
          <a:lstStyle/>
          <a:p>
            <a:pPr algn="l">
              <a:defRPr sz="1200" b="0">
                <a:solidFill>
                  <a:srgbClr val="5A6270"/>
                </a:solidFill>
                <a:latin typeface="Inter"/>
              </a:defRPr>
            </a:pPr>
            <a:r>
              <a:t>Weekend warriors &amp; competitors</a:t>
            </a:r>
            <a:br/>
            <a:r>
              <a:t>whose mental edge defines results</a:t>
            </a:r>
          </a:p>
        </p:txBody>
      </p:sp>
      <p:sp>
        <p:nvSpPr>
          <p:cNvPr id="31" name="Rounded Rectangle 30"/>
          <p:cNvSpPr/>
          <p:nvPr/>
        </p:nvSpPr>
        <p:spPr>
          <a:xfrm>
            <a:off x="9418320" y="5303520"/>
            <a:ext cx="2286000" cy="365760"/>
          </a:xfrm>
          <a:prstGeom prst="roundRect">
            <a:avLst>
              <a:gd name="adj" fmla="val 5000"/>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0" y="5349240"/>
            <a:ext cx="2286000" cy="274320"/>
          </a:xfrm>
          <a:prstGeom prst="rect">
            <a:avLst/>
          </a:prstGeom>
          <a:noFill/>
        </p:spPr>
        <p:txBody>
          <a:bodyPr wrap="square"/>
          <a:lstStyle/>
          <a:p>
            <a:pPr algn="ctr">
              <a:defRPr sz="1100" b="1">
                <a:solidFill>
                  <a:srgbClr val="C47A5A"/>
                </a:solidFill>
                <a:latin typeface="Inter"/>
              </a:defRPr>
            </a:pPr>
            <a:r>
              <a:t>16% of the TAM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3657600" cy="365760"/>
          </a:xfrm>
          <a:prstGeom prst="rect">
            <a:avLst/>
          </a:prstGeom>
          <a:noFill/>
        </p:spPr>
        <p:txBody>
          <a:bodyPr wrap="square"/>
          <a:lstStyle/>
          <a:p>
            <a:pPr algn="l">
              <a:defRPr sz="1200" b="1">
                <a:solidFill>
                  <a:srgbClr val="5B8DB8"/>
                </a:solidFill>
                <a:latin typeface="Inter"/>
              </a:defRPr>
            </a:pPr>
            <a:r>
              <a:t>PERSONA 1</a:t>
            </a:r>
          </a:p>
        </p:txBody>
      </p:sp>
      <p:sp>
        <p:nvSpPr>
          <p:cNvPr id="5" name="TextBox 4"/>
          <p:cNvSpPr txBox="1"/>
          <p:nvPr/>
        </p:nvSpPr>
        <p:spPr>
          <a:xfrm>
            <a:off x="731520" y="411480"/>
            <a:ext cx="7315200" cy="548640"/>
          </a:xfrm>
          <a:prstGeom prst="rect">
            <a:avLst/>
          </a:prstGeom>
          <a:noFill/>
        </p:spPr>
        <p:txBody>
          <a:bodyPr wrap="square"/>
          <a:lstStyle/>
          <a:p>
            <a:pPr algn="l">
              <a:defRPr sz="3000" b="1">
                <a:solidFill>
                  <a:srgbClr val="FFFFFF"/>
                </a:solidFill>
                <a:latin typeface="Playfair Display"/>
              </a:defRPr>
            </a:pPr>
            <a:r>
              <a:t>The Burned-Out Builder</a:t>
            </a:r>
          </a:p>
        </p:txBody>
      </p:sp>
      <p:sp>
        <p:nvSpPr>
          <p:cNvPr id="6" name="TextBox 5"/>
          <p:cNvSpPr txBox="1"/>
          <p:nvPr/>
        </p:nvSpPr>
        <p:spPr>
          <a:xfrm>
            <a:off x="731520" y="1463040"/>
            <a:ext cx="5029200" cy="365760"/>
          </a:xfrm>
          <a:prstGeom prst="rect">
            <a:avLst/>
          </a:prstGeom>
          <a:noFill/>
        </p:spPr>
        <p:txBody>
          <a:bodyPr wrap="square"/>
          <a:lstStyle/>
          <a:p>
            <a:pPr algn="l">
              <a:defRPr sz="2000" b="1">
                <a:solidFill>
                  <a:srgbClr val="1A1D21"/>
                </a:solidFill>
                <a:latin typeface="Playfair Display"/>
              </a:defRPr>
            </a:pPr>
            <a:r>
              <a:t>Who They Are</a:t>
            </a:r>
          </a:p>
        </p:txBody>
      </p:sp>
      <p:sp>
        <p:nvSpPr>
          <p:cNvPr id="7" name="TextBox 6"/>
          <p:cNvSpPr txBox="1"/>
          <p:nvPr/>
        </p:nvSpPr>
        <p:spPr>
          <a:xfrm>
            <a:off x="731520" y="1920240"/>
            <a:ext cx="1645920" cy="274320"/>
          </a:xfrm>
          <a:prstGeom prst="rect">
            <a:avLst/>
          </a:prstGeom>
          <a:noFill/>
        </p:spPr>
        <p:txBody>
          <a:bodyPr wrap="square"/>
          <a:lstStyle/>
          <a:p>
            <a:pPr algn="l">
              <a:defRPr sz="1100" b="1">
                <a:solidFill>
                  <a:srgbClr val="5B8DB8"/>
                </a:solidFill>
                <a:latin typeface="Inter"/>
              </a:defRPr>
            </a:pPr>
            <a:r>
              <a:t>Demographics</a:t>
            </a:r>
          </a:p>
        </p:txBody>
      </p:sp>
      <p:sp>
        <p:nvSpPr>
          <p:cNvPr id="8" name="TextBox 7"/>
          <p:cNvSpPr txBox="1"/>
          <p:nvPr/>
        </p:nvSpPr>
        <p:spPr>
          <a:xfrm>
            <a:off x="2560320" y="1920240"/>
            <a:ext cx="3657600" cy="914400"/>
          </a:xfrm>
          <a:prstGeom prst="rect">
            <a:avLst/>
          </a:prstGeom>
          <a:noFill/>
        </p:spPr>
        <p:txBody>
          <a:bodyPr wrap="square"/>
          <a:lstStyle/>
          <a:p>
            <a:pPr algn="l">
              <a:defRPr sz="1100" b="0">
                <a:solidFill>
                  <a:srgbClr val="5A6270"/>
                </a:solidFill>
                <a:latin typeface="Inter"/>
              </a:defRPr>
            </a:pPr>
            <a:r>
              <a:t>25-40 years old  |  $80K-$200K income  |  Urban/suburban</a:t>
            </a:r>
            <a:br/>
            <a:r>
              <a:t>Software engineers, product managers, designers, tech founders</a:t>
            </a:r>
          </a:p>
        </p:txBody>
      </p:sp>
      <p:sp>
        <p:nvSpPr>
          <p:cNvPr id="9" name="TextBox 8"/>
          <p:cNvSpPr txBox="1"/>
          <p:nvPr/>
        </p:nvSpPr>
        <p:spPr>
          <a:xfrm>
            <a:off x="731520" y="3017520"/>
            <a:ext cx="1645920" cy="274320"/>
          </a:xfrm>
          <a:prstGeom prst="rect">
            <a:avLst/>
          </a:prstGeom>
          <a:noFill/>
        </p:spPr>
        <p:txBody>
          <a:bodyPr wrap="square"/>
          <a:lstStyle/>
          <a:p>
            <a:pPr algn="l">
              <a:defRPr sz="1100" b="1">
                <a:solidFill>
                  <a:srgbClr val="5B8DB8"/>
                </a:solidFill>
                <a:latin typeface="Inter"/>
              </a:defRPr>
            </a:pPr>
            <a:r>
              <a:t>Psychographics</a:t>
            </a:r>
          </a:p>
        </p:txBody>
      </p:sp>
      <p:sp>
        <p:nvSpPr>
          <p:cNvPr id="10" name="TextBox 9"/>
          <p:cNvSpPr txBox="1"/>
          <p:nvPr/>
        </p:nvSpPr>
        <p:spPr>
          <a:xfrm>
            <a:off x="2560320" y="3017520"/>
            <a:ext cx="3657600" cy="914400"/>
          </a:xfrm>
          <a:prstGeom prst="rect">
            <a:avLst/>
          </a:prstGeom>
          <a:noFill/>
        </p:spPr>
        <p:txBody>
          <a:bodyPr wrap="square"/>
          <a:lstStyle/>
          <a:p>
            <a:pPr algn="l">
              <a:defRPr sz="1100" b="0">
                <a:solidFill>
                  <a:srgbClr val="5A6270"/>
                </a:solidFill>
                <a:latin typeface="Inter"/>
              </a:defRPr>
            </a:pPr>
            <a:r>
              <a:t>Achievement-oriented but increasingly aware of burnout cost.</a:t>
            </a:r>
            <a:br/>
            <a:r>
              <a:t>They've seen colleagues flame out. They want data, not therapy.</a:t>
            </a:r>
            <a:br/>
            <a:r>
              <a:t>Identity: 'I optimize everything — except my mental health.'</a:t>
            </a:r>
          </a:p>
        </p:txBody>
      </p:sp>
      <p:sp>
        <p:nvSpPr>
          <p:cNvPr id="11" name="TextBox 10"/>
          <p:cNvSpPr txBox="1"/>
          <p:nvPr/>
        </p:nvSpPr>
        <p:spPr>
          <a:xfrm>
            <a:off x="731520" y="4114800"/>
            <a:ext cx="1645920" cy="274320"/>
          </a:xfrm>
          <a:prstGeom prst="rect">
            <a:avLst/>
          </a:prstGeom>
          <a:noFill/>
        </p:spPr>
        <p:txBody>
          <a:bodyPr wrap="square"/>
          <a:lstStyle/>
          <a:p>
            <a:pPr algn="l">
              <a:defRPr sz="1100" b="1">
                <a:solidFill>
                  <a:srgbClr val="5B8DB8"/>
                </a:solidFill>
                <a:latin typeface="Inter"/>
              </a:defRPr>
            </a:pPr>
            <a:r>
              <a:t>Current Tools</a:t>
            </a:r>
          </a:p>
        </p:txBody>
      </p:sp>
      <p:sp>
        <p:nvSpPr>
          <p:cNvPr id="12" name="TextBox 11"/>
          <p:cNvSpPr txBox="1"/>
          <p:nvPr/>
        </p:nvSpPr>
        <p:spPr>
          <a:xfrm>
            <a:off x="2560320" y="4114800"/>
            <a:ext cx="3657600" cy="914400"/>
          </a:xfrm>
          <a:prstGeom prst="rect">
            <a:avLst/>
          </a:prstGeom>
          <a:noFill/>
        </p:spPr>
        <p:txBody>
          <a:bodyPr wrap="square"/>
          <a:lstStyle/>
          <a:p>
            <a:pPr algn="l">
              <a:defRPr sz="1100" b="0">
                <a:solidFill>
                  <a:srgbClr val="5A6270"/>
                </a:solidFill>
                <a:latin typeface="Inter"/>
              </a:defRPr>
            </a:pPr>
            <a:r>
              <a:t>Slack, Zoom, Google Calendar (11+ meetings/week avg)</a:t>
            </a:r>
            <a:br/>
            <a:r>
              <a:t>Oura/Apple Watch for physical tracking</a:t>
            </a:r>
            <a:br/>
            <a:r>
              <a:t>Calm/Headspace (tried, abandoned — 3.3% 30-day retention)</a:t>
            </a:r>
          </a:p>
        </p:txBody>
      </p:sp>
      <p:sp>
        <p:nvSpPr>
          <p:cNvPr id="13" name="TextBox 12"/>
          <p:cNvSpPr txBox="1"/>
          <p:nvPr/>
        </p:nvSpPr>
        <p:spPr>
          <a:xfrm>
            <a:off x="731520" y="5212080"/>
            <a:ext cx="1645920" cy="274320"/>
          </a:xfrm>
          <a:prstGeom prst="rect">
            <a:avLst/>
          </a:prstGeom>
          <a:noFill/>
        </p:spPr>
        <p:txBody>
          <a:bodyPr wrap="square"/>
          <a:lstStyle/>
          <a:p>
            <a:pPr algn="l">
              <a:defRPr sz="1100" b="1">
                <a:solidFill>
                  <a:srgbClr val="5B8DB8"/>
                </a:solidFill>
                <a:latin typeface="Inter"/>
              </a:defRPr>
            </a:pPr>
            <a:r>
              <a:t>Spending</a:t>
            </a:r>
          </a:p>
        </p:txBody>
      </p:sp>
      <p:sp>
        <p:nvSpPr>
          <p:cNvPr id="14" name="TextBox 13"/>
          <p:cNvSpPr txBox="1"/>
          <p:nvPr/>
        </p:nvSpPr>
        <p:spPr>
          <a:xfrm>
            <a:off x="2560320" y="5212080"/>
            <a:ext cx="3657600" cy="914400"/>
          </a:xfrm>
          <a:prstGeom prst="rect">
            <a:avLst/>
          </a:prstGeom>
          <a:noFill/>
        </p:spPr>
        <p:txBody>
          <a:bodyPr wrap="square"/>
          <a:lstStyle/>
          <a:p>
            <a:pPr algn="l">
              <a:defRPr sz="1100" b="0">
                <a:solidFill>
                  <a:srgbClr val="5A6270"/>
                </a:solidFill>
                <a:latin typeface="Inter"/>
              </a:defRPr>
            </a:pPr>
            <a:r>
              <a:t>$5,321/year avg on wellness (Fortune/GWI 2024)</a:t>
            </a:r>
            <a:br/>
            <a:r>
              <a:t>Willing to pay $6.50+/month for health apps (58.9% WTP)</a:t>
            </a:r>
          </a:p>
        </p:txBody>
      </p:sp>
      <p:sp>
        <p:nvSpPr>
          <p:cNvPr id="15" name="Rounded Rectangle 14"/>
          <p:cNvSpPr/>
          <p:nvPr/>
        </p:nvSpPr>
        <p:spPr>
          <a:xfrm>
            <a:off x="6858000" y="1463040"/>
            <a:ext cx="4572000" cy="50292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463040"/>
            <a:ext cx="457200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645920"/>
            <a:ext cx="4114800" cy="365760"/>
          </a:xfrm>
          <a:prstGeom prst="rect">
            <a:avLst/>
          </a:prstGeom>
          <a:noFill/>
        </p:spPr>
        <p:txBody>
          <a:bodyPr wrap="square"/>
          <a:lstStyle/>
          <a:p>
            <a:pPr algn="l">
              <a:defRPr sz="1800" b="1">
                <a:solidFill>
                  <a:srgbClr val="1A1D21"/>
                </a:solidFill>
                <a:latin typeface="Playfair Display"/>
              </a:defRPr>
            </a:pPr>
            <a:r>
              <a:t>The Pain by the Numbers</a:t>
            </a:r>
          </a:p>
        </p:txBody>
      </p:sp>
      <p:sp>
        <p:nvSpPr>
          <p:cNvPr id="18" name="TextBox 17"/>
          <p:cNvSpPr txBox="1"/>
          <p:nvPr/>
        </p:nvSpPr>
        <p:spPr>
          <a:xfrm>
            <a:off x="7132320" y="2148840"/>
            <a:ext cx="1097280" cy="320040"/>
          </a:xfrm>
          <a:prstGeom prst="rect">
            <a:avLst/>
          </a:prstGeom>
          <a:noFill/>
        </p:spPr>
        <p:txBody>
          <a:bodyPr wrap="square"/>
          <a:lstStyle/>
          <a:p>
            <a:pPr algn="l">
              <a:defRPr sz="1800" b="1">
                <a:solidFill>
                  <a:srgbClr val="5B8DB8"/>
                </a:solidFill>
                <a:latin typeface="Inter"/>
              </a:defRPr>
            </a:pPr>
            <a:r>
              <a:t>82%</a:t>
            </a:r>
          </a:p>
        </p:txBody>
      </p:sp>
      <p:sp>
        <p:nvSpPr>
          <p:cNvPr id="19" name="TextBox 18"/>
          <p:cNvSpPr txBox="1"/>
          <p:nvPr/>
        </p:nvSpPr>
        <p:spPr>
          <a:xfrm>
            <a:off x="8321040" y="2176272"/>
            <a:ext cx="2926080" cy="320040"/>
          </a:xfrm>
          <a:prstGeom prst="rect">
            <a:avLst/>
          </a:prstGeom>
          <a:noFill/>
        </p:spPr>
        <p:txBody>
          <a:bodyPr wrap="square"/>
          <a:lstStyle/>
          <a:p>
            <a:pPr algn="l">
              <a:defRPr sz="1100" b="0">
                <a:solidFill>
                  <a:srgbClr val="5A6270"/>
                </a:solidFill>
                <a:latin typeface="Inter"/>
              </a:defRPr>
            </a:pPr>
            <a:r>
              <a:t>of tech employees feel close to burnout</a:t>
            </a:r>
          </a:p>
        </p:txBody>
      </p:sp>
      <p:sp>
        <p:nvSpPr>
          <p:cNvPr id="20" name="TextBox 19"/>
          <p:cNvSpPr txBox="1"/>
          <p:nvPr/>
        </p:nvSpPr>
        <p:spPr>
          <a:xfrm>
            <a:off x="7132320" y="2651760"/>
            <a:ext cx="1097280" cy="320040"/>
          </a:xfrm>
          <a:prstGeom prst="rect">
            <a:avLst/>
          </a:prstGeom>
          <a:noFill/>
        </p:spPr>
        <p:txBody>
          <a:bodyPr wrap="square"/>
          <a:lstStyle/>
          <a:p>
            <a:pPr algn="l">
              <a:defRPr sz="1800" b="1">
                <a:solidFill>
                  <a:srgbClr val="5B8DB8"/>
                </a:solidFill>
                <a:latin typeface="Inter"/>
              </a:defRPr>
            </a:pPr>
            <a:r>
              <a:t>52%</a:t>
            </a:r>
          </a:p>
        </p:txBody>
      </p:sp>
      <p:sp>
        <p:nvSpPr>
          <p:cNvPr id="21" name="TextBox 20"/>
          <p:cNvSpPr txBox="1"/>
          <p:nvPr/>
        </p:nvSpPr>
        <p:spPr>
          <a:xfrm>
            <a:off x="8321040" y="2679192"/>
            <a:ext cx="2926080" cy="320040"/>
          </a:xfrm>
          <a:prstGeom prst="rect">
            <a:avLst/>
          </a:prstGeom>
          <a:noFill/>
        </p:spPr>
        <p:txBody>
          <a:bodyPr wrap="square"/>
          <a:lstStyle/>
          <a:p>
            <a:pPr algn="l">
              <a:defRPr sz="1100" b="0">
                <a:solidFill>
                  <a:srgbClr val="5A6270"/>
                </a:solidFill>
                <a:latin typeface="Inter"/>
              </a:defRPr>
            </a:pPr>
            <a:r>
              <a:t>of tech workers report depression/anxiety</a:t>
            </a:r>
          </a:p>
        </p:txBody>
      </p:sp>
      <p:sp>
        <p:nvSpPr>
          <p:cNvPr id="22" name="TextBox 21"/>
          <p:cNvSpPr txBox="1"/>
          <p:nvPr/>
        </p:nvSpPr>
        <p:spPr>
          <a:xfrm>
            <a:off x="7132320" y="3154680"/>
            <a:ext cx="1097280" cy="320040"/>
          </a:xfrm>
          <a:prstGeom prst="rect">
            <a:avLst/>
          </a:prstGeom>
          <a:noFill/>
        </p:spPr>
        <p:txBody>
          <a:bodyPr wrap="square"/>
          <a:lstStyle/>
          <a:p>
            <a:pPr algn="l">
              <a:defRPr sz="1800" b="1">
                <a:solidFill>
                  <a:srgbClr val="5B8DB8"/>
                </a:solidFill>
                <a:latin typeface="Inter"/>
              </a:defRPr>
            </a:pPr>
            <a:r>
              <a:t>65%</a:t>
            </a:r>
          </a:p>
        </p:txBody>
      </p:sp>
      <p:sp>
        <p:nvSpPr>
          <p:cNvPr id="23" name="TextBox 22"/>
          <p:cNvSpPr txBox="1"/>
          <p:nvPr/>
        </p:nvSpPr>
        <p:spPr>
          <a:xfrm>
            <a:off x="8321040" y="3182112"/>
            <a:ext cx="2926080" cy="320040"/>
          </a:xfrm>
          <a:prstGeom prst="rect">
            <a:avLst/>
          </a:prstGeom>
          <a:noFill/>
        </p:spPr>
        <p:txBody>
          <a:bodyPr wrap="square"/>
          <a:lstStyle/>
          <a:p>
            <a:pPr algn="l">
              <a:defRPr sz="1100" b="0">
                <a:solidFill>
                  <a:srgbClr val="5A6270"/>
                </a:solidFill>
                <a:latin typeface="Inter"/>
              </a:defRPr>
            </a:pPr>
            <a:r>
              <a:t>of engineers experienced burnout in past year</a:t>
            </a:r>
          </a:p>
        </p:txBody>
      </p:sp>
      <p:sp>
        <p:nvSpPr>
          <p:cNvPr id="24" name="TextBox 23"/>
          <p:cNvSpPr txBox="1"/>
          <p:nvPr/>
        </p:nvSpPr>
        <p:spPr>
          <a:xfrm>
            <a:off x="7132320" y="3657600"/>
            <a:ext cx="1097280" cy="320040"/>
          </a:xfrm>
          <a:prstGeom prst="rect">
            <a:avLst/>
          </a:prstGeom>
          <a:noFill/>
        </p:spPr>
        <p:txBody>
          <a:bodyPr wrap="square"/>
          <a:lstStyle/>
          <a:p>
            <a:pPr algn="l">
              <a:defRPr sz="1800" b="1">
                <a:solidFill>
                  <a:srgbClr val="5B8DB8"/>
                </a:solidFill>
                <a:latin typeface="Inter"/>
              </a:defRPr>
            </a:pPr>
            <a:r>
              <a:t>91%</a:t>
            </a:r>
          </a:p>
        </p:txBody>
      </p:sp>
      <p:sp>
        <p:nvSpPr>
          <p:cNvPr id="25" name="TextBox 24"/>
          <p:cNvSpPr txBox="1"/>
          <p:nvPr/>
        </p:nvSpPr>
        <p:spPr>
          <a:xfrm>
            <a:off x="8321040" y="3685032"/>
            <a:ext cx="2926080" cy="320040"/>
          </a:xfrm>
          <a:prstGeom prst="rect">
            <a:avLst/>
          </a:prstGeom>
          <a:noFill/>
        </p:spPr>
        <p:txBody>
          <a:bodyPr wrap="square"/>
          <a:lstStyle/>
          <a:p>
            <a:pPr algn="l">
              <a:defRPr sz="1100" b="0">
                <a:solidFill>
                  <a:srgbClr val="5A6270"/>
                </a:solidFill>
                <a:latin typeface="Inter"/>
              </a:defRPr>
            </a:pPr>
            <a:r>
              <a:t>of 18-24 year-olds report fatigue and brain fog</a:t>
            </a:r>
          </a:p>
        </p:txBody>
      </p:sp>
      <p:sp>
        <p:nvSpPr>
          <p:cNvPr id="26" name="TextBox 25"/>
          <p:cNvSpPr txBox="1"/>
          <p:nvPr/>
        </p:nvSpPr>
        <p:spPr>
          <a:xfrm>
            <a:off x="7132320" y="4160520"/>
            <a:ext cx="1097280" cy="320040"/>
          </a:xfrm>
          <a:prstGeom prst="rect">
            <a:avLst/>
          </a:prstGeom>
          <a:noFill/>
        </p:spPr>
        <p:txBody>
          <a:bodyPr wrap="square"/>
          <a:lstStyle/>
          <a:p>
            <a:pPr algn="l">
              <a:defRPr sz="1800" b="1">
                <a:solidFill>
                  <a:srgbClr val="5B8DB8"/>
                </a:solidFill>
                <a:latin typeface="Inter"/>
              </a:defRPr>
            </a:pPr>
            <a:r>
              <a:t>250+</a:t>
            </a:r>
          </a:p>
        </p:txBody>
      </p:sp>
      <p:sp>
        <p:nvSpPr>
          <p:cNvPr id="27" name="TextBox 26"/>
          <p:cNvSpPr txBox="1"/>
          <p:nvPr/>
        </p:nvSpPr>
        <p:spPr>
          <a:xfrm>
            <a:off x="8321040" y="4187952"/>
            <a:ext cx="2926080" cy="320040"/>
          </a:xfrm>
          <a:prstGeom prst="rect">
            <a:avLst/>
          </a:prstGeom>
          <a:noFill/>
        </p:spPr>
        <p:txBody>
          <a:bodyPr wrap="square"/>
          <a:lstStyle/>
          <a:p>
            <a:pPr algn="l">
              <a:defRPr sz="1100" b="0">
                <a:solidFill>
                  <a:srgbClr val="5A6270"/>
                </a:solidFill>
                <a:latin typeface="Inter"/>
              </a:defRPr>
            </a:pPr>
            <a:r>
              <a:t>digital actions/day outside office hours = stress spike</a:t>
            </a:r>
          </a:p>
        </p:txBody>
      </p:sp>
      <p:sp>
        <p:nvSpPr>
          <p:cNvPr id="28" name="TextBox 27"/>
          <p:cNvSpPr txBox="1"/>
          <p:nvPr/>
        </p:nvSpPr>
        <p:spPr>
          <a:xfrm>
            <a:off x="7132320" y="4663440"/>
            <a:ext cx="1097280" cy="320040"/>
          </a:xfrm>
          <a:prstGeom prst="rect">
            <a:avLst/>
          </a:prstGeom>
          <a:noFill/>
        </p:spPr>
        <p:txBody>
          <a:bodyPr wrap="square"/>
          <a:lstStyle/>
          <a:p>
            <a:pPr algn="l">
              <a:defRPr sz="1800" b="1">
                <a:solidFill>
                  <a:srgbClr val="5B8DB8"/>
                </a:solidFill>
                <a:latin typeface="Inter"/>
              </a:defRPr>
            </a:pPr>
            <a:r>
              <a:t>11+</a:t>
            </a:r>
          </a:p>
        </p:txBody>
      </p:sp>
      <p:sp>
        <p:nvSpPr>
          <p:cNvPr id="29" name="TextBox 28"/>
          <p:cNvSpPr txBox="1"/>
          <p:nvPr/>
        </p:nvSpPr>
        <p:spPr>
          <a:xfrm>
            <a:off x="8321040" y="4690872"/>
            <a:ext cx="2926080" cy="320040"/>
          </a:xfrm>
          <a:prstGeom prst="rect">
            <a:avLst/>
          </a:prstGeom>
          <a:noFill/>
        </p:spPr>
        <p:txBody>
          <a:bodyPr wrap="square"/>
          <a:lstStyle/>
          <a:p>
            <a:pPr algn="l">
              <a:defRPr sz="1100" b="0">
                <a:solidFill>
                  <a:srgbClr val="5A6270"/>
                </a:solidFill>
                <a:latin typeface="Inter"/>
              </a:defRPr>
            </a:pPr>
            <a:r>
              <a:t>meetings/week significantly increases employee stress</a:t>
            </a:r>
          </a:p>
        </p:txBody>
      </p:sp>
      <p:sp>
        <p:nvSpPr>
          <p:cNvPr id="30" name="TextBox 29"/>
          <p:cNvSpPr txBox="1"/>
          <p:nvPr/>
        </p:nvSpPr>
        <p:spPr>
          <a:xfrm>
            <a:off x="7132320" y="5166360"/>
            <a:ext cx="1097280" cy="320040"/>
          </a:xfrm>
          <a:prstGeom prst="rect">
            <a:avLst/>
          </a:prstGeom>
          <a:noFill/>
        </p:spPr>
        <p:txBody>
          <a:bodyPr wrap="square"/>
          <a:lstStyle/>
          <a:p>
            <a:pPr algn="l">
              <a:defRPr sz="1800" b="1">
                <a:solidFill>
                  <a:srgbClr val="5B8DB8"/>
                </a:solidFill>
                <a:latin typeface="Inter"/>
              </a:defRPr>
            </a:pPr>
            <a:r>
              <a:t>$300B</a:t>
            </a:r>
          </a:p>
        </p:txBody>
      </p:sp>
      <p:sp>
        <p:nvSpPr>
          <p:cNvPr id="31" name="TextBox 30"/>
          <p:cNvSpPr txBox="1"/>
          <p:nvPr/>
        </p:nvSpPr>
        <p:spPr>
          <a:xfrm>
            <a:off x="8321040" y="5193792"/>
            <a:ext cx="2926080" cy="320040"/>
          </a:xfrm>
          <a:prstGeom prst="rect">
            <a:avLst/>
          </a:prstGeom>
          <a:noFill/>
        </p:spPr>
        <p:txBody>
          <a:bodyPr wrap="square"/>
          <a:lstStyle/>
          <a:p>
            <a:pPr algn="l">
              <a:defRPr sz="1100" b="0">
                <a:solidFill>
                  <a:srgbClr val="5A6270"/>
                </a:solidFill>
                <a:latin typeface="Inter"/>
              </a:defRPr>
            </a:pPr>
            <a:r>
              <a:t>annual US cost of stress-related productivity loss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5B8DB8"/>
                </a:solidFill>
                <a:latin typeface="Inter"/>
              </a:defRPr>
            </a:pPr>
            <a:r>
              <a:t>PERSONA 1  |  THE BURNED-OUT BUILDER</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Pain Points, Hooks &amp; Feature Value</a:t>
            </a:r>
          </a:p>
        </p:txBody>
      </p:sp>
      <p:sp>
        <p:nvSpPr>
          <p:cNvPr id="5" name="Rounded Rectangle 4"/>
          <p:cNvSpPr/>
          <p:nvPr/>
        </p:nvSpPr>
        <p:spPr>
          <a:xfrm>
            <a:off x="73152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30352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754880" cy="457200"/>
          </a:xfrm>
          <a:prstGeom prst="rect">
            <a:avLst/>
          </a:prstGeom>
          <a:noFill/>
        </p:spPr>
        <p:txBody>
          <a:bodyPr wrap="square"/>
          <a:lstStyle/>
          <a:p>
            <a:pPr algn="l">
              <a:defRPr sz="1600" b="1">
                <a:solidFill>
                  <a:srgbClr val="1A1D21"/>
                </a:solidFill>
                <a:latin typeface="Playfair Display"/>
              </a:defRPr>
            </a:pPr>
            <a:r>
              <a:t>Core Pain Points</a:t>
            </a:r>
          </a:p>
        </p:txBody>
      </p:sp>
      <p:sp>
        <p:nvSpPr>
          <p:cNvPr id="8" name="TextBox 7"/>
          <p:cNvSpPr txBox="1"/>
          <p:nvPr/>
        </p:nvSpPr>
        <p:spPr>
          <a:xfrm>
            <a:off x="1005840" y="1965960"/>
            <a:ext cx="4754880" cy="1783080"/>
          </a:xfrm>
          <a:prstGeom prst="rect">
            <a:avLst/>
          </a:prstGeom>
          <a:noFill/>
        </p:spPr>
        <p:txBody>
          <a:bodyPr wrap="square"/>
          <a:lstStyle/>
          <a:p>
            <a:pPr algn="l">
              <a:spcAft>
                <a:spcPts val="800"/>
              </a:spcAft>
              <a:defRPr sz="1200" b="0">
                <a:solidFill>
                  <a:srgbClr val="5A6270"/>
                </a:solidFill>
                <a:latin typeface="Inter"/>
              </a:defRPr>
            </a:pPr>
            <a:r>
              <a:t>  'I don't realize I'm burned out until it's too late.'</a:t>
            </a:r>
          </a:p>
          <a:p>
            <a:pPr algn="l">
              <a:spcAft>
                <a:spcPts val="800"/>
              </a:spcAft>
              <a:defRPr sz="1200" b="0">
                <a:solidFill>
                  <a:srgbClr val="5A6270"/>
                </a:solidFill>
                <a:latin typeface="Inter"/>
              </a:defRPr>
            </a:pPr>
            <a:r>
              <a:t>  23+ meetings/week but no data on which ones drain them.</a:t>
            </a:r>
          </a:p>
          <a:p>
            <a:pPr algn="l">
              <a:spcAft>
                <a:spcPts val="800"/>
              </a:spcAft>
              <a:defRPr sz="1200" b="0">
                <a:solidFill>
                  <a:srgbClr val="5A6270"/>
                </a:solidFill>
                <a:latin typeface="Inter"/>
              </a:defRPr>
            </a:pPr>
            <a:r>
              <a:t>  Physical health is tracked — mental health is a black box.</a:t>
            </a:r>
          </a:p>
          <a:p>
            <a:pPr algn="l">
              <a:spcAft>
                <a:spcPts val="800"/>
              </a:spcAft>
              <a:defRPr sz="1200" b="0">
                <a:solidFill>
                  <a:srgbClr val="5A6270"/>
                </a:solidFill>
                <a:latin typeface="Inter"/>
              </a:defRPr>
            </a:pPr>
            <a:r>
              <a:t>  Therapy feels too heavy; they want monitoring, not treatment.</a:t>
            </a:r>
          </a:p>
          <a:p>
            <a:pPr algn="l">
              <a:spcAft>
                <a:spcPts val="800"/>
              </a:spcAft>
              <a:defRPr sz="1200" b="0">
                <a:solidFill>
                  <a:srgbClr val="5A6270"/>
                </a:solidFill>
                <a:latin typeface="Inter"/>
              </a:defRPr>
            </a:pPr>
            <a:r>
              <a:t>  Always-on culture: 250+ digital actions/day outside office hours.</a:t>
            </a:r>
          </a:p>
          <a:p>
            <a:pPr algn="l">
              <a:spcAft>
                <a:spcPts val="800"/>
              </a:spcAft>
              <a:defRPr sz="1200" b="0">
                <a:solidFill>
                  <a:srgbClr val="5A6270"/>
                </a:solidFill>
                <a:latin typeface="Inter"/>
              </a:defRPr>
            </a:pPr>
            <a:r>
              <a:t>  Information overload accounts for 39% of exhaustion variance.</a:t>
            </a:r>
          </a:p>
        </p:txBody>
      </p:sp>
      <p:sp>
        <p:nvSpPr>
          <p:cNvPr id="9" name="Rounded Rectangle 8"/>
          <p:cNvSpPr/>
          <p:nvPr/>
        </p:nvSpPr>
        <p:spPr>
          <a:xfrm>
            <a:off x="640080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530352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554480"/>
            <a:ext cx="4754880" cy="457200"/>
          </a:xfrm>
          <a:prstGeom prst="rect">
            <a:avLst/>
          </a:prstGeom>
          <a:noFill/>
        </p:spPr>
        <p:txBody>
          <a:bodyPr wrap="square"/>
          <a:lstStyle/>
          <a:p>
            <a:pPr algn="l">
              <a:defRPr sz="1600" b="1">
                <a:solidFill>
                  <a:srgbClr val="1A1D21"/>
                </a:solidFill>
                <a:latin typeface="Playfair Display"/>
              </a:defRPr>
            </a:pPr>
            <a:r>
              <a:t>Messaging That Resonates</a:t>
            </a:r>
          </a:p>
        </p:txBody>
      </p:sp>
      <p:sp>
        <p:nvSpPr>
          <p:cNvPr id="12" name="TextBox 11"/>
          <p:cNvSpPr txBox="1"/>
          <p:nvPr/>
        </p:nvSpPr>
        <p:spPr>
          <a:xfrm>
            <a:off x="6675120" y="1965960"/>
            <a:ext cx="4754880" cy="1783080"/>
          </a:xfrm>
          <a:prstGeom prst="rect">
            <a:avLst/>
          </a:prstGeom>
          <a:noFill/>
        </p:spPr>
        <p:txBody>
          <a:bodyPr wrap="square"/>
          <a:lstStyle/>
          <a:p>
            <a:pPr algn="l">
              <a:spcAft>
                <a:spcPts val="800"/>
              </a:spcAft>
              <a:defRPr sz="1200" b="0">
                <a:solidFill>
                  <a:srgbClr val="5A6270"/>
                </a:solidFill>
                <a:latin typeface="Inter"/>
              </a:defRPr>
            </a:pPr>
            <a:r>
              <a:t>  'You Had 23 Meetings Last Week. Which Ones Are Burning You Out?'</a:t>
            </a:r>
          </a:p>
          <a:p>
            <a:pPr algn="l">
              <a:spcAft>
                <a:spcPts val="800"/>
              </a:spcAft>
              <a:defRPr sz="1200" b="0">
                <a:solidFill>
                  <a:srgbClr val="5A6270"/>
                </a:solidFill>
                <a:latin typeface="Inter"/>
              </a:defRPr>
            </a:pPr>
            <a:r>
              <a:t>  'Know Your Stress Before You Feel It.'</a:t>
            </a:r>
          </a:p>
          <a:p>
            <a:pPr algn="l">
              <a:spcAft>
                <a:spcPts val="800"/>
              </a:spcAft>
              <a:defRPr sz="1200" b="0">
                <a:solidFill>
                  <a:srgbClr val="5A6270"/>
                </a:solidFill>
                <a:latin typeface="Inter"/>
              </a:defRPr>
            </a:pPr>
            <a:r>
              <a:t>  'Your voice changes 30 minutes before you feel stressed. We catch it.'</a:t>
            </a:r>
          </a:p>
          <a:p>
            <a:pPr algn="l">
              <a:spcAft>
                <a:spcPts val="800"/>
              </a:spcAft>
              <a:defRPr sz="1200" b="0">
                <a:solidFill>
                  <a:srgbClr val="5A6270"/>
                </a:solidFill>
                <a:latin typeface="Inter"/>
              </a:defRPr>
            </a:pPr>
            <a:r>
              <a:t>  'Most productivity tools tell you to do more. Lucid tells you the truth.'</a:t>
            </a:r>
          </a:p>
          <a:p>
            <a:pPr algn="l">
              <a:spcAft>
                <a:spcPts val="800"/>
              </a:spcAft>
              <a:defRPr sz="1200" b="0">
                <a:solidFill>
                  <a:srgbClr val="5A6270"/>
                </a:solidFill>
                <a:latin typeface="Inter"/>
              </a:defRPr>
            </a:pPr>
            <a:r>
              <a:t>  'AI detects stress 6.7 minutes before you feel it.'</a:t>
            </a:r>
          </a:p>
          <a:p>
            <a:pPr algn="l">
              <a:spcAft>
                <a:spcPts val="800"/>
              </a:spcAft>
              <a:defRPr sz="1200" b="0">
                <a:solidFill>
                  <a:srgbClr val="5A6270"/>
                </a:solidFill>
                <a:latin typeface="Inter"/>
              </a:defRPr>
            </a:pPr>
            <a:r>
              <a:t>  Data-driven language, not emotional/therapeutic language.</a:t>
            </a:r>
          </a:p>
        </p:txBody>
      </p:sp>
      <p:sp>
        <p:nvSpPr>
          <p:cNvPr id="13" name="TextBox 12"/>
          <p:cNvSpPr txBox="1"/>
          <p:nvPr/>
        </p:nvSpPr>
        <p:spPr>
          <a:xfrm>
            <a:off x="731520" y="4114800"/>
            <a:ext cx="5486400" cy="365760"/>
          </a:xfrm>
          <a:prstGeom prst="rect">
            <a:avLst/>
          </a:prstGeom>
          <a:noFill/>
        </p:spPr>
        <p:txBody>
          <a:bodyPr wrap="square"/>
          <a:lstStyle/>
          <a:p>
            <a:pPr algn="l">
              <a:defRPr sz="1600" b="1">
                <a:solidFill>
                  <a:srgbClr val="1A1D21"/>
                </a:solidFill>
                <a:latin typeface="Playfair Display"/>
              </a:defRPr>
            </a:pPr>
            <a:r>
              <a:t>Feature Value Ranking (Highest to Lowest)</a:t>
            </a:r>
          </a:p>
        </p:txBody>
      </p:sp>
      <p:sp>
        <p:nvSpPr>
          <p:cNvPr id="14" name="TextBox 13"/>
          <p:cNvSpPr txBox="1"/>
          <p:nvPr/>
        </p:nvSpPr>
        <p:spPr>
          <a:xfrm>
            <a:off x="731520" y="4572000"/>
            <a:ext cx="3200400" cy="274320"/>
          </a:xfrm>
          <a:prstGeom prst="rect">
            <a:avLst/>
          </a:prstGeom>
          <a:noFill/>
        </p:spPr>
        <p:txBody>
          <a:bodyPr wrap="square"/>
          <a:lstStyle/>
          <a:p>
            <a:pPr algn="l">
              <a:defRPr sz="1200" b="1">
                <a:solidFill>
                  <a:srgbClr val="1A1D21"/>
                </a:solidFill>
                <a:latin typeface="Inter"/>
              </a:defRPr>
            </a:pPr>
            <a:r>
              <a:t>1. Meeting Stress Correlation</a:t>
            </a:r>
          </a:p>
        </p:txBody>
      </p:sp>
      <p:sp>
        <p:nvSpPr>
          <p:cNvPr id="15" name="TextBox 14"/>
          <p:cNvSpPr txBox="1"/>
          <p:nvPr/>
        </p:nvSpPr>
        <p:spPr>
          <a:xfrm>
            <a:off x="4114800" y="4572000"/>
            <a:ext cx="5943600" cy="274320"/>
          </a:xfrm>
          <a:prstGeom prst="rect">
            <a:avLst/>
          </a:prstGeom>
          <a:noFill/>
        </p:spPr>
        <p:txBody>
          <a:bodyPr wrap="square"/>
          <a:lstStyle/>
          <a:p>
            <a:pPr algn="l">
              <a:defRPr sz="1100" b="0">
                <a:solidFill>
                  <a:srgbClr val="5A6270"/>
                </a:solidFill>
                <a:latin typeface="Inter"/>
              </a:defRPr>
            </a:pPr>
            <a:r>
              <a:t>Which calls spike stress — the killer feature for this persona</a:t>
            </a:r>
          </a:p>
        </p:txBody>
      </p:sp>
      <p:sp>
        <p:nvSpPr>
          <p:cNvPr id="16" name="TextBox 15"/>
          <p:cNvSpPr txBox="1"/>
          <p:nvPr/>
        </p:nvSpPr>
        <p:spPr>
          <a:xfrm>
            <a:off x="10789920" y="4572000"/>
            <a:ext cx="914400" cy="274320"/>
          </a:xfrm>
          <a:prstGeom prst="rect">
            <a:avLst/>
          </a:prstGeom>
          <a:noFill/>
        </p:spPr>
        <p:txBody>
          <a:bodyPr wrap="square"/>
          <a:lstStyle/>
          <a:p>
            <a:pPr algn="r">
              <a:defRPr sz="1200" b="1">
                <a:solidFill>
                  <a:srgbClr val="5B8DB8"/>
                </a:solidFill>
                <a:latin typeface="Inter"/>
              </a:defRPr>
            </a:pPr>
            <a:r>
              <a:t>10/10</a:t>
            </a:r>
          </a:p>
        </p:txBody>
      </p:sp>
      <p:sp>
        <p:nvSpPr>
          <p:cNvPr id="17" name="TextBox 16"/>
          <p:cNvSpPr txBox="1"/>
          <p:nvPr/>
        </p:nvSpPr>
        <p:spPr>
          <a:xfrm>
            <a:off x="731520" y="4919472"/>
            <a:ext cx="3200400" cy="274320"/>
          </a:xfrm>
          <a:prstGeom prst="rect">
            <a:avLst/>
          </a:prstGeom>
          <a:noFill/>
        </p:spPr>
        <p:txBody>
          <a:bodyPr wrap="square"/>
          <a:lstStyle/>
          <a:p>
            <a:pPr algn="l">
              <a:defRPr sz="1200" b="1">
                <a:solidFill>
                  <a:srgbClr val="1A1D21"/>
                </a:solidFill>
                <a:latin typeface="Inter"/>
              </a:defRPr>
            </a:pPr>
            <a:r>
              <a:t>2. Stress &amp; Calm Scores</a:t>
            </a:r>
          </a:p>
        </p:txBody>
      </p:sp>
      <p:sp>
        <p:nvSpPr>
          <p:cNvPr id="18" name="TextBox 17"/>
          <p:cNvSpPr txBox="1"/>
          <p:nvPr/>
        </p:nvSpPr>
        <p:spPr>
          <a:xfrm>
            <a:off x="4114800" y="4919472"/>
            <a:ext cx="5943600" cy="274320"/>
          </a:xfrm>
          <a:prstGeom prst="rect">
            <a:avLst/>
          </a:prstGeom>
          <a:noFill/>
        </p:spPr>
        <p:txBody>
          <a:bodyPr wrap="square"/>
          <a:lstStyle/>
          <a:p>
            <a:pPr algn="l">
              <a:defRPr sz="1100" b="0">
                <a:solidFill>
                  <a:srgbClr val="5A6270"/>
                </a:solidFill>
                <a:latin typeface="Inter"/>
              </a:defRPr>
            </a:pPr>
            <a:r>
              <a:t>Real-time 0-100 score during the workday — passive, no effort</a:t>
            </a:r>
          </a:p>
        </p:txBody>
      </p:sp>
      <p:sp>
        <p:nvSpPr>
          <p:cNvPr id="19" name="TextBox 18"/>
          <p:cNvSpPr txBox="1"/>
          <p:nvPr/>
        </p:nvSpPr>
        <p:spPr>
          <a:xfrm>
            <a:off x="10789920" y="4919472"/>
            <a:ext cx="914400" cy="274320"/>
          </a:xfrm>
          <a:prstGeom prst="rect">
            <a:avLst/>
          </a:prstGeom>
          <a:noFill/>
        </p:spPr>
        <p:txBody>
          <a:bodyPr wrap="square"/>
          <a:lstStyle/>
          <a:p>
            <a:pPr algn="r">
              <a:defRPr sz="1200" b="1">
                <a:solidFill>
                  <a:srgbClr val="5B8DB8"/>
                </a:solidFill>
                <a:latin typeface="Inter"/>
              </a:defRPr>
            </a:pPr>
            <a:r>
              <a:t>9/10</a:t>
            </a:r>
          </a:p>
        </p:txBody>
      </p:sp>
      <p:sp>
        <p:nvSpPr>
          <p:cNvPr id="20" name="TextBox 19"/>
          <p:cNvSpPr txBox="1"/>
          <p:nvPr/>
        </p:nvSpPr>
        <p:spPr>
          <a:xfrm>
            <a:off x="731520" y="5266944"/>
            <a:ext cx="3200400" cy="274320"/>
          </a:xfrm>
          <a:prstGeom prst="rect">
            <a:avLst/>
          </a:prstGeom>
          <a:noFill/>
        </p:spPr>
        <p:txBody>
          <a:bodyPr wrap="square"/>
          <a:lstStyle/>
          <a:p>
            <a:pPr algn="l">
              <a:defRPr sz="1200" b="1">
                <a:solidFill>
                  <a:srgbClr val="1A1D21"/>
                </a:solidFill>
                <a:latin typeface="Inter"/>
              </a:defRPr>
            </a:pPr>
            <a:r>
              <a:t>3. Morning Briefing</a:t>
            </a:r>
          </a:p>
        </p:txBody>
      </p:sp>
      <p:sp>
        <p:nvSpPr>
          <p:cNvPr id="21" name="TextBox 20"/>
          <p:cNvSpPr txBox="1"/>
          <p:nvPr/>
        </p:nvSpPr>
        <p:spPr>
          <a:xfrm>
            <a:off x="4114800" y="5266944"/>
            <a:ext cx="5943600" cy="274320"/>
          </a:xfrm>
          <a:prstGeom prst="rect">
            <a:avLst/>
          </a:prstGeom>
          <a:noFill/>
        </p:spPr>
        <p:txBody>
          <a:bodyPr wrap="square"/>
          <a:lstStyle/>
          <a:p>
            <a:pPr algn="l">
              <a:defRPr sz="1100" b="0">
                <a:solidFill>
                  <a:srgbClr val="5A6270"/>
                </a:solidFill>
                <a:latin typeface="Inter"/>
              </a:defRPr>
            </a:pPr>
            <a:r>
              <a:t>Quick summary: 'Yesterday your stress peaked at 3pm after the all-hands'</a:t>
            </a:r>
          </a:p>
        </p:txBody>
      </p:sp>
      <p:sp>
        <p:nvSpPr>
          <p:cNvPr id="22" name="TextBox 21"/>
          <p:cNvSpPr txBox="1"/>
          <p:nvPr/>
        </p:nvSpPr>
        <p:spPr>
          <a:xfrm>
            <a:off x="10789920" y="5266944"/>
            <a:ext cx="914400" cy="274320"/>
          </a:xfrm>
          <a:prstGeom prst="rect">
            <a:avLst/>
          </a:prstGeom>
          <a:noFill/>
        </p:spPr>
        <p:txBody>
          <a:bodyPr wrap="square"/>
          <a:lstStyle/>
          <a:p>
            <a:pPr algn="r">
              <a:defRPr sz="1200" b="1">
                <a:solidFill>
                  <a:srgbClr val="5B8DB8"/>
                </a:solidFill>
                <a:latin typeface="Inter"/>
              </a:defRPr>
            </a:pPr>
            <a:r>
              <a:t>9/10</a:t>
            </a:r>
          </a:p>
        </p:txBody>
      </p:sp>
      <p:sp>
        <p:nvSpPr>
          <p:cNvPr id="23" name="TextBox 22"/>
          <p:cNvSpPr txBox="1"/>
          <p:nvPr/>
        </p:nvSpPr>
        <p:spPr>
          <a:xfrm>
            <a:off x="731520" y="5614416"/>
            <a:ext cx="3200400" cy="274320"/>
          </a:xfrm>
          <a:prstGeom prst="rect">
            <a:avLst/>
          </a:prstGeom>
          <a:noFill/>
        </p:spPr>
        <p:txBody>
          <a:bodyPr wrap="square"/>
          <a:lstStyle/>
          <a:p>
            <a:pPr algn="l">
              <a:defRPr sz="1200" b="1">
                <a:solidFill>
                  <a:srgbClr val="1A1D21"/>
                </a:solidFill>
                <a:latin typeface="Inter"/>
              </a:defRPr>
            </a:pPr>
            <a:r>
              <a:t>4. Weekly Wrapped</a:t>
            </a:r>
          </a:p>
        </p:txBody>
      </p:sp>
      <p:sp>
        <p:nvSpPr>
          <p:cNvPr id="24" name="TextBox 23"/>
          <p:cNvSpPr txBox="1"/>
          <p:nvPr/>
        </p:nvSpPr>
        <p:spPr>
          <a:xfrm>
            <a:off x="4114800" y="5614416"/>
            <a:ext cx="5943600" cy="274320"/>
          </a:xfrm>
          <a:prstGeom prst="rect">
            <a:avLst/>
          </a:prstGeom>
          <a:noFill/>
        </p:spPr>
        <p:txBody>
          <a:bodyPr wrap="square"/>
          <a:lstStyle/>
          <a:p>
            <a:pPr algn="l">
              <a:defRPr sz="1100" b="0">
                <a:solidFill>
                  <a:srgbClr val="5A6270"/>
                </a:solidFill>
                <a:latin typeface="Inter"/>
              </a:defRPr>
            </a:pPr>
            <a:r>
              <a:t>Shareable weekly recap — social proof spreads to teammates</a:t>
            </a:r>
          </a:p>
        </p:txBody>
      </p:sp>
      <p:sp>
        <p:nvSpPr>
          <p:cNvPr id="25" name="TextBox 24"/>
          <p:cNvSpPr txBox="1"/>
          <p:nvPr/>
        </p:nvSpPr>
        <p:spPr>
          <a:xfrm>
            <a:off x="10789920" y="5614416"/>
            <a:ext cx="914400" cy="274320"/>
          </a:xfrm>
          <a:prstGeom prst="rect">
            <a:avLst/>
          </a:prstGeom>
          <a:noFill/>
        </p:spPr>
        <p:txBody>
          <a:bodyPr wrap="square"/>
          <a:lstStyle/>
          <a:p>
            <a:pPr algn="r">
              <a:defRPr sz="1200" b="1">
                <a:solidFill>
                  <a:srgbClr val="5B8DB8"/>
                </a:solidFill>
                <a:latin typeface="Inter"/>
              </a:defRPr>
            </a:pPr>
            <a:r>
              <a:t>8/10</a:t>
            </a:r>
          </a:p>
        </p:txBody>
      </p:sp>
      <p:sp>
        <p:nvSpPr>
          <p:cNvPr id="26" name="TextBox 25"/>
          <p:cNvSpPr txBox="1"/>
          <p:nvPr/>
        </p:nvSpPr>
        <p:spPr>
          <a:xfrm>
            <a:off x="731520" y="5961888"/>
            <a:ext cx="3200400" cy="274320"/>
          </a:xfrm>
          <a:prstGeom prst="rect">
            <a:avLst/>
          </a:prstGeom>
          <a:noFill/>
        </p:spPr>
        <p:txBody>
          <a:bodyPr wrap="square"/>
          <a:lstStyle/>
          <a:p>
            <a:pPr algn="l">
              <a:defRPr sz="1200" b="1">
                <a:solidFill>
                  <a:srgbClr val="1A1D21"/>
                </a:solidFill>
                <a:latin typeface="Inter"/>
              </a:defRPr>
            </a:pPr>
            <a:r>
              <a:t>5. Burnout Trajectory</a:t>
            </a:r>
          </a:p>
        </p:txBody>
      </p:sp>
      <p:sp>
        <p:nvSpPr>
          <p:cNvPr id="27" name="TextBox 26"/>
          <p:cNvSpPr txBox="1"/>
          <p:nvPr/>
        </p:nvSpPr>
        <p:spPr>
          <a:xfrm>
            <a:off x="4114800" y="5961888"/>
            <a:ext cx="5943600" cy="274320"/>
          </a:xfrm>
          <a:prstGeom prst="rect">
            <a:avLst/>
          </a:prstGeom>
          <a:noFill/>
        </p:spPr>
        <p:txBody>
          <a:bodyPr wrap="square"/>
          <a:lstStyle/>
          <a:p>
            <a:pPr algn="l">
              <a:defRPr sz="1100" b="0">
                <a:solidFill>
                  <a:srgbClr val="5A6270"/>
                </a:solidFill>
                <a:latin typeface="Inter"/>
              </a:defRPr>
            </a:pPr>
            <a:r>
              <a:t>Trend line showing whether they're recovering or declining week-over-week</a:t>
            </a:r>
          </a:p>
        </p:txBody>
      </p:sp>
      <p:sp>
        <p:nvSpPr>
          <p:cNvPr id="28" name="TextBox 27"/>
          <p:cNvSpPr txBox="1"/>
          <p:nvPr/>
        </p:nvSpPr>
        <p:spPr>
          <a:xfrm>
            <a:off x="10789920" y="5961888"/>
            <a:ext cx="914400" cy="274320"/>
          </a:xfrm>
          <a:prstGeom prst="rect">
            <a:avLst/>
          </a:prstGeom>
          <a:noFill/>
        </p:spPr>
        <p:txBody>
          <a:bodyPr wrap="square"/>
          <a:lstStyle/>
          <a:p>
            <a:pPr algn="r">
              <a:defRPr sz="1200" b="1">
                <a:solidFill>
                  <a:srgbClr val="5B8DB8"/>
                </a:solidFill>
                <a:latin typeface="Inter"/>
              </a:defRPr>
            </a:pPr>
            <a:r>
              <a:t>8/10</a:t>
            </a:r>
          </a:p>
        </p:txBody>
      </p:sp>
      <p:sp>
        <p:nvSpPr>
          <p:cNvPr id="29" name="TextBox 28"/>
          <p:cNvSpPr txBox="1"/>
          <p:nvPr/>
        </p:nvSpPr>
        <p:spPr>
          <a:xfrm>
            <a:off x="731520" y="6309360"/>
            <a:ext cx="3200400" cy="274320"/>
          </a:xfrm>
          <a:prstGeom prst="rect">
            <a:avLst/>
          </a:prstGeom>
          <a:noFill/>
        </p:spPr>
        <p:txBody>
          <a:bodyPr wrap="square"/>
          <a:lstStyle/>
          <a:p>
            <a:pPr algn="l">
              <a:defRPr sz="1200" b="1">
                <a:solidFill>
                  <a:srgbClr val="1A1D21"/>
                </a:solidFill>
                <a:latin typeface="Inter"/>
              </a:defRPr>
            </a:pPr>
            <a:r>
              <a:t>6. Echoes (Pattern Discovery)</a:t>
            </a:r>
          </a:p>
        </p:txBody>
      </p:sp>
      <p:sp>
        <p:nvSpPr>
          <p:cNvPr id="30" name="TextBox 29"/>
          <p:cNvSpPr txBox="1"/>
          <p:nvPr/>
        </p:nvSpPr>
        <p:spPr>
          <a:xfrm>
            <a:off x="4114800" y="6309360"/>
            <a:ext cx="5943600" cy="274320"/>
          </a:xfrm>
          <a:prstGeom prst="rect">
            <a:avLst/>
          </a:prstGeom>
          <a:noFill/>
        </p:spPr>
        <p:txBody>
          <a:bodyPr wrap="square"/>
          <a:lstStyle/>
          <a:p>
            <a:pPr algn="l">
              <a:defRPr sz="1100" b="0">
                <a:solidFill>
                  <a:srgbClr val="5A6270"/>
                </a:solidFill>
                <a:latin typeface="Inter"/>
              </a:defRPr>
            </a:pPr>
            <a:r>
              <a:t>'Your stress is 40% higher after back-to-back meetings' — discovery delight</a:t>
            </a:r>
          </a:p>
        </p:txBody>
      </p:sp>
      <p:sp>
        <p:nvSpPr>
          <p:cNvPr id="31" name="TextBox 30"/>
          <p:cNvSpPr txBox="1"/>
          <p:nvPr/>
        </p:nvSpPr>
        <p:spPr>
          <a:xfrm>
            <a:off x="10789920" y="6309360"/>
            <a:ext cx="914400" cy="274320"/>
          </a:xfrm>
          <a:prstGeom prst="rect">
            <a:avLst/>
          </a:prstGeom>
          <a:noFill/>
        </p:spPr>
        <p:txBody>
          <a:bodyPr wrap="square"/>
          <a:lstStyle/>
          <a:p>
            <a:pPr algn="r">
              <a:defRPr sz="1200" b="1">
                <a:solidFill>
                  <a:srgbClr val="5B8DB8"/>
                </a:solidFill>
                <a:latin typeface="Inter"/>
              </a:defRPr>
            </a:pPr>
            <a:r>
              <a:t>7/10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5B8DB8"/>
                </a:solidFill>
                <a:latin typeface="Inter"/>
              </a:defRPr>
            </a:pPr>
            <a:r>
              <a:t>PERSONA 1  |  THE BURNED-OUT BUILDER</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Acquisition &amp; Conversion Strategy</a:t>
            </a:r>
          </a:p>
        </p:txBody>
      </p:sp>
      <p:sp>
        <p:nvSpPr>
          <p:cNvPr id="5" name="Rounded Rectangle 4"/>
          <p:cNvSpPr/>
          <p:nvPr/>
        </p:nvSpPr>
        <p:spPr>
          <a:xfrm>
            <a:off x="7315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38328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2834640" cy="457200"/>
          </a:xfrm>
          <a:prstGeom prst="rect">
            <a:avLst/>
          </a:prstGeom>
          <a:noFill/>
        </p:spPr>
        <p:txBody>
          <a:bodyPr wrap="square"/>
          <a:lstStyle/>
          <a:p>
            <a:pPr algn="l">
              <a:defRPr sz="1600" b="1">
                <a:solidFill>
                  <a:srgbClr val="1A1D21"/>
                </a:solidFill>
                <a:latin typeface="Playfair Display"/>
              </a:defRPr>
            </a:pPr>
            <a:r>
              <a:t>Top Acquisition Channels</a:t>
            </a:r>
          </a:p>
        </p:txBody>
      </p:sp>
      <p:sp>
        <p:nvSpPr>
          <p:cNvPr id="8" name="TextBox 7"/>
          <p:cNvSpPr txBox="1"/>
          <p:nvPr/>
        </p:nvSpPr>
        <p:spPr>
          <a:xfrm>
            <a:off x="1005840" y="1965960"/>
            <a:ext cx="2834640" cy="1783080"/>
          </a:xfrm>
          <a:prstGeom prst="rect">
            <a:avLst/>
          </a:prstGeom>
          <a:noFill/>
        </p:spPr>
        <p:txBody>
          <a:bodyPr wrap="square"/>
          <a:lstStyle/>
          <a:p>
            <a:pPr algn="l">
              <a:spcAft>
                <a:spcPts val="800"/>
              </a:spcAft>
              <a:defRPr sz="1200" b="0">
                <a:solidFill>
                  <a:srgbClr val="5A6270"/>
                </a:solidFill>
                <a:latin typeface="Inter"/>
              </a:defRPr>
            </a:pPr>
            <a:r>
              <a:t>  1. LinkedIn (founder posts about burnout/productivity)</a:t>
            </a:r>
          </a:p>
          <a:p>
            <a:pPr algn="l">
              <a:spcAft>
                <a:spcPts val="800"/>
              </a:spcAft>
              <a:defRPr sz="1200" b="0">
                <a:solidFill>
                  <a:srgbClr val="5A6270"/>
                </a:solidFill>
                <a:latin typeface="Inter"/>
              </a:defRPr>
            </a:pPr>
            <a:r>
              <a:t>  2. TikTok ('my meeting stress scores' screen recordings)</a:t>
            </a:r>
          </a:p>
          <a:p>
            <a:pPr algn="l">
              <a:spcAft>
                <a:spcPts val="800"/>
              </a:spcAft>
              <a:defRPr sz="1200" b="0">
                <a:solidFill>
                  <a:srgbClr val="5A6270"/>
                </a:solidFill>
                <a:latin typeface="Inter"/>
              </a:defRPr>
            </a:pPr>
            <a:r>
              <a:t>  3. Reddit (r/cscareerquestions, r/ExperiencedDevs)</a:t>
            </a:r>
          </a:p>
          <a:p>
            <a:pPr algn="l">
              <a:spcAft>
                <a:spcPts val="800"/>
              </a:spcAft>
              <a:defRPr sz="1200" b="0">
                <a:solidFill>
                  <a:srgbClr val="5A6270"/>
                </a:solidFill>
                <a:latin typeface="Inter"/>
              </a:defRPr>
            </a:pPr>
            <a:r>
              <a:t>  4. Twitter/X (tech Twitter loves data tools)</a:t>
            </a:r>
          </a:p>
          <a:p>
            <a:pPr algn="l">
              <a:spcAft>
                <a:spcPts val="800"/>
              </a:spcAft>
              <a:defRPr sz="1200" b="0">
                <a:solidFill>
                  <a:srgbClr val="5A6270"/>
                </a:solidFill>
                <a:latin typeface="Inter"/>
              </a:defRPr>
            </a:pPr>
            <a:r>
              <a:t>  5. Hacker News / Product Hunt launch</a:t>
            </a:r>
          </a:p>
        </p:txBody>
      </p:sp>
      <p:sp>
        <p:nvSpPr>
          <p:cNvPr id="9" name="Rounded Rectangle 8"/>
          <p:cNvSpPr/>
          <p:nvPr/>
        </p:nvSpPr>
        <p:spPr>
          <a:xfrm>
            <a:off x="43891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38328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54480"/>
            <a:ext cx="2834640" cy="457200"/>
          </a:xfrm>
          <a:prstGeom prst="rect">
            <a:avLst/>
          </a:prstGeom>
          <a:noFill/>
        </p:spPr>
        <p:txBody>
          <a:bodyPr wrap="square"/>
          <a:lstStyle/>
          <a:p>
            <a:pPr algn="l">
              <a:defRPr sz="1600" b="1">
                <a:solidFill>
                  <a:srgbClr val="1A1D21"/>
                </a:solidFill>
                <a:latin typeface="Playfair Display"/>
              </a:defRPr>
            </a:pPr>
            <a:r>
              <a:t>Hook Messages That Convert</a:t>
            </a:r>
          </a:p>
        </p:txBody>
      </p:sp>
      <p:sp>
        <p:nvSpPr>
          <p:cNvPr id="12" name="TextBox 11"/>
          <p:cNvSpPr txBox="1"/>
          <p:nvPr/>
        </p:nvSpPr>
        <p:spPr>
          <a:xfrm>
            <a:off x="4663440" y="1965960"/>
            <a:ext cx="2834640" cy="1783080"/>
          </a:xfrm>
          <a:prstGeom prst="rect">
            <a:avLst/>
          </a:prstGeom>
          <a:noFill/>
        </p:spPr>
        <p:txBody>
          <a:bodyPr wrap="square"/>
          <a:lstStyle/>
          <a:p>
            <a:pPr algn="l">
              <a:spcAft>
                <a:spcPts val="800"/>
              </a:spcAft>
              <a:defRPr sz="1200" b="0">
                <a:solidFill>
                  <a:srgbClr val="5A6270"/>
                </a:solidFill>
                <a:latin typeface="Inter"/>
              </a:defRPr>
            </a:pPr>
            <a:r>
              <a:t>  'I tracked my meeting stress for 30 days. Here's what I found.'</a:t>
            </a:r>
          </a:p>
          <a:p>
            <a:pPr algn="l">
              <a:spcAft>
                <a:spcPts val="800"/>
              </a:spcAft>
              <a:defRPr sz="1200" b="0">
                <a:solidFill>
                  <a:srgbClr val="5A6270"/>
                </a:solidFill>
                <a:latin typeface="Inter"/>
              </a:defRPr>
            </a:pPr>
            <a:r>
              <a:t>  'The app that told me my 1:1s were my best recovery.'</a:t>
            </a:r>
          </a:p>
          <a:p>
            <a:pPr algn="l">
              <a:spcAft>
                <a:spcPts val="800"/>
              </a:spcAft>
              <a:defRPr sz="1200" b="0">
                <a:solidFill>
                  <a:srgbClr val="5A6270"/>
                </a:solidFill>
                <a:latin typeface="Inter"/>
              </a:defRPr>
            </a:pPr>
            <a:r>
              <a:t>  'You track sleep. You track steps. Why not your stress?'</a:t>
            </a:r>
          </a:p>
          <a:p>
            <a:pPr algn="l">
              <a:spcAft>
                <a:spcPts val="800"/>
              </a:spcAft>
              <a:defRPr sz="1200" b="0">
                <a:solidFill>
                  <a:srgbClr val="5A6270"/>
                </a:solidFill>
                <a:latin typeface="Inter"/>
              </a:defRPr>
            </a:pPr>
            <a:r>
              <a:t>  'Your standup is costing you more than you think.'</a:t>
            </a:r>
          </a:p>
          <a:p>
            <a:pPr algn="l">
              <a:spcAft>
                <a:spcPts val="800"/>
              </a:spcAft>
              <a:defRPr sz="1200" b="0">
                <a:solidFill>
                  <a:srgbClr val="5A6270"/>
                </a:solidFill>
                <a:latin typeface="Inter"/>
              </a:defRPr>
            </a:pPr>
            <a:r>
              <a:t>  Screen recordings of stress scores after different meetings.</a:t>
            </a:r>
          </a:p>
        </p:txBody>
      </p:sp>
      <p:sp>
        <p:nvSpPr>
          <p:cNvPr id="13" name="Rounded Rectangle 12"/>
          <p:cNvSpPr/>
          <p:nvPr/>
        </p:nvSpPr>
        <p:spPr>
          <a:xfrm>
            <a:off x="80467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338328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54480"/>
            <a:ext cx="2834640" cy="457200"/>
          </a:xfrm>
          <a:prstGeom prst="rect">
            <a:avLst/>
          </a:prstGeom>
          <a:noFill/>
        </p:spPr>
        <p:txBody>
          <a:bodyPr wrap="square"/>
          <a:lstStyle/>
          <a:p>
            <a:pPr algn="l">
              <a:defRPr sz="1600" b="1">
                <a:solidFill>
                  <a:srgbClr val="1A1D21"/>
                </a:solidFill>
                <a:latin typeface="Playfair Display"/>
              </a:defRPr>
            </a:pPr>
            <a:r>
              <a:t>Conversion Strategy</a:t>
            </a:r>
          </a:p>
        </p:txBody>
      </p:sp>
      <p:sp>
        <p:nvSpPr>
          <p:cNvPr id="16" name="TextBox 15"/>
          <p:cNvSpPr txBox="1"/>
          <p:nvPr/>
        </p:nvSpPr>
        <p:spPr>
          <a:xfrm>
            <a:off x="8321040" y="1965960"/>
            <a:ext cx="2834640" cy="1783080"/>
          </a:xfrm>
          <a:prstGeom prst="rect">
            <a:avLst/>
          </a:prstGeom>
          <a:noFill/>
        </p:spPr>
        <p:txBody>
          <a:bodyPr wrap="square"/>
          <a:lstStyle/>
          <a:p>
            <a:pPr algn="l">
              <a:spcAft>
                <a:spcPts val="800"/>
              </a:spcAft>
              <a:defRPr sz="1200" b="0">
                <a:solidFill>
                  <a:srgbClr val="5A6270"/>
                </a:solidFill>
                <a:latin typeface="Inter"/>
              </a:defRPr>
            </a:pPr>
            <a:r>
              <a:t>  Free tier: Basic daily wellness score (hook them)</a:t>
            </a:r>
          </a:p>
          <a:p>
            <a:pPr algn="l">
              <a:spcAft>
                <a:spcPts val="800"/>
              </a:spcAft>
              <a:defRPr sz="1200" b="0">
                <a:solidFill>
                  <a:srgbClr val="5A6270"/>
                </a:solidFill>
                <a:latin typeface="Inter"/>
              </a:defRPr>
            </a:pPr>
            <a:r>
              <a:t>  Upgrade trigger: Meeting correlation (paid feature)</a:t>
            </a:r>
          </a:p>
          <a:p>
            <a:pPr algn="l">
              <a:spcAft>
                <a:spcPts val="800"/>
              </a:spcAft>
              <a:defRPr sz="1200" b="0">
                <a:solidFill>
                  <a:srgbClr val="5A6270"/>
                </a:solidFill>
                <a:latin typeface="Inter"/>
              </a:defRPr>
            </a:pPr>
            <a:r>
              <a:t>  Social proof: 'One person starts tracking, then everyone wants their number'</a:t>
            </a:r>
          </a:p>
          <a:p>
            <a:pPr algn="l">
              <a:spcAft>
                <a:spcPts val="800"/>
              </a:spcAft>
              <a:defRPr sz="1200" b="0">
                <a:solidFill>
                  <a:srgbClr val="5A6270"/>
                </a:solidFill>
                <a:latin typeface="Inter"/>
              </a:defRPr>
            </a:pPr>
            <a:r>
              <a:t>  Virality: Weekly Wrapped shareable cards</a:t>
            </a:r>
          </a:p>
          <a:p>
            <a:pPr algn="l">
              <a:spcAft>
                <a:spcPts val="800"/>
              </a:spcAft>
              <a:defRPr sz="1200" b="0">
                <a:solidFill>
                  <a:srgbClr val="5A6270"/>
                </a:solidFill>
                <a:latin typeface="Inter"/>
              </a:defRPr>
            </a:pPr>
            <a:r>
              <a:t>  Team spread: First user shows coworkers their stress data</a:t>
            </a:r>
          </a:p>
        </p:txBody>
      </p:sp>
      <p:sp>
        <p:nvSpPr>
          <p:cNvPr id="17" name="Rounded Rectangle 16"/>
          <p:cNvSpPr/>
          <p:nvPr/>
        </p:nvSpPr>
        <p:spPr>
          <a:xfrm>
            <a:off x="731520" y="4206240"/>
            <a:ext cx="10698480" cy="2286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06240"/>
            <a:ext cx="63500" cy="22860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389120"/>
            <a:ext cx="9784080" cy="731520"/>
          </a:xfrm>
          <a:prstGeom prst="rect">
            <a:avLst/>
          </a:prstGeom>
          <a:noFill/>
        </p:spPr>
        <p:txBody>
          <a:bodyPr wrap="square"/>
          <a:lstStyle/>
          <a:p>
            <a:pPr algn="l">
              <a:defRPr sz="2200" b="0" i="1">
                <a:solidFill>
                  <a:srgbClr val="1A1D21"/>
                </a:solidFill>
                <a:latin typeface="Playfair Display"/>
              </a:defRPr>
            </a:pPr>
            <a:r>
              <a:t>"I thought my Mondays were fine. Lucid showed me they weren't."</a:t>
            </a:r>
          </a:p>
        </p:txBody>
      </p:sp>
      <p:sp>
        <p:nvSpPr>
          <p:cNvPr id="20" name="TextBox 19"/>
          <p:cNvSpPr txBox="1"/>
          <p:nvPr/>
        </p:nvSpPr>
        <p:spPr>
          <a:xfrm>
            <a:off x="1188720" y="5029200"/>
            <a:ext cx="9784080" cy="1097280"/>
          </a:xfrm>
          <a:prstGeom prst="rect">
            <a:avLst/>
          </a:prstGeom>
          <a:noFill/>
        </p:spPr>
        <p:txBody>
          <a:bodyPr wrap="square"/>
          <a:lstStyle/>
          <a:p>
            <a:pPr algn="l">
              <a:defRPr sz="1300" b="0">
                <a:solidFill>
                  <a:srgbClr val="5A6270"/>
                </a:solidFill>
                <a:latin typeface="Inter"/>
              </a:defRPr>
            </a:pPr>
            <a:r>
              <a:t>This persona discovers value through revelation — showing them data about themselves they didn't know. The 'aha moment' is seeing their first meeting correlation: 'Your stress is 40% higher after back-to-back meetings.' That single insight converts trial to paid.</a:t>
            </a:r>
            <a:br/>
            <a:br/>
            <a:r>
              <a:t>Key insight: This persona doesn't want therapy. They want a dashboard for their mind — the same way they have dashboards for their code, their infrastructure, and their body.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3657600" cy="365760"/>
          </a:xfrm>
          <a:prstGeom prst="rect">
            <a:avLst/>
          </a:prstGeom>
          <a:noFill/>
        </p:spPr>
        <p:txBody>
          <a:bodyPr wrap="square"/>
          <a:lstStyle/>
          <a:p>
            <a:pPr algn="l">
              <a:defRPr sz="1200" b="1">
                <a:solidFill>
                  <a:srgbClr val="6BA37E"/>
                </a:solidFill>
                <a:latin typeface="Inter"/>
              </a:defRPr>
            </a:pPr>
            <a:r>
              <a:t>PERSONA 2</a:t>
            </a:r>
          </a:p>
        </p:txBody>
      </p:sp>
      <p:sp>
        <p:nvSpPr>
          <p:cNvPr id="5" name="TextBox 4"/>
          <p:cNvSpPr txBox="1"/>
          <p:nvPr/>
        </p:nvSpPr>
        <p:spPr>
          <a:xfrm>
            <a:off x="731520" y="411480"/>
            <a:ext cx="7315200" cy="548640"/>
          </a:xfrm>
          <a:prstGeom prst="rect">
            <a:avLst/>
          </a:prstGeom>
          <a:noFill/>
        </p:spPr>
        <p:txBody>
          <a:bodyPr wrap="square"/>
          <a:lstStyle/>
          <a:p>
            <a:pPr algn="l">
              <a:defRPr sz="3000" b="1">
                <a:solidFill>
                  <a:srgbClr val="FFFFFF"/>
                </a:solidFill>
                <a:latin typeface="Playfair Display"/>
              </a:defRPr>
            </a:pPr>
            <a:r>
              <a:t>The Optimization Architect</a:t>
            </a:r>
          </a:p>
        </p:txBody>
      </p:sp>
      <p:sp>
        <p:nvSpPr>
          <p:cNvPr id="6" name="TextBox 5"/>
          <p:cNvSpPr txBox="1"/>
          <p:nvPr/>
        </p:nvSpPr>
        <p:spPr>
          <a:xfrm>
            <a:off x="731520" y="1463040"/>
            <a:ext cx="5029200" cy="365760"/>
          </a:xfrm>
          <a:prstGeom prst="rect">
            <a:avLst/>
          </a:prstGeom>
          <a:noFill/>
        </p:spPr>
        <p:txBody>
          <a:bodyPr wrap="square"/>
          <a:lstStyle/>
          <a:p>
            <a:pPr algn="l">
              <a:defRPr sz="2000" b="1">
                <a:solidFill>
                  <a:srgbClr val="1A1D21"/>
                </a:solidFill>
                <a:latin typeface="Playfair Display"/>
              </a:defRPr>
            </a:pPr>
            <a:r>
              <a:t>Who They Are</a:t>
            </a:r>
          </a:p>
        </p:txBody>
      </p:sp>
      <p:sp>
        <p:nvSpPr>
          <p:cNvPr id="7" name="TextBox 6"/>
          <p:cNvSpPr txBox="1"/>
          <p:nvPr/>
        </p:nvSpPr>
        <p:spPr>
          <a:xfrm>
            <a:off x="731520" y="1920240"/>
            <a:ext cx="1645920" cy="274320"/>
          </a:xfrm>
          <a:prstGeom prst="rect">
            <a:avLst/>
          </a:prstGeom>
          <a:noFill/>
        </p:spPr>
        <p:txBody>
          <a:bodyPr wrap="square"/>
          <a:lstStyle/>
          <a:p>
            <a:pPr algn="l">
              <a:defRPr sz="1100" b="1">
                <a:solidFill>
                  <a:srgbClr val="6BA37E"/>
                </a:solidFill>
                <a:latin typeface="Inter"/>
              </a:defRPr>
            </a:pPr>
            <a:r>
              <a:t>Demographics</a:t>
            </a:r>
          </a:p>
        </p:txBody>
      </p:sp>
      <p:sp>
        <p:nvSpPr>
          <p:cNvPr id="8" name="TextBox 7"/>
          <p:cNvSpPr txBox="1"/>
          <p:nvPr/>
        </p:nvSpPr>
        <p:spPr>
          <a:xfrm>
            <a:off x="2560320" y="1920240"/>
            <a:ext cx="3657600" cy="914400"/>
          </a:xfrm>
          <a:prstGeom prst="rect">
            <a:avLst/>
          </a:prstGeom>
          <a:noFill/>
        </p:spPr>
        <p:txBody>
          <a:bodyPr wrap="square"/>
          <a:lstStyle/>
          <a:p>
            <a:pPr algn="l">
              <a:defRPr sz="1100" b="0">
                <a:solidFill>
                  <a:srgbClr val="5A6270"/>
                </a:solidFill>
                <a:latin typeface="Inter"/>
              </a:defRPr>
            </a:pPr>
            <a:r>
              <a:t>28-50 years old  |  $100K-$300K+ income  |  Urban</a:t>
            </a:r>
            <a:br/>
            <a:r>
              <a:t>Founders, executives, high-performers, early tech adopters</a:t>
            </a:r>
          </a:p>
        </p:txBody>
      </p:sp>
      <p:sp>
        <p:nvSpPr>
          <p:cNvPr id="9" name="TextBox 8"/>
          <p:cNvSpPr txBox="1"/>
          <p:nvPr/>
        </p:nvSpPr>
        <p:spPr>
          <a:xfrm>
            <a:off x="731520" y="3017520"/>
            <a:ext cx="1645920" cy="274320"/>
          </a:xfrm>
          <a:prstGeom prst="rect">
            <a:avLst/>
          </a:prstGeom>
          <a:noFill/>
        </p:spPr>
        <p:txBody>
          <a:bodyPr wrap="square"/>
          <a:lstStyle/>
          <a:p>
            <a:pPr algn="l">
              <a:defRPr sz="1100" b="1">
                <a:solidFill>
                  <a:srgbClr val="6BA37E"/>
                </a:solidFill>
                <a:latin typeface="Inter"/>
              </a:defRPr>
            </a:pPr>
            <a:r>
              <a:t>Psychographics</a:t>
            </a:r>
          </a:p>
        </p:txBody>
      </p:sp>
      <p:sp>
        <p:nvSpPr>
          <p:cNvPr id="10" name="TextBox 9"/>
          <p:cNvSpPr txBox="1"/>
          <p:nvPr/>
        </p:nvSpPr>
        <p:spPr>
          <a:xfrm>
            <a:off x="2560320" y="3017520"/>
            <a:ext cx="3657600" cy="914400"/>
          </a:xfrm>
          <a:prstGeom prst="rect">
            <a:avLst/>
          </a:prstGeom>
          <a:noFill/>
        </p:spPr>
        <p:txBody>
          <a:bodyPr wrap="square"/>
          <a:lstStyle/>
          <a:p>
            <a:pPr algn="l">
              <a:defRPr sz="1100" b="0">
                <a:solidFill>
                  <a:srgbClr val="5A6270"/>
                </a:solidFill>
                <a:latin typeface="Inter"/>
              </a:defRPr>
            </a:pPr>
            <a:r>
              <a:t>Identity = 'self-knowledge through numbers.' They track glucose,</a:t>
            </a:r>
            <a:br/>
            <a:r>
              <a:t>HRV, sleep stages, blood biomarkers. Always the first to try new</a:t>
            </a:r>
            <a:br/>
            <a:r>
              <a:t>health tech. Healthspan &gt; lifespan mindset (energy, cognition NOW).</a:t>
            </a:r>
          </a:p>
        </p:txBody>
      </p:sp>
      <p:sp>
        <p:nvSpPr>
          <p:cNvPr id="11" name="TextBox 10"/>
          <p:cNvSpPr txBox="1"/>
          <p:nvPr/>
        </p:nvSpPr>
        <p:spPr>
          <a:xfrm>
            <a:off x="731520" y="4114800"/>
            <a:ext cx="1645920" cy="274320"/>
          </a:xfrm>
          <a:prstGeom prst="rect">
            <a:avLst/>
          </a:prstGeom>
          <a:noFill/>
        </p:spPr>
        <p:txBody>
          <a:bodyPr wrap="square"/>
          <a:lstStyle/>
          <a:p>
            <a:pPr algn="l">
              <a:defRPr sz="1100" b="1">
                <a:solidFill>
                  <a:srgbClr val="6BA37E"/>
                </a:solidFill>
                <a:latin typeface="Inter"/>
              </a:defRPr>
            </a:pPr>
            <a:r>
              <a:t>Current Stack</a:t>
            </a:r>
          </a:p>
        </p:txBody>
      </p:sp>
      <p:sp>
        <p:nvSpPr>
          <p:cNvPr id="12" name="TextBox 11"/>
          <p:cNvSpPr txBox="1"/>
          <p:nvPr/>
        </p:nvSpPr>
        <p:spPr>
          <a:xfrm>
            <a:off x="2560320" y="4114800"/>
            <a:ext cx="3657600" cy="914400"/>
          </a:xfrm>
          <a:prstGeom prst="rect">
            <a:avLst/>
          </a:prstGeom>
          <a:noFill/>
        </p:spPr>
        <p:txBody>
          <a:bodyPr wrap="square"/>
          <a:lstStyle/>
          <a:p>
            <a:pPr algn="l">
              <a:defRPr sz="1100" b="0">
                <a:solidFill>
                  <a:srgbClr val="5A6270"/>
                </a:solidFill>
                <a:latin typeface="Inter"/>
              </a:defRPr>
            </a:pPr>
            <a:r>
              <a:t>Oura Ring ($400+), WHOOP ($199-$399/yr), Apple Watch, CGM</a:t>
            </a:r>
            <a:br/>
            <a:r>
              <a:t>Blood panels, sauna, cold plunge, supplements protocol</a:t>
            </a:r>
            <a:br/>
            <a:r>
              <a:t>Spend $5,321+/yr on wellness (often much more)</a:t>
            </a:r>
          </a:p>
        </p:txBody>
      </p:sp>
      <p:sp>
        <p:nvSpPr>
          <p:cNvPr id="13" name="TextBox 12"/>
          <p:cNvSpPr txBox="1"/>
          <p:nvPr/>
        </p:nvSpPr>
        <p:spPr>
          <a:xfrm>
            <a:off x="731520" y="5212080"/>
            <a:ext cx="1645920" cy="274320"/>
          </a:xfrm>
          <a:prstGeom prst="rect">
            <a:avLst/>
          </a:prstGeom>
          <a:noFill/>
        </p:spPr>
        <p:txBody>
          <a:bodyPr wrap="square"/>
          <a:lstStyle/>
          <a:p>
            <a:pPr algn="l">
              <a:defRPr sz="1100" b="1">
                <a:solidFill>
                  <a:srgbClr val="6BA37E"/>
                </a:solidFill>
                <a:latin typeface="Inter"/>
              </a:defRPr>
            </a:pPr>
            <a:r>
              <a:t>The Gap</a:t>
            </a:r>
          </a:p>
        </p:txBody>
      </p:sp>
      <p:sp>
        <p:nvSpPr>
          <p:cNvPr id="14" name="TextBox 13"/>
          <p:cNvSpPr txBox="1"/>
          <p:nvPr/>
        </p:nvSpPr>
        <p:spPr>
          <a:xfrm>
            <a:off x="2560320" y="5212080"/>
            <a:ext cx="3657600" cy="914400"/>
          </a:xfrm>
          <a:prstGeom prst="rect">
            <a:avLst/>
          </a:prstGeom>
          <a:noFill/>
        </p:spPr>
        <p:txBody>
          <a:bodyPr wrap="square"/>
          <a:lstStyle/>
          <a:p>
            <a:pPr algn="l">
              <a:defRPr sz="1100" b="0">
                <a:solidFill>
                  <a:srgbClr val="5A6270"/>
                </a:solidFill>
                <a:latin typeface="Inter"/>
              </a:defRPr>
            </a:pPr>
            <a:r>
              <a:t>'I have 50 data streams for my body and ZERO for my mind.'</a:t>
            </a:r>
            <a:br/>
            <a:r>
              <a:t>No objective mental/emotional data in their health stack.</a:t>
            </a:r>
            <a:br/>
            <a:r>
              <a:t>Voice is the missing biomarker layer.</a:t>
            </a:r>
          </a:p>
        </p:txBody>
      </p:sp>
      <p:sp>
        <p:nvSpPr>
          <p:cNvPr id="15" name="Rounded Rectangle 14"/>
          <p:cNvSpPr/>
          <p:nvPr/>
        </p:nvSpPr>
        <p:spPr>
          <a:xfrm>
            <a:off x="6858000" y="1463040"/>
            <a:ext cx="4572000" cy="50292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463040"/>
            <a:ext cx="457200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645920"/>
            <a:ext cx="4114800" cy="365760"/>
          </a:xfrm>
          <a:prstGeom prst="rect">
            <a:avLst/>
          </a:prstGeom>
          <a:noFill/>
        </p:spPr>
        <p:txBody>
          <a:bodyPr wrap="square"/>
          <a:lstStyle/>
          <a:p>
            <a:pPr algn="l">
              <a:defRPr sz="1800" b="1">
                <a:solidFill>
                  <a:srgbClr val="1A1D21"/>
                </a:solidFill>
                <a:latin typeface="Playfair Display"/>
              </a:defRPr>
            </a:pPr>
            <a:r>
              <a:t>Market Opportunity</a:t>
            </a:r>
          </a:p>
        </p:txBody>
      </p:sp>
      <p:sp>
        <p:nvSpPr>
          <p:cNvPr id="18" name="TextBox 17"/>
          <p:cNvSpPr txBox="1"/>
          <p:nvPr/>
        </p:nvSpPr>
        <p:spPr>
          <a:xfrm>
            <a:off x="7132320" y="2148840"/>
            <a:ext cx="1097280" cy="320040"/>
          </a:xfrm>
          <a:prstGeom prst="rect">
            <a:avLst/>
          </a:prstGeom>
          <a:noFill/>
        </p:spPr>
        <p:txBody>
          <a:bodyPr wrap="square"/>
          <a:lstStyle/>
          <a:p>
            <a:pPr algn="l">
              <a:defRPr sz="1800" b="1">
                <a:solidFill>
                  <a:srgbClr val="6BA37E"/>
                </a:solidFill>
                <a:latin typeface="Inter"/>
              </a:defRPr>
            </a:pPr>
            <a:r>
              <a:t>$38B</a:t>
            </a:r>
          </a:p>
        </p:txBody>
      </p:sp>
      <p:sp>
        <p:nvSpPr>
          <p:cNvPr id="19" name="TextBox 18"/>
          <p:cNvSpPr txBox="1"/>
          <p:nvPr/>
        </p:nvSpPr>
        <p:spPr>
          <a:xfrm>
            <a:off x="8321040" y="2176272"/>
            <a:ext cx="2926080" cy="320040"/>
          </a:xfrm>
          <a:prstGeom prst="rect">
            <a:avLst/>
          </a:prstGeom>
          <a:noFill/>
        </p:spPr>
        <p:txBody>
          <a:bodyPr wrap="square"/>
          <a:lstStyle/>
          <a:p>
            <a:pPr algn="l">
              <a:defRPr sz="1100" b="0">
                <a:solidFill>
                  <a:srgbClr val="5A6270"/>
                </a:solidFill>
                <a:latin typeface="Inter"/>
              </a:defRPr>
            </a:pPr>
            <a:r>
              <a:t>global biohacking market (2025), growing to $217B by 2035</a:t>
            </a:r>
          </a:p>
        </p:txBody>
      </p:sp>
      <p:sp>
        <p:nvSpPr>
          <p:cNvPr id="20" name="TextBox 19"/>
          <p:cNvSpPr txBox="1"/>
          <p:nvPr/>
        </p:nvSpPr>
        <p:spPr>
          <a:xfrm>
            <a:off x="7132320" y="2651760"/>
            <a:ext cx="1097280" cy="320040"/>
          </a:xfrm>
          <a:prstGeom prst="rect">
            <a:avLst/>
          </a:prstGeom>
          <a:noFill/>
        </p:spPr>
        <p:txBody>
          <a:bodyPr wrap="square"/>
          <a:lstStyle/>
          <a:p>
            <a:pPr algn="l">
              <a:defRPr sz="1800" b="1">
                <a:solidFill>
                  <a:srgbClr val="6BA37E"/>
                </a:solidFill>
                <a:latin typeface="Inter"/>
              </a:defRPr>
            </a:pPr>
            <a:r>
              <a:t>19%</a:t>
            </a:r>
          </a:p>
        </p:txBody>
      </p:sp>
      <p:sp>
        <p:nvSpPr>
          <p:cNvPr id="21" name="TextBox 20"/>
          <p:cNvSpPr txBox="1"/>
          <p:nvPr/>
        </p:nvSpPr>
        <p:spPr>
          <a:xfrm>
            <a:off x="8321040" y="2679192"/>
            <a:ext cx="2926080" cy="320040"/>
          </a:xfrm>
          <a:prstGeom prst="rect">
            <a:avLst/>
          </a:prstGeom>
          <a:noFill/>
        </p:spPr>
        <p:txBody>
          <a:bodyPr wrap="square"/>
          <a:lstStyle/>
          <a:p>
            <a:pPr algn="l">
              <a:defRPr sz="1100" b="0">
                <a:solidFill>
                  <a:srgbClr val="5A6270"/>
                </a:solidFill>
                <a:latin typeface="Inter"/>
              </a:defRPr>
            </a:pPr>
            <a:r>
              <a:t>CAGR for biohacking market — explosive growth</a:t>
            </a:r>
          </a:p>
        </p:txBody>
      </p:sp>
      <p:sp>
        <p:nvSpPr>
          <p:cNvPr id="22" name="TextBox 21"/>
          <p:cNvSpPr txBox="1"/>
          <p:nvPr/>
        </p:nvSpPr>
        <p:spPr>
          <a:xfrm>
            <a:off x="7132320" y="3154680"/>
            <a:ext cx="1097280" cy="320040"/>
          </a:xfrm>
          <a:prstGeom prst="rect">
            <a:avLst/>
          </a:prstGeom>
          <a:noFill/>
        </p:spPr>
        <p:txBody>
          <a:bodyPr wrap="square"/>
          <a:lstStyle/>
          <a:p>
            <a:pPr algn="l">
              <a:defRPr sz="1800" b="1">
                <a:solidFill>
                  <a:srgbClr val="6BA37E"/>
                </a:solidFill>
                <a:latin typeface="Inter"/>
              </a:defRPr>
            </a:pPr>
            <a:r>
              <a:t>$500M+</a:t>
            </a:r>
          </a:p>
        </p:txBody>
      </p:sp>
      <p:sp>
        <p:nvSpPr>
          <p:cNvPr id="23" name="TextBox 22"/>
          <p:cNvSpPr txBox="1"/>
          <p:nvPr/>
        </p:nvSpPr>
        <p:spPr>
          <a:xfrm>
            <a:off x="8321040" y="3182112"/>
            <a:ext cx="2926080" cy="320040"/>
          </a:xfrm>
          <a:prstGeom prst="rect">
            <a:avLst/>
          </a:prstGeom>
          <a:noFill/>
        </p:spPr>
        <p:txBody>
          <a:bodyPr wrap="square"/>
          <a:lstStyle/>
          <a:p>
            <a:pPr algn="l">
              <a:defRPr sz="1100" b="0">
                <a:solidFill>
                  <a:srgbClr val="5A6270"/>
                </a:solidFill>
                <a:latin typeface="Inter"/>
              </a:defRPr>
            </a:pPr>
            <a:r>
              <a:t>Oura revenue in 2024, on track for $1B in 2025</a:t>
            </a:r>
          </a:p>
        </p:txBody>
      </p:sp>
      <p:sp>
        <p:nvSpPr>
          <p:cNvPr id="24" name="TextBox 23"/>
          <p:cNvSpPr txBox="1"/>
          <p:nvPr/>
        </p:nvSpPr>
        <p:spPr>
          <a:xfrm>
            <a:off x="7132320" y="3657600"/>
            <a:ext cx="1097280" cy="320040"/>
          </a:xfrm>
          <a:prstGeom prst="rect">
            <a:avLst/>
          </a:prstGeom>
          <a:noFill/>
        </p:spPr>
        <p:txBody>
          <a:bodyPr wrap="square"/>
          <a:lstStyle/>
          <a:p>
            <a:pPr algn="l">
              <a:defRPr sz="1800" b="1">
                <a:solidFill>
                  <a:srgbClr val="6BA37E"/>
                </a:solidFill>
                <a:latin typeface="Inter"/>
              </a:defRPr>
            </a:pPr>
            <a:r>
              <a:t>155K</a:t>
            </a:r>
          </a:p>
        </p:txBody>
      </p:sp>
      <p:sp>
        <p:nvSpPr>
          <p:cNvPr id="25" name="TextBox 24"/>
          <p:cNvSpPr txBox="1"/>
          <p:nvPr/>
        </p:nvSpPr>
        <p:spPr>
          <a:xfrm>
            <a:off x="8321040" y="3685032"/>
            <a:ext cx="2926080" cy="320040"/>
          </a:xfrm>
          <a:prstGeom prst="rect">
            <a:avLst/>
          </a:prstGeom>
          <a:noFill/>
        </p:spPr>
        <p:txBody>
          <a:bodyPr wrap="square"/>
          <a:lstStyle/>
          <a:p>
            <a:pPr algn="l">
              <a:defRPr sz="1100" b="0">
                <a:solidFill>
                  <a:srgbClr val="5A6270"/>
                </a:solidFill>
                <a:latin typeface="Inter"/>
              </a:defRPr>
            </a:pPr>
            <a:r>
              <a:t>members in r/quantifiedself — highly engaged community</a:t>
            </a:r>
          </a:p>
        </p:txBody>
      </p:sp>
      <p:sp>
        <p:nvSpPr>
          <p:cNvPr id="26" name="TextBox 25"/>
          <p:cNvSpPr txBox="1"/>
          <p:nvPr/>
        </p:nvSpPr>
        <p:spPr>
          <a:xfrm>
            <a:off x="7132320" y="4160520"/>
            <a:ext cx="1097280" cy="320040"/>
          </a:xfrm>
          <a:prstGeom prst="rect">
            <a:avLst/>
          </a:prstGeom>
          <a:noFill/>
        </p:spPr>
        <p:txBody>
          <a:bodyPr wrap="square"/>
          <a:lstStyle/>
          <a:p>
            <a:pPr algn="l">
              <a:defRPr sz="1800" b="1">
                <a:solidFill>
                  <a:srgbClr val="6BA37E"/>
                </a:solidFill>
                <a:latin typeface="Inter"/>
              </a:defRPr>
            </a:pPr>
            <a:r>
              <a:t>350K+</a:t>
            </a:r>
          </a:p>
        </p:txBody>
      </p:sp>
      <p:sp>
        <p:nvSpPr>
          <p:cNvPr id="27" name="TextBox 26"/>
          <p:cNvSpPr txBox="1"/>
          <p:nvPr/>
        </p:nvSpPr>
        <p:spPr>
          <a:xfrm>
            <a:off x="8321040" y="4187952"/>
            <a:ext cx="2926080" cy="320040"/>
          </a:xfrm>
          <a:prstGeom prst="rect">
            <a:avLst/>
          </a:prstGeom>
          <a:noFill/>
        </p:spPr>
        <p:txBody>
          <a:bodyPr wrap="square"/>
          <a:lstStyle/>
          <a:p>
            <a:pPr algn="l">
              <a:defRPr sz="1100" b="0">
                <a:solidFill>
                  <a:srgbClr val="5A6270"/>
                </a:solidFill>
                <a:latin typeface="Inter"/>
              </a:defRPr>
            </a:pPr>
            <a:r>
              <a:t>members in r/Biohackers subreddit</a:t>
            </a:r>
          </a:p>
        </p:txBody>
      </p:sp>
      <p:sp>
        <p:nvSpPr>
          <p:cNvPr id="28" name="TextBox 27"/>
          <p:cNvSpPr txBox="1"/>
          <p:nvPr/>
        </p:nvSpPr>
        <p:spPr>
          <a:xfrm>
            <a:off x="7132320" y="4663440"/>
            <a:ext cx="1097280" cy="320040"/>
          </a:xfrm>
          <a:prstGeom prst="rect">
            <a:avLst/>
          </a:prstGeom>
          <a:noFill/>
        </p:spPr>
        <p:txBody>
          <a:bodyPr wrap="square"/>
          <a:lstStyle/>
          <a:p>
            <a:pPr algn="l">
              <a:defRPr sz="1800" b="1">
                <a:solidFill>
                  <a:srgbClr val="6BA37E"/>
                </a:solidFill>
                <a:latin typeface="Inter"/>
              </a:defRPr>
            </a:pPr>
            <a:r>
              <a:t>2-3x</a:t>
            </a:r>
          </a:p>
        </p:txBody>
      </p:sp>
      <p:sp>
        <p:nvSpPr>
          <p:cNvPr id="29" name="TextBox 28"/>
          <p:cNvSpPr txBox="1"/>
          <p:nvPr/>
        </p:nvSpPr>
        <p:spPr>
          <a:xfrm>
            <a:off x="8321040" y="4690872"/>
            <a:ext cx="2926080" cy="320040"/>
          </a:xfrm>
          <a:prstGeom prst="rect">
            <a:avLst/>
          </a:prstGeom>
          <a:noFill/>
        </p:spPr>
        <p:txBody>
          <a:bodyPr wrap="square"/>
          <a:lstStyle/>
          <a:p>
            <a:pPr algn="l">
              <a:defRPr sz="1100" b="0">
                <a:solidFill>
                  <a:srgbClr val="5A6270"/>
                </a:solidFill>
                <a:latin typeface="Inter"/>
              </a:defRPr>
            </a:pPr>
            <a:r>
              <a:t>higher WTP for health subscriptions vs general population</a:t>
            </a:r>
          </a:p>
        </p:txBody>
      </p:sp>
      <p:sp>
        <p:nvSpPr>
          <p:cNvPr id="30" name="TextBox 29"/>
          <p:cNvSpPr txBox="1"/>
          <p:nvPr/>
        </p:nvSpPr>
        <p:spPr>
          <a:xfrm>
            <a:off x="7132320" y="5166360"/>
            <a:ext cx="1097280" cy="320040"/>
          </a:xfrm>
          <a:prstGeom prst="rect">
            <a:avLst/>
          </a:prstGeom>
          <a:noFill/>
        </p:spPr>
        <p:txBody>
          <a:bodyPr wrap="square"/>
          <a:lstStyle/>
          <a:p>
            <a:pPr algn="l">
              <a:defRPr sz="1800" b="1">
                <a:solidFill>
                  <a:srgbClr val="6BA37E"/>
                </a:solidFill>
                <a:latin typeface="Inter"/>
              </a:defRPr>
            </a:pPr>
            <a:r>
              <a:t>52%</a:t>
            </a:r>
          </a:p>
        </p:txBody>
      </p:sp>
      <p:sp>
        <p:nvSpPr>
          <p:cNvPr id="31" name="TextBox 30"/>
          <p:cNvSpPr txBox="1"/>
          <p:nvPr/>
        </p:nvSpPr>
        <p:spPr>
          <a:xfrm>
            <a:off x="8321040" y="5193792"/>
            <a:ext cx="2926080" cy="320040"/>
          </a:xfrm>
          <a:prstGeom prst="rect">
            <a:avLst/>
          </a:prstGeom>
          <a:noFill/>
        </p:spPr>
        <p:txBody>
          <a:bodyPr wrap="square"/>
          <a:lstStyle/>
          <a:p>
            <a:pPr algn="l">
              <a:defRPr sz="1100" b="0">
                <a:solidFill>
                  <a:srgbClr val="5A6270"/>
                </a:solidFill>
                <a:latin typeface="Inter"/>
              </a:defRPr>
            </a:pPr>
            <a:r>
              <a:t>YoY spending growth among Oura users in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6BA37E"/>
                </a:solidFill>
                <a:latin typeface="Inter"/>
              </a:defRPr>
            </a:pPr>
            <a:r>
              <a:t>PERSONA 2  |  THE OPTIMIZATION ARCHITECT</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Pain Points, Hooks &amp; Feature Value</a:t>
            </a:r>
          </a:p>
        </p:txBody>
      </p:sp>
      <p:sp>
        <p:nvSpPr>
          <p:cNvPr id="5" name="Rounded Rectangle 4"/>
          <p:cNvSpPr/>
          <p:nvPr/>
        </p:nvSpPr>
        <p:spPr>
          <a:xfrm>
            <a:off x="73152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30352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754880" cy="457200"/>
          </a:xfrm>
          <a:prstGeom prst="rect">
            <a:avLst/>
          </a:prstGeom>
          <a:noFill/>
        </p:spPr>
        <p:txBody>
          <a:bodyPr wrap="square"/>
          <a:lstStyle/>
          <a:p>
            <a:pPr algn="l">
              <a:defRPr sz="1600" b="1">
                <a:solidFill>
                  <a:srgbClr val="1A1D21"/>
                </a:solidFill>
                <a:latin typeface="Playfair Display"/>
              </a:defRPr>
            </a:pPr>
            <a:r>
              <a:t>Core Pain Points</a:t>
            </a:r>
          </a:p>
        </p:txBody>
      </p:sp>
      <p:sp>
        <p:nvSpPr>
          <p:cNvPr id="8" name="TextBox 7"/>
          <p:cNvSpPr txBox="1"/>
          <p:nvPr/>
        </p:nvSpPr>
        <p:spPr>
          <a:xfrm>
            <a:off x="1005840" y="1965960"/>
            <a:ext cx="4754880" cy="1783080"/>
          </a:xfrm>
          <a:prstGeom prst="rect">
            <a:avLst/>
          </a:prstGeom>
          <a:noFill/>
        </p:spPr>
        <p:txBody>
          <a:bodyPr wrap="square"/>
          <a:lstStyle/>
          <a:p>
            <a:pPr algn="l">
              <a:spcAft>
                <a:spcPts val="800"/>
              </a:spcAft>
              <a:defRPr sz="1200" b="0">
                <a:solidFill>
                  <a:srgbClr val="5A6270"/>
                </a:solidFill>
                <a:latin typeface="Inter"/>
              </a:defRPr>
            </a:pPr>
            <a:r>
              <a:t>  'My body has a dashboard. My mind doesn't.'</a:t>
            </a:r>
          </a:p>
          <a:p>
            <a:pPr algn="l">
              <a:spcAft>
                <a:spcPts val="800"/>
              </a:spcAft>
              <a:defRPr sz="1200" b="0">
                <a:solidFill>
                  <a:srgbClr val="5A6270"/>
                </a:solidFill>
                <a:latin typeface="Inter"/>
              </a:defRPr>
            </a:pPr>
            <a:r>
              <a:t>  They track HRV, sleep, glucose — but have ZERO emotional data.</a:t>
            </a:r>
          </a:p>
          <a:p>
            <a:pPr algn="l">
              <a:spcAft>
                <a:spcPts val="800"/>
              </a:spcAft>
              <a:defRPr sz="1200" b="0">
                <a:solidFill>
                  <a:srgbClr val="5A6270"/>
                </a:solidFill>
                <a:latin typeface="Inter"/>
              </a:defRPr>
            </a:pPr>
            <a:r>
              <a:t>  No mental health biomarker exists in their stack (PMC 2023).</a:t>
            </a:r>
          </a:p>
          <a:p>
            <a:pPr algn="l">
              <a:spcAft>
                <a:spcPts val="800"/>
              </a:spcAft>
              <a:defRPr sz="1200" b="0">
                <a:solidFill>
                  <a:srgbClr val="5A6270"/>
                </a:solidFill>
                <a:latin typeface="Inter"/>
              </a:defRPr>
            </a:pPr>
            <a:r>
              <a:t>  They want the missing data stream, not advice or treatment.</a:t>
            </a:r>
          </a:p>
          <a:p>
            <a:pPr algn="l">
              <a:spcAft>
                <a:spcPts val="800"/>
              </a:spcAft>
              <a:defRPr sz="1200" b="0">
                <a:solidFill>
                  <a:srgbClr val="5A6270"/>
                </a:solidFill>
                <a:latin typeface="Inter"/>
              </a:defRPr>
            </a:pPr>
            <a:r>
              <a:t>  Frustrated by subjective mood journals — want objective signals.</a:t>
            </a:r>
          </a:p>
          <a:p>
            <a:pPr algn="l">
              <a:spcAft>
                <a:spcPts val="800"/>
              </a:spcAft>
              <a:defRPr sz="1200" b="0">
                <a:solidFill>
                  <a:srgbClr val="5A6270"/>
                </a:solidFill>
                <a:latin typeface="Inter"/>
              </a:defRPr>
            </a:pPr>
            <a:r>
              <a:t>  Looking for cross-correlations between mental and physical data.</a:t>
            </a:r>
          </a:p>
        </p:txBody>
      </p:sp>
      <p:sp>
        <p:nvSpPr>
          <p:cNvPr id="9" name="Rounded Rectangle 8"/>
          <p:cNvSpPr/>
          <p:nvPr/>
        </p:nvSpPr>
        <p:spPr>
          <a:xfrm>
            <a:off x="640080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530352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554480"/>
            <a:ext cx="4754880" cy="457200"/>
          </a:xfrm>
          <a:prstGeom prst="rect">
            <a:avLst/>
          </a:prstGeom>
          <a:noFill/>
        </p:spPr>
        <p:txBody>
          <a:bodyPr wrap="square"/>
          <a:lstStyle/>
          <a:p>
            <a:pPr algn="l">
              <a:defRPr sz="1600" b="1">
                <a:solidFill>
                  <a:srgbClr val="1A1D21"/>
                </a:solidFill>
                <a:latin typeface="Playfair Display"/>
              </a:defRPr>
            </a:pPr>
            <a:r>
              <a:t>Messaging That Resonates</a:t>
            </a:r>
          </a:p>
        </p:txBody>
      </p:sp>
      <p:sp>
        <p:nvSpPr>
          <p:cNvPr id="12" name="TextBox 11"/>
          <p:cNvSpPr txBox="1"/>
          <p:nvPr/>
        </p:nvSpPr>
        <p:spPr>
          <a:xfrm>
            <a:off x="6675120" y="1965960"/>
            <a:ext cx="4754880" cy="1783080"/>
          </a:xfrm>
          <a:prstGeom prst="rect">
            <a:avLst/>
          </a:prstGeom>
          <a:noFill/>
        </p:spPr>
        <p:txBody>
          <a:bodyPr wrap="square"/>
          <a:lstStyle/>
          <a:p>
            <a:pPr algn="l">
              <a:spcAft>
                <a:spcPts val="800"/>
              </a:spcAft>
              <a:defRPr sz="1200" b="0">
                <a:solidFill>
                  <a:srgbClr val="5A6270"/>
                </a:solidFill>
                <a:latin typeface="Inter"/>
              </a:defRPr>
            </a:pPr>
            <a:r>
              <a:t>  'Your Oura Tracks Your Body. Nothing Tracks Your Mind. Until Now.'</a:t>
            </a:r>
          </a:p>
          <a:p>
            <a:pPr algn="l">
              <a:spcAft>
                <a:spcPts val="800"/>
              </a:spcAft>
              <a:defRPr sz="1200" b="0">
                <a:solidFill>
                  <a:srgbClr val="5A6270"/>
                </a:solidFill>
                <a:latin typeface="Inter"/>
              </a:defRPr>
            </a:pPr>
            <a:r>
              <a:t>  'Complete Your Health Stack.'</a:t>
            </a:r>
          </a:p>
          <a:p>
            <a:pPr algn="l">
              <a:spcAft>
                <a:spcPts val="800"/>
              </a:spcAft>
              <a:defRPr sz="1200" b="0">
                <a:solidFill>
                  <a:srgbClr val="5A6270"/>
                </a:solidFill>
                <a:latin typeface="Inter"/>
              </a:defRPr>
            </a:pPr>
            <a:r>
              <a:t>  'You Compare Sleep Scores. Imagine Comparing Stress Resilience.'</a:t>
            </a:r>
          </a:p>
          <a:p>
            <a:pPr algn="l">
              <a:spcAft>
                <a:spcPts val="800"/>
              </a:spcAft>
              <a:defRPr sz="1200" b="0">
                <a:solidFill>
                  <a:srgbClr val="5A6270"/>
                </a:solidFill>
                <a:latin typeface="Inter"/>
              </a:defRPr>
            </a:pPr>
            <a:r>
              <a:t>  'Your Mind Is 9.8 Years Behind Your Body.'</a:t>
            </a:r>
          </a:p>
          <a:p>
            <a:pPr algn="l">
              <a:spcAft>
                <a:spcPts val="800"/>
              </a:spcAft>
              <a:defRPr sz="1200" b="0">
                <a:solidFill>
                  <a:srgbClr val="5A6270"/>
                </a:solidFill>
                <a:latin typeface="Inter"/>
              </a:defRPr>
            </a:pPr>
            <a:r>
              <a:t>  'The quantified self has a qualitative gap. Lucid fills it.'</a:t>
            </a:r>
          </a:p>
          <a:p>
            <a:pPr algn="l">
              <a:spcAft>
                <a:spcPts val="800"/>
              </a:spcAft>
              <a:defRPr sz="1200" b="0">
                <a:solidFill>
                  <a:srgbClr val="5A6270"/>
                </a:solidFill>
                <a:latin typeface="Inter"/>
              </a:defRPr>
            </a:pPr>
            <a:r>
              <a:t>  Scientific credibility language: '244M parameters, 35K patients.'</a:t>
            </a:r>
          </a:p>
        </p:txBody>
      </p:sp>
      <p:sp>
        <p:nvSpPr>
          <p:cNvPr id="13" name="TextBox 12"/>
          <p:cNvSpPr txBox="1"/>
          <p:nvPr/>
        </p:nvSpPr>
        <p:spPr>
          <a:xfrm>
            <a:off x="731520" y="4114800"/>
            <a:ext cx="5486400" cy="365760"/>
          </a:xfrm>
          <a:prstGeom prst="rect">
            <a:avLst/>
          </a:prstGeom>
          <a:noFill/>
        </p:spPr>
        <p:txBody>
          <a:bodyPr wrap="square"/>
          <a:lstStyle/>
          <a:p>
            <a:pPr algn="l">
              <a:defRPr sz="1600" b="1">
                <a:solidFill>
                  <a:srgbClr val="1A1D21"/>
                </a:solidFill>
                <a:latin typeface="Playfair Display"/>
              </a:defRPr>
            </a:pPr>
            <a:r>
              <a:t>Feature Value Ranking (Highest to Lowest)</a:t>
            </a:r>
          </a:p>
        </p:txBody>
      </p:sp>
      <p:sp>
        <p:nvSpPr>
          <p:cNvPr id="14" name="TextBox 13"/>
          <p:cNvSpPr txBox="1"/>
          <p:nvPr/>
        </p:nvSpPr>
        <p:spPr>
          <a:xfrm>
            <a:off x="731520" y="4572000"/>
            <a:ext cx="3200400" cy="274320"/>
          </a:xfrm>
          <a:prstGeom prst="rect">
            <a:avLst/>
          </a:prstGeom>
          <a:noFill/>
        </p:spPr>
        <p:txBody>
          <a:bodyPr wrap="square"/>
          <a:lstStyle/>
          <a:p>
            <a:pPr algn="l">
              <a:defRPr sz="1200" b="1">
                <a:solidFill>
                  <a:srgbClr val="1A1D21"/>
                </a:solidFill>
                <a:latin typeface="Inter"/>
              </a:defRPr>
            </a:pPr>
            <a:r>
              <a:t>1. Correlation Explorer</a:t>
            </a:r>
          </a:p>
        </p:txBody>
      </p:sp>
      <p:sp>
        <p:nvSpPr>
          <p:cNvPr id="15" name="TextBox 14"/>
          <p:cNvSpPr txBox="1"/>
          <p:nvPr/>
        </p:nvSpPr>
        <p:spPr>
          <a:xfrm>
            <a:off x="4114800" y="4572000"/>
            <a:ext cx="5943600" cy="274320"/>
          </a:xfrm>
          <a:prstGeom prst="rect">
            <a:avLst/>
          </a:prstGeom>
          <a:noFill/>
        </p:spPr>
        <p:txBody>
          <a:bodyPr wrap="square"/>
          <a:lstStyle/>
          <a:p>
            <a:pPr algn="l">
              <a:defRPr sz="1100" b="0">
                <a:solidFill>
                  <a:srgbClr val="5A6270"/>
                </a:solidFill>
                <a:latin typeface="Inter"/>
              </a:defRPr>
            </a:pPr>
            <a:r>
              <a:t>Cross-ref voice data with Oura, WHOOP, Apple Health — the 'killer link'</a:t>
            </a:r>
          </a:p>
        </p:txBody>
      </p:sp>
      <p:sp>
        <p:nvSpPr>
          <p:cNvPr id="16" name="TextBox 15"/>
          <p:cNvSpPr txBox="1"/>
          <p:nvPr/>
        </p:nvSpPr>
        <p:spPr>
          <a:xfrm>
            <a:off x="10789920" y="4572000"/>
            <a:ext cx="914400" cy="274320"/>
          </a:xfrm>
          <a:prstGeom prst="rect">
            <a:avLst/>
          </a:prstGeom>
          <a:noFill/>
        </p:spPr>
        <p:txBody>
          <a:bodyPr wrap="square"/>
          <a:lstStyle/>
          <a:p>
            <a:pPr algn="r">
              <a:defRPr sz="1200" b="1">
                <a:solidFill>
                  <a:srgbClr val="6BA37E"/>
                </a:solidFill>
                <a:latin typeface="Inter"/>
              </a:defRPr>
            </a:pPr>
            <a:r>
              <a:t>10/10</a:t>
            </a:r>
          </a:p>
        </p:txBody>
      </p:sp>
      <p:sp>
        <p:nvSpPr>
          <p:cNvPr id="17" name="TextBox 16"/>
          <p:cNvSpPr txBox="1"/>
          <p:nvPr/>
        </p:nvSpPr>
        <p:spPr>
          <a:xfrm>
            <a:off x="731520" y="4919472"/>
            <a:ext cx="3200400" cy="274320"/>
          </a:xfrm>
          <a:prstGeom prst="rect">
            <a:avLst/>
          </a:prstGeom>
          <a:noFill/>
        </p:spPr>
        <p:txBody>
          <a:bodyPr wrap="square"/>
          <a:lstStyle/>
          <a:p>
            <a:pPr algn="l">
              <a:defRPr sz="1200" b="1">
                <a:solidFill>
                  <a:srgbClr val="1A1D21"/>
                </a:solidFill>
                <a:latin typeface="Inter"/>
              </a:defRPr>
            </a:pPr>
            <a:r>
              <a:t>2. Raw Acoustic Data Export</a:t>
            </a:r>
          </a:p>
        </p:txBody>
      </p:sp>
      <p:sp>
        <p:nvSpPr>
          <p:cNvPr id="18" name="TextBox 17"/>
          <p:cNvSpPr txBox="1"/>
          <p:nvPr/>
        </p:nvSpPr>
        <p:spPr>
          <a:xfrm>
            <a:off x="4114800" y="4919472"/>
            <a:ext cx="5943600" cy="274320"/>
          </a:xfrm>
          <a:prstGeom prst="rect">
            <a:avLst/>
          </a:prstGeom>
          <a:noFill/>
        </p:spPr>
        <p:txBody>
          <a:bodyPr wrap="square"/>
          <a:lstStyle/>
          <a:p>
            <a:pPr algn="l">
              <a:defRPr sz="1100" b="0">
                <a:solidFill>
                  <a:srgbClr val="5A6270"/>
                </a:solidFill>
                <a:latin typeface="Inter"/>
              </a:defRPr>
            </a:pPr>
            <a:r>
              <a:t>8 features, CSV/JSON/API — they want to build their own analyses</a:t>
            </a:r>
          </a:p>
        </p:txBody>
      </p:sp>
      <p:sp>
        <p:nvSpPr>
          <p:cNvPr id="19" name="TextBox 18"/>
          <p:cNvSpPr txBox="1"/>
          <p:nvPr/>
        </p:nvSpPr>
        <p:spPr>
          <a:xfrm>
            <a:off x="10789920" y="4919472"/>
            <a:ext cx="914400" cy="274320"/>
          </a:xfrm>
          <a:prstGeom prst="rect">
            <a:avLst/>
          </a:prstGeom>
          <a:noFill/>
        </p:spPr>
        <p:txBody>
          <a:bodyPr wrap="square"/>
          <a:lstStyle/>
          <a:p>
            <a:pPr algn="r">
              <a:defRPr sz="1200" b="1">
                <a:solidFill>
                  <a:srgbClr val="6BA37E"/>
                </a:solidFill>
                <a:latin typeface="Inter"/>
              </a:defRPr>
            </a:pPr>
            <a:r>
              <a:t>10/10</a:t>
            </a:r>
          </a:p>
        </p:txBody>
      </p:sp>
      <p:sp>
        <p:nvSpPr>
          <p:cNvPr id="20" name="TextBox 19"/>
          <p:cNvSpPr txBox="1"/>
          <p:nvPr/>
        </p:nvSpPr>
        <p:spPr>
          <a:xfrm>
            <a:off x="731520" y="5266944"/>
            <a:ext cx="3200400" cy="274320"/>
          </a:xfrm>
          <a:prstGeom prst="rect">
            <a:avLst/>
          </a:prstGeom>
          <a:noFill/>
        </p:spPr>
        <p:txBody>
          <a:bodyPr wrap="square"/>
          <a:lstStyle/>
          <a:p>
            <a:pPr algn="l">
              <a:defRPr sz="1200" b="1">
                <a:solidFill>
                  <a:srgbClr val="1A1D21"/>
                </a:solidFill>
                <a:latin typeface="Inter"/>
              </a:defRPr>
            </a:pPr>
            <a:r>
              <a:t>3. Daily Wellness Score</a:t>
            </a:r>
          </a:p>
        </p:txBody>
      </p:sp>
      <p:sp>
        <p:nvSpPr>
          <p:cNvPr id="21" name="TextBox 20"/>
          <p:cNvSpPr txBox="1"/>
          <p:nvPr/>
        </p:nvSpPr>
        <p:spPr>
          <a:xfrm>
            <a:off x="4114800" y="5266944"/>
            <a:ext cx="5943600" cy="274320"/>
          </a:xfrm>
          <a:prstGeom prst="rect">
            <a:avLst/>
          </a:prstGeom>
          <a:noFill/>
        </p:spPr>
        <p:txBody>
          <a:bodyPr wrap="square"/>
          <a:lstStyle/>
          <a:p>
            <a:pPr algn="l">
              <a:defRPr sz="1100" b="0">
                <a:solidFill>
                  <a:srgbClr val="5A6270"/>
                </a:solidFill>
                <a:latin typeface="Inter"/>
              </a:defRPr>
            </a:pPr>
            <a:r>
              <a:t>One number for mental state — like Oura Readiness Score for the mind</a:t>
            </a:r>
          </a:p>
        </p:txBody>
      </p:sp>
      <p:sp>
        <p:nvSpPr>
          <p:cNvPr id="22" name="TextBox 21"/>
          <p:cNvSpPr txBox="1"/>
          <p:nvPr/>
        </p:nvSpPr>
        <p:spPr>
          <a:xfrm>
            <a:off x="10789920" y="5266944"/>
            <a:ext cx="914400" cy="274320"/>
          </a:xfrm>
          <a:prstGeom prst="rect">
            <a:avLst/>
          </a:prstGeom>
          <a:noFill/>
        </p:spPr>
        <p:txBody>
          <a:bodyPr wrap="square"/>
          <a:lstStyle/>
          <a:p>
            <a:pPr algn="r">
              <a:defRPr sz="1200" b="1">
                <a:solidFill>
                  <a:srgbClr val="6BA37E"/>
                </a:solidFill>
                <a:latin typeface="Inter"/>
              </a:defRPr>
            </a:pPr>
            <a:r>
              <a:t>9/10</a:t>
            </a:r>
          </a:p>
        </p:txBody>
      </p:sp>
      <p:sp>
        <p:nvSpPr>
          <p:cNvPr id="23" name="TextBox 22"/>
          <p:cNvSpPr txBox="1"/>
          <p:nvPr/>
        </p:nvSpPr>
        <p:spPr>
          <a:xfrm>
            <a:off x="731520" y="5614416"/>
            <a:ext cx="3200400" cy="274320"/>
          </a:xfrm>
          <a:prstGeom prst="rect">
            <a:avLst/>
          </a:prstGeom>
          <a:noFill/>
        </p:spPr>
        <p:txBody>
          <a:bodyPr wrap="square"/>
          <a:lstStyle/>
          <a:p>
            <a:pPr algn="l">
              <a:defRPr sz="1200" b="1">
                <a:solidFill>
                  <a:srgbClr val="1A1D21"/>
                </a:solidFill>
                <a:latin typeface="Inter"/>
              </a:defRPr>
            </a:pPr>
            <a:r>
              <a:t>4. Trend Lines &amp; Trajectories</a:t>
            </a:r>
          </a:p>
        </p:txBody>
      </p:sp>
      <p:sp>
        <p:nvSpPr>
          <p:cNvPr id="24" name="TextBox 23"/>
          <p:cNvSpPr txBox="1"/>
          <p:nvPr/>
        </p:nvSpPr>
        <p:spPr>
          <a:xfrm>
            <a:off x="4114800" y="5614416"/>
            <a:ext cx="5943600" cy="274320"/>
          </a:xfrm>
          <a:prstGeom prst="rect">
            <a:avLst/>
          </a:prstGeom>
          <a:noFill/>
        </p:spPr>
        <p:txBody>
          <a:bodyPr wrap="square"/>
          <a:lstStyle/>
          <a:p>
            <a:pPr algn="l">
              <a:defRPr sz="1100" b="0">
                <a:solidFill>
                  <a:srgbClr val="5A6270"/>
                </a:solidFill>
                <a:latin typeface="Inter"/>
              </a:defRPr>
            </a:pPr>
            <a:r>
              <a:t>Multi-week mood/energy/stress patterns over time</a:t>
            </a:r>
          </a:p>
        </p:txBody>
      </p:sp>
      <p:sp>
        <p:nvSpPr>
          <p:cNvPr id="25" name="TextBox 24"/>
          <p:cNvSpPr txBox="1"/>
          <p:nvPr/>
        </p:nvSpPr>
        <p:spPr>
          <a:xfrm>
            <a:off x="10789920" y="5614416"/>
            <a:ext cx="914400" cy="274320"/>
          </a:xfrm>
          <a:prstGeom prst="rect">
            <a:avLst/>
          </a:prstGeom>
          <a:noFill/>
        </p:spPr>
        <p:txBody>
          <a:bodyPr wrap="square"/>
          <a:lstStyle/>
          <a:p>
            <a:pPr algn="r">
              <a:defRPr sz="1200" b="1">
                <a:solidFill>
                  <a:srgbClr val="6BA37E"/>
                </a:solidFill>
                <a:latin typeface="Inter"/>
              </a:defRPr>
            </a:pPr>
            <a:r>
              <a:t>9/10</a:t>
            </a:r>
          </a:p>
        </p:txBody>
      </p:sp>
      <p:sp>
        <p:nvSpPr>
          <p:cNvPr id="26" name="TextBox 25"/>
          <p:cNvSpPr txBox="1"/>
          <p:nvPr/>
        </p:nvSpPr>
        <p:spPr>
          <a:xfrm>
            <a:off x="731520" y="5961888"/>
            <a:ext cx="3200400" cy="274320"/>
          </a:xfrm>
          <a:prstGeom prst="rect">
            <a:avLst/>
          </a:prstGeom>
          <a:noFill/>
        </p:spPr>
        <p:txBody>
          <a:bodyPr wrap="square"/>
          <a:lstStyle/>
          <a:p>
            <a:pPr algn="l">
              <a:defRPr sz="1200" b="1">
                <a:solidFill>
                  <a:srgbClr val="1A1D21"/>
                </a:solidFill>
                <a:latin typeface="Inter"/>
              </a:defRPr>
            </a:pPr>
            <a:r>
              <a:t>5. Echoes (Pattern Discovery)</a:t>
            </a:r>
          </a:p>
        </p:txBody>
      </p:sp>
      <p:sp>
        <p:nvSpPr>
          <p:cNvPr id="27" name="TextBox 26"/>
          <p:cNvSpPr txBox="1"/>
          <p:nvPr/>
        </p:nvSpPr>
        <p:spPr>
          <a:xfrm>
            <a:off x="4114800" y="5961888"/>
            <a:ext cx="5943600" cy="274320"/>
          </a:xfrm>
          <a:prstGeom prst="rect">
            <a:avLst/>
          </a:prstGeom>
          <a:noFill/>
        </p:spPr>
        <p:txBody>
          <a:bodyPr wrap="square"/>
          <a:lstStyle/>
          <a:p>
            <a:pPr algn="l">
              <a:defRPr sz="1100" b="0">
                <a:solidFill>
                  <a:srgbClr val="5A6270"/>
                </a:solidFill>
                <a:latin typeface="Inter"/>
              </a:defRPr>
            </a:pPr>
            <a:r>
              <a:t>'Stress 40% higher on days you sleep &lt;6 hours' — cross-modal insights</a:t>
            </a:r>
          </a:p>
        </p:txBody>
      </p:sp>
      <p:sp>
        <p:nvSpPr>
          <p:cNvPr id="28" name="TextBox 27"/>
          <p:cNvSpPr txBox="1"/>
          <p:nvPr/>
        </p:nvSpPr>
        <p:spPr>
          <a:xfrm>
            <a:off x="10789920" y="5961888"/>
            <a:ext cx="914400" cy="274320"/>
          </a:xfrm>
          <a:prstGeom prst="rect">
            <a:avLst/>
          </a:prstGeom>
          <a:noFill/>
        </p:spPr>
        <p:txBody>
          <a:bodyPr wrap="square"/>
          <a:lstStyle/>
          <a:p>
            <a:pPr algn="r">
              <a:defRPr sz="1200" b="1">
                <a:solidFill>
                  <a:srgbClr val="6BA37E"/>
                </a:solidFill>
                <a:latin typeface="Inter"/>
              </a:defRPr>
            </a:pPr>
            <a:r>
              <a:t>8/10</a:t>
            </a:r>
          </a:p>
        </p:txBody>
      </p:sp>
      <p:sp>
        <p:nvSpPr>
          <p:cNvPr id="29" name="TextBox 28"/>
          <p:cNvSpPr txBox="1"/>
          <p:nvPr/>
        </p:nvSpPr>
        <p:spPr>
          <a:xfrm>
            <a:off x="731520" y="6309360"/>
            <a:ext cx="3200400" cy="274320"/>
          </a:xfrm>
          <a:prstGeom prst="rect">
            <a:avLst/>
          </a:prstGeom>
          <a:noFill/>
        </p:spPr>
        <p:txBody>
          <a:bodyPr wrap="square"/>
          <a:lstStyle/>
          <a:p>
            <a:pPr algn="l">
              <a:defRPr sz="1200" b="1">
                <a:solidFill>
                  <a:srgbClr val="1A1D21"/>
                </a:solidFill>
                <a:latin typeface="Inter"/>
              </a:defRPr>
            </a:pPr>
            <a:r>
              <a:t>6. API Access</a:t>
            </a:r>
          </a:p>
        </p:txBody>
      </p:sp>
      <p:sp>
        <p:nvSpPr>
          <p:cNvPr id="30" name="TextBox 29"/>
          <p:cNvSpPr txBox="1"/>
          <p:nvPr/>
        </p:nvSpPr>
        <p:spPr>
          <a:xfrm>
            <a:off x="4114800" y="6309360"/>
            <a:ext cx="5943600" cy="274320"/>
          </a:xfrm>
          <a:prstGeom prst="rect">
            <a:avLst/>
          </a:prstGeom>
          <a:noFill/>
        </p:spPr>
        <p:txBody>
          <a:bodyPr wrap="square"/>
          <a:lstStyle/>
          <a:p>
            <a:pPr algn="l">
              <a:defRPr sz="1100" b="0">
                <a:solidFill>
                  <a:srgbClr val="5A6270"/>
                </a:solidFill>
                <a:latin typeface="Inter"/>
              </a:defRPr>
            </a:pPr>
            <a:r>
              <a:t>Plug into Notion, Obsidian, Google Sheets — full data ownership</a:t>
            </a:r>
          </a:p>
        </p:txBody>
      </p:sp>
      <p:sp>
        <p:nvSpPr>
          <p:cNvPr id="31" name="TextBox 30"/>
          <p:cNvSpPr txBox="1"/>
          <p:nvPr/>
        </p:nvSpPr>
        <p:spPr>
          <a:xfrm>
            <a:off x="10789920" y="6309360"/>
            <a:ext cx="914400" cy="274320"/>
          </a:xfrm>
          <a:prstGeom prst="rect">
            <a:avLst/>
          </a:prstGeom>
          <a:noFill/>
        </p:spPr>
        <p:txBody>
          <a:bodyPr wrap="square"/>
          <a:lstStyle/>
          <a:p>
            <a:pPr algn="r">
              <a:defRPr sz="1200" b="1">
                <a:solidFill>
                  <a:srgbClr val="6BA37E"/>
                </a:solidFill>
                <a:latin typeface="Inter"/>
              </a:defRPr>
            </a:pPr>
            <a:r>
              <a:t>8/10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6BA37E"/>
                </a:solidFill>
                <a:latin typeface="Inter"/>
              </a:defRPr>
            </a:pPr>
            <a:r>
              <a:t>PERSONA 2  |  THE OPTIMIZATION ARCHITECT</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Acquisition &amp; Conversion Strategy</a:t>
            </a:r>
          </a:p>
        </p:txBody>
      </p:sp>
      <p:sp>
        <p:nvSpPr>
          <p:cNvPr id="5" name="Rounded Rectangle 4"/>
          <p:cNvSpPr/>
          <p:nvPr/>
        </p:nvSpPr>
        <p:spPr>
          <a:xfrm>
            <a:off x="7315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38328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2834640" cy="457200"/>
          </a:xfrm>
          <a:prstGeom prst="rect">
            <a:avLst/>
          </a:prstGeom>
          <a:noFill/>
        </p:spPr>
        <p:txBody>
          <a:bodyPr wrap="square"/>
          <a:lstStyle/>
          <a:p>
            <a:pPr algn="l">
              <a:defRPr sz="1600" b="1">
                <a:solidFill>
                  <a:srgbClr val="1A1D21"/>
                </a:solidFill>
                <a:latin typeface="Playfair Display"/>
              </a:defRPr>
            </a:pPr>
            <a:r>
              <a:t>Top Acquisition Channels</a:t>
            </a:r>
          </a:p>
        </p:txBody>
      </p:sp>
      <p:sp>
        <p:nvSpPr>
          <p:cNvPr id="8" name="TextBox 7"/>
          <p:cNvSpPr txBox="1"/>
          <p:nvPr/>
        </p:nvSpPr>
        <p:spPr>
          <a:xfrm>
            <a:off x="1005840" y="1965960"/>
            <a:ext cx="2834640" cy="1783080"/>
          </a:xfrm>
          <a:prstGeom prst="rect">
            <a:avLst/>
          </a:prstGeom>
          <a:noFill/>
        </p:spPr>
        <p:txBody>
          <a:bodyPr wrap="square"/>
          <a:lstStyle/>
          <a:p>
            <a:pPr algn="l">
              <a:spcAft>
                <a:spcPts val="800"/>
              </a:spcAft>
              <a:defRPr sz="1200" b="0">
                <a:solidFill>
                  <a:srgbClr val="5A6270"/>
                </a:solidFill>
                <a:latin typeface="Inter"/>
              </a:defRPr>
            </a:pPr>
            <a:r>
              <a:t>  1. Reddit (r/quantifiedself, r/Biohackers, r/longevity)</a:t>
            </a:r>
          </a:p>
          <a:p>
            <a:pPr algn="l">
              <a:spcAft>
                <a:spcPts val="800"/>
              </a:spcAft>
              <a:defRPr sz="1200" b="0">
                <a:solidFill>
                  <a:srgbClr val="5A6270"/>
                </a:solidFill>
                <a:latin typeface="Inter"/>
              </a:defRPr>
            </a:pPr>
            <a:r>
              <a:t>  2. YouTube (long-form 'I tracked my mind for 30 days')</a:t>
            </a:r>
          </a:p>
          <a:p>
            <a:pPr algn="l">
              <a:spcAft>
                <a:spcPts val="800"/>
              </a:spcAft>
              <a:defRPr sz="1200" b="0">
                <a:solidFill>
                  <a:srgbClr val="5A6270"/>
                </a:solidFill>
                <a:latin typeface="Inter"/>
              </a:defRPr>
            </a:pPr>
            <a:r>
              <a:t>  3. Podcasts (Huberman-adjacent health optimization)</a:t>
            </a:r>
          </a:p>
          <a:p>
            <a:pPr algn="l">
              <a:spcAft>
                <a:spcPts val="800"/>
              </a:spcAft>
              <a:defRPr sz="1200" b="0">
                <a:solidFill>
                  <a:srgbClr val="5A6270"/>
                </a:solidFill>
                <a:latin typeface="Inter"/>
              </a:defRPr>
            </a:pPr>
            <a:r>
              <a:t>  4. Twitter/X (health tech, biohacker community)</a:t>
            </a:r>
          </a:p>
          <a:p>
            <a:pPr algn="l">
              <a:spcAft>
                <a:spcPts val="800"/>
              </a:spcAft>
              <a:defRPr sz="1200" b="0">
                <a:solidFill>
                  <a:srgbClr val="5A6270"/>
                </a:solidFill>
                <a:latin typeface="Inter"/>
              </a:defRPr>
            </a:pPr>
            <a:r>
              <a:t>  5. Product Hunt (early adopter discovery)</a:t>
            </a:r>
          </a:p>
        </p:txBody>
      </p:sp>
      <p:sp>
        <p:nvSpPr>
          <p:cNvPr id="9" name="Rounded Rectangle 8"/>
          <p:cNvSpPr/>
          <p:nvPr/>
        </p:nvSpPr>
        <p:spPr>
          <a:xfrm>
            <a:off x="43891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38328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54480"/>
            <a:ext cx="2834640" cy="457200"/>
          </a:xfrm>
          <a:prstGeom prst="rect">
            <a:avLst/>
          </a:prstGeom>
          <a:noFill/>
        </p:spPr>
        <p:txBody>
          <a:bodyPr wrap="square"/>
          <a:lstStyle/>
          <a:p>
            <a:pPr algn="l">
              <a:defRPr sz="1600" b="1">
                <a:solidFill>
                  <a:srgbClr val="1A1D21"/>
                </a:solidFill>
                <a:latin typeface="Playfair Display"/>
              </a:defRPr>
            </a:pPr>
            <a:r>
              <a:t>Hook Messages That Convert</a:t>
            </a:r>
          </a:p>
        </p:txBody>
      </p:sp>
      <p:sp>
        <p:nvSpPr>
          <p:cNvPr id="12" name="TextBox 11"/>
          <p:cNvSpPr txBox="1"/>
          <p:nvPr/>
        </p:nvSpPr>
        <p:spPr>
          <a:xfrm>
            <a:off x="4663440" y="1965960"/>
            <a:ext cx="2834640" cy="1783080"/>
          </a:xfrm>
          <a:prstGeom prst="rect">
            <a:avLst/>
          </a:prstGeom>
          <a:noFill/>
        </p:spPr>
        <p:txBody>
          <a:bodyPr wrap="square"/>
          <a:lstStyle/>
          <a:p>
            <a:pPr algn="l">
              <a:spcAft>
                <a:spcPts val="800"/>
              </a:spcAft>
              <a:defRPr sz="1200" b="0">
                <a:solidFill>
                  <a:srgbClr val="5A6270"/>
                </a:solidFill>
                <a:latin typeface="Inter"/>
              </a:defRPr>
            </a:pPr>
            <a:r>
              <a:t>  'I added the mental layer to my health stack. Game changer.'</a:t>
            </a:r>
          </a:p>
          <a:p>
            <a:pPr algn="l">
              <a:spcAft>
                <a:spcPts val="800"/>
              </a:spcAft>
              <a:defRPr sz="1200" b="0">
                <a:solidFill>
                  <a:srgbClr val="5A6270"/>
                </a:solidFill>
                <a:latin typeface="Inter"/>
              </a:defRPr>
            </a:pPr>
            <a:r>
              <a:t>  'My Oura told me I slept great. Lucid told me I was stressed.'</a:t>
            </a:r>
          </a:p>
          <a:p>
            <a:pPr algn="l">
              <a:spcAft>
                <a:spcPts val="800"/>
              </a:spcAft>
              <a:defRPr sz="1200" b="0">
                <a:solidFill>
                  <a:srgbClr val="5A6270"/>
                </a:solidFill>
                <a:latin typeface="Inter"/>
              </a:defRPr>
            </a:pPr>
            <a:r>
              <a:t>  'Voice biomarkers: the data stream biohackers are sleeping on.'</a:t>
            </a:r>
          </a:p>
          <a:p>
            <a:pPr algn="l">
              <a:spcAft>
                <a:spcPts val="800"/>
              </a:spcAft>
              <a:defRPr sz="1200" b="0">
                <a:solidFill>
                  <a:srgbClr val="5A6270"/>
                </a:solidFill>
                <a:latin typeface="Inter"/>
              </a:defRPr>
            </a:pPr>
            <a:r>
              <a:t>  'I found the correlation between my HRV and stress. Finally.'</a:t>
            </a:r>
          </a:p>
          <a:p>
            <a:pPr algn="l">
              <a:spcAft>
                <a:spcPts val="800"/>
              </a:spcAft>
              <a:defRPr sz="1200" b="0">
                <a:solidFill>
                  <a:srgbClr val="5A6270"/>
                </a:solidFill>
                <a:latin typeface="Inter"/>
              </a:defRPr>
            </a:pPr>
            <a:r>
              <a:t>  Stack comparison visuals: physical stack + Lucid = complete.</a:t>
            </a:r>
          </a:p>
        </p:txBody>
      </p:sp>
      <p:sp>
        <p:nvSpPr>
          <p:cNvPr id="13" name="Rounded Rectangle 12"/>
          <p:cNvSpPr/>
          <p:nvPr/>
        </p:nvSpPr>
        <p:spPr>
          <a:xfrm>
            <a:off x="80467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3383280" cy="508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54480"/>
            <a:ext cx="2834640" cy="457200"/>
          </a:xfrm>
          <a:prstGeom prst="rect">
            <a:avLst/>
          </a:prstGeom>
          <a:noFill/>
        </p:spPr>
        <p:txBody>
          <a:bodyPr wrap="square"/>
          <a:lstStyle/>
          <a:p>
            <a:pPr algn="l">
              <a:defRPr sz="1600" b="1">
                <a:solidFill>
                  <a:srgbClr val="1A1D21"/>
                </a:solidFill>
                <a:latin typeface="Playfair Display"/>
              </a:defRPr>
            </a:pPr>
            <a:r>
              <a:t>Conversion Strategy</a:t>
            </a:r>
          </a:p>
        </p:txBody>
      </p:sp>
      <p:sp>
        <p:nvSpPr>
          <p:cNvPr id="16" name="TextBox 15"/>
          <p:cNvSpPr txBox="1"/>
          <p:nvPr/>
        </p:nvSpPr>
        <p:spPr>
          <a:xfrm>
            <a:off x="8321040" y="1965960"/>
            <a:ext cx="2834640" cy="1783080"/>
          </a:xfrm>
          <a:prstGeom prst="rect">
            <a:avLst/>
          </a:prstGeom>
          <a:noFill/>
        </p:spPr>
        <p:txBody>
          <a:bodyPr wrap="square"/>
          <a:lstStyle/>
          <a:p>
            <a:pPr algn="l">
              <a:spcAft>
                <a:spcPts val="800"/>
              </a:spcAft>
              <a:defRPr sz="1200" b="0">
                <a:solidFill>
                  <a:srgbClr val="5A6270"/>
                </a:solidFill>
                <a:latin typeface="Inter"/>
              </a:defRPr>
            </a:pPr>
            <a:r>
              <a:t>  Free tier: Basic wellness score (shows the gap in their stack)</a:t>
            </a:r>
          </a:p>
          <a:p>
            <a:pPr algn="l">
              <a:spcAft>
                <a:spcPts val="800"/>
              </a:spcAft>
              <a:defRPr sz="1200" b="0">
                <a:solidFill>
                  <a:srgbClr val="5A6270"/>
                </a:solidFill>
                <a:latin typeface="Inter"/>
              </a:defRPr>
            </a:pPr>
            <a:r>
              <a:t>  Upgrade trigger: Correlation Explorer + data export (paid)</a:t>
            </a:r>
          </a:p>
          <a:p>
            <a:pPr algn="l">
              <a:spcAft>
                <a:spcPts val="800"/>
              </a:spcAft>
              <a:defRPr sz="1200" b="0">
                <a:solidFill>
                  <a:srgbClr val="5A6270"/>
                </a:solidFill>
                <a:latin typeface="Inter"/>
              </a:defRPr>
            </a:pPr>
            <a:r>
              <a:t>  'Complete your stack' CTA on quantified-self landing page</a:t>
            </a:r>
          </a:p>
          <a:p>
            <a:pPr algn="l">
              <a:spcAft>
                <a:spcPts val="800"/>
              </a:spcAft>
              <a:defRPr sz="1200" b="0">
                <a:solidFill>
                  <a:srgbClr val="5A6270"/>
                </a:solidFill>
                <a:latin typeface="Inter"/>
              </a:defRPr>
            </a:pPr>
            <a:r>
              <a:t>  API/data export as premium differentiator</a:t>
            </a:r>
          </a:p>
          <a:p>
            <a:pPr algn="l">
              <a:spcAft>
                <a:spcPts val="800"/>
              </a:spcAft>
              <a:defRPr sz="1200" b="0">
                <a:solidFill>
                  <a:srgbClr val="5A6270"/>
                </a:solidFill>
                <a:latin typeface="Inter"/>
              </a:defRPr>
            </a:pPr>
            <a:r>
              <a:t>  Community seeding in QS forums with genuine usage data</a:t>
            </a:r>
          </a:p>
        </p:txBody>
      </p:sp>
      <p:sp>
        <p:nvSpPr>
          <p:cNvPr id="17" name="Rounded Rectangle 16"/>
          <p:cNvSpPr/>
          <p:nvPr/>
        </p:nvSpPr>
        <p:spPr>
          <a:xfrm>
            <a:off x="731520" y="4206240"/>
            <a:ext cx="10698480" cy="2286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06240"/>
            <a:ext cx="63500" cy="22860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389120"/>
            <a:ext cx="9784080" cy="731520"/>
          </a:xfrm>
          <a:prstGeom prst="rect">
            <a:avLst/>
          </a:prstGeom>
          <a:noFill/>
        </p:spPr>
        <p:txBody>
          <a:bodyPr wrap="square"/>
          <a:lstStyle/>
          <a:p>
            <a:pPr algn="l">
              <a:defRPr sz="2200" b="0" i="1">
                <a:solidFill>
                  <a:srgbClr val="1A1D21"/>
                </a:solidFill>
                <a:latin typeface="Playfair Display"/>
              </a:defRPr>
            </a:pPr>
            <a:r>
              <a:t>"Your body has a dashboard. Your mind deserves one too."</a:t>
            </a:r>
          </a:p>
        </p:txBody>
      </p:sp>
      <p:sp>
        <p:nvSpPr>
          <p:cNvPr id="20" name="TextBox 19"/>
          <p:cNvSpPr txBox="1"/>
          <p:nvPr/>
        </p:nvSpPr>
        <p:spPr>
          <a:xfrm>
            <a:off x="1188720" y="5029200"/>
            <a:ext cx="9784080" cy="1097280"/>
          </a:xfrm>
          <a:prstGeom prst="rect">
            <a:avLst/>
          </a:prstGeom>
          <a:noFill/>
        </p:spPr>
        <p:txBody>
          <a:bodyPr wrap="square"/>
          <a:lstStyle/>
          <a:p>
            <a:pPr algn="l">
              <a:defRPr sz="1300" b="0">
                <a:solidFill>
                  <a:srgbClr val="5A6270"/>
                </a:solidFill>
                <a:latin typeface="Inter"/>
              </a:defRPr>
            </a:pPr>
            <a:r>
              <a:t>This persona already believes in data-driven health. They don't need to be convinced that monitoring works — they need to be convinced that VOICE is a valid biomarker. Lead with the science: '244M-parameter model, 35,000 patients, clinically validated.' Then show them the data gap their $400 Oura Ring can't fill.</a:t>
            </a:r>
            <a:br/>
            <a:br/>
            <a:r>
              <a:t>Key insight: This is your highest-LTV persona. They pay $400+ for rings, $200+/yr for subscriptions. $14.99/month is noise in their wellness budget. They churn the least because data compounds.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3657600" cy="365760"/>
          </a:xfrm>
          <a:prstGeom prst="rect">
            <a:avLst/>
          </a:prstGeom>
          <a:noFill/>
        </p:spPr>
        <p:txBody>
          <a:bodyPr wrap="square"/>
          <a:lstStyle/>
          <a:p>
            <a:pPr algn="l">
              <a:defRPr sz="1200" b="1">
                <a:solidFill>
                  <a:srgbClr val="9B7EB8"/>
                </a:solidFill>
                <a:latin typeface="Inter"/>
              </a:defRPr>
            </a:pPr>
            <a:r>
              <a:t>PERSONA 3</a:t>
            </a:r>
          </a:p>
        </p:txBody>
      </p:sp>
      <p:sp>
        <p:nvSpPr>
          <p:cNvPr id="5" name="TextBox 4"/>
          <p:cNvSpPr txBox="1"/>
          <p:nvPr/>
        </p:nvSpPr>
        <p:spPr>
          <a:xfrm>
            <a:off x="731520" y="411480"/>
            <a:ext cx="7315200" cy="548640"/>
          </a:xfrm>
          <a:prstGeom prst="rect">
            <a:avLst/>
          </a:prstGeom>
          <a:noFill/>
        </p:spPr>
        <p:txBody>
          <a:bodyPr wrap="square"/>
          <a:lstStyle/>
          <a:p>
            <a:pPr algn="l">
              <a:defRPr sz="3000" b="1">
                <a:solidFill>
                  <a:srgbClr val="FFFFFF"/>
                </a:solidFill>
                <a:latin typeface="Playfair Display"/>
              </a:defRPr>
            </a:pPr>
            <a:r>
              <a:t>The System Skeptic</a:t>
            </a:r>
          </a:p>
        </p:txBody>
      </p:sp>
      <p:sp>
        <p:nvSpPr>
          <p:cNvPr id="6" name="TextBox 5"/>
          <p:cNvSpPr txBox="1"/>
          <p:nvPr/>
        </p:nvSpPr>
        <p:spPr>
          <a:xfrm>
            <a:off x="731520" y="1463040"/>
            <a:ext cx="5029200" cy="365760"/>
          </a:xfrm>
          <a:prstGeom prst="rect">
            <a:avLst/>
          </a:prstGeom>
          <a:noFill/>
        </p:spPr>
        <p:txBody>
          <a:bodyPr wrap="square"/>
          <a:lstStyle/>
          <a:p>
            <a:pPr algn="l">
              <a:defRPr sz="2000" b="1">
                <a:solidFill>
                  <a:srgbClr val="1A1D21"/>
                </a:solidFill>
                <a:latin typeface="Playfair Display"/>
              </a:defRPr>
            </a:pPr>
            <a:r>
              <a:t>Who They Are</a:t>
            </a:r>
          </a:p>
        </p:txBody>
      </p:sp>
      <p:sp>
        <p:nvSpPr>
          <p:cNvPr id="7" name="TextBox 6"/>
          <p:cNvSpPr txBox="1"/>
          <p:nvPr/>
        </p:nvSpPr>
        <p:spPr>
          <a:xfrm>
            <a:off x="731520" y="1920240"/>
            <a:ext cx="1645920" cy="274320"/>
          </a:xfrm>
          <a:prstGeom prst="rect">
            <a:avLst/>
          </a:prstGeom>
          <a:noFill/>
        </p:spPr>
        <p:txBody>
          <a:bodyPr wrap="square"/>
          <a:lstStyle/>
          <a:p>
            <a:pPr algn="l">
              <a:defRPr sz="1100" b="1">
                <a:solidFill>
                  <a:srgbClr val="9B7EB8"/>
                </a:solidFill>
                <a:latin typeface="Inter"/>
              </a:defRPr>
            </a:pPr>
            <a:r>
              <a:t>Demographics</a:t>
            </a:r>
          </a:p>
        </p:txBody>
      </p:sp>
      <p:sp>
        <p:nvSpPr>
          <p:cNvPr id="8" name="TextBox 7"/>
          <p:cNvSpPr txBox="1"/>
          <p:nvPr/>
        </p:nvSpPr>
        <p:spPr>
          <a:xfrm>
            <a:off x="2560320" y="1920240"/>
            <a:ext cx="3657600" cy="914400"/>
          </a:xfrm>
          <a:prstGeom prst="rect">
            <a:avLst/>
          </a:prstGeom>
          <a:noFill/>
        </p:spPr>
        <p:txBody>
          <a:bodyPr wrap="square"/>
          <a:lstStyle/>
          <a:p>
            <a:pPr algn="l">
              <a:defRPr sz="1100" b="0">
                <a:solidFill>
                  <a:srgbClr val="5A6270"/>
                </a:solidFill>
                <a:latin typeface="Inter"/>
              </a:defRPr>
            </a:pPr>
            <a:r>
              <a:t>22-45 years old  |  All income levels  |  Urban/suburban</a:t>
            </a:r>
            <a:br/>
            <a:r>
              <a:t>Freelancers, creatives, privacy advocates, independent professionals</a:t>
            </a:r>
          </a:p>
        </p:txBody>
      </p:sp>
      <p:sp>
        <p:nvSpPr>
          <p:cNvPr id="9" name="TextBox 8"/>
          <p:cNvSpPr txBox="1"/>
          <p:nvPr/>
        </p:nvSpPr>
        <p:spPr>
          <a:xfrm>
            <a:off x="731520" y="3017520"/>
            <a:ext cx="1645920" cy="274320"/>
          </a:xfrm>
          <a:prstGeom prst="rect">
            <a:avLst/>
          </a:prstGeom>
          <a:noFill/>
        </p:spPr>
        <p:txBody>
          <a:bodyPr wrap="square"/>
          <a:lstStyle/>
          <a:p>
            <a:pPr algn="l">
              <a:defRPr sz="1100" b="1">
                <a:solidFill>
                  <a:srgbClr val="9B7EB8"/>
                </a:solidFill>
                <a:latin typeface="Inter"/>
              </a:defRPr>
            </a:pPr>
            <a:r>
              <a:t>Psychographics</a:t>
            </a:r>
          </a:p>
        </p:txBody>
      </p:sp>
      <p:sp>
        <p:nvSpPr>
          <p:cNvPr id="10" name="TextBox 9"/>
          <p:cNvSpPr txBox="1"/>
          <p:nvPr/>
        </p:nvSpPr>
        <p:spPr>
          <a:xfrm>
            <a:off x="2560320" y="3017520"/>
            <a:ext cx="3657600" cy="914400"/>
          </a:xfrm>
          <a:prstGeom prst="rect">
            <a:avLst/>
          </a:prstGeom>
          <a:noFill/>
        </p:spPr>
        <p:txBody>
          <a:bodyPr wrap="square"/>
          <a:lstStyle/>
          <a:p>
            <a:pPr algn="l">
              <a:defRPr sz="1100" b="0">
                <a:solidFill>
                  <a:srgbClr val="5A6270"/>
                </a:solidFill>
                <a:latin typeface="Inter"/>
              </a:defRPr>
            </a:pPr>
            <a:r>
              <a:t>Deeply skeptical of institutions — insurance, pharma, therapy industry.</a:t>
            </a:r>
            <a:br/>
            <a:r>
              <a:t>Privacy is non-negotiable. They believe mental health is personal, not</a:t>
            </a:r>
            <a:br/>
            <a:r>
              <a:t>clinical. They've had bad therapy experiences or know someone who has.</a:t>
            </a:r>
          </a:p>
        </p:txBody>
      </p:sp>
      <p:sp>
        <p:nvSpPr>
          <p:cNvPr id="11" name="TextBox 10"/>
          <p:cNvSpPr txBox="1"/>
          <p:nvPr/>
        </p:nvSpPr>
        <p:spPr>
          <a:xfrm>
            <a:off x="731520" y="4114800"/>
            <a:ext cx="1645920" cy="274320"/>
          </a:xfrm>
          <a:prstGeom prst="rect">
            <a:avLst/>
          </a:prstGeom>
          <a:noFill/>
        </p:spPr>
        <p:txBody>
          <a:bodyPr wrap="square"/>
          <a:lstStyle/>
          <a:p>
            <a:pPr algn="l">
              <a:defRPr sz="1100" b="1">
                <a:solidFill>
                  <a:srgbClr val="9B7EB8"/>
                </a:solidFill>
                <a:latin typeface="Inter"/>
              </a:defRPr>
            </a:pPr>
            <a:r>
              <a:t>Barriers</a:t>
            </a:r>
          </a:p>
        </p:txBody>
      </p:sp>
      <p:sp>
        <p:nvSpPr>
          <p:cNvPr id="12" name="TextBox 11"/>
          <p:cNvSpPr txBox="1"/>
          <p:nvPr/>
        </p:nvSpPr>
        <p:spPr>
          <a:xfrm>
            <a:off x="2560320" y="4114800"/>
            <a:ext cx="3657600" cy="914400"/>
          </a:xfrm>
          <a:prstGeom prst="rect">
            <a:avLst/>
          </a:prstGeom>
          <a:noFill/>
        </p:spPr>
        <p:txBody>
          <a:bodyPr wrap="square"/>
          <a:lstStyle/>
          <a:p>
            <a:pPr algn="l">
              <a:defRPr sz="1100" b="0">
                <a:solidFill>
                  <a:srgbClr val="5A6270"/>
                </a:solidFill>
                <a:latin typeface="Inter"/>
              </a:defRPr>
            </a:pPr>
            <a:r>
              <a:t>Therapy: $100-$250/session, 34.8% dropout rate, 9.8-year avg to diagnosis</a:t>
            </a:r>
            <a:br/>
            <a:r>
              <a:t>Stigma: Don't want it 'on their record' or in insurance databases</a:t>
            </a:r>
            <a:br/>
            <a:r>
              <a:t>Distrust: Wary of AI companies harvesting data for profit</a:t>
            </a:r>
          </a:p>
        </p:txBody>
      </p:sp>
      <p:sp>
        <p:nvSpPr>
          <p:cNvPr id="13" name="TextBox 12"/>
          <p:cNvSpPr txBox="1"/>
          <p:nvPr/>
        </p:nvSpPr>
        <p:spPr>
          <a:xfrm>
            <a:off x="731520" y="5212080"/>
            <a:ext cx="1645920" cy="274320"/>
          </a:xfrm>
          <a:prstGeom prst="rect">
            <a:avLst/>
          </a:prstGeom>
          <a:noFill/>
        </p:spPr>
        <p:txBody>
          <a:bodyPr wrap="square"/>
          <a:lstStyle/>
          <a:p>
            <a:pPr algn="l">
              <a:defRPr sz="1100" b="1">
                <a:solidFill>
                  <a:srgbClr val="9B7EB8"/>
                </a:solidFill>
                <a:latin typeface="Inter"/>
              </a:defRPr>
            </a:pPr>
            <a:r>
              <a:t>What They Want</a:t>
            </a:r>
          </a:p>
        </p:txBody>
      </p:sp>
      <p:sp>
        <p:nvSpPr>
          <p:cNvPr id="14" name="TextBox 13"/>
          <p:cNvSpPr txBox="1"/>
          <p:nvPr/>
        </p:nvSpPr>
        <p:spPr>
          <a:xfrm>
            <a:off x="2560320" y="5212080"/>
            <a:ext cx="3657600" cy="914400"/>
          </a:xfrm>
          <a:prstGeom prst="rect">
            <a:avLst/>
          </a:prstGeom>
          <a:noFill/>
        </p:spPr>
        <p:txBody>
          <a:bodyPr wrap="square"/>
          <a:lstStyle/>
          <a:p>
            <a:pPr algn="l">
              <a:defRPr sz="1100" b="0">
                <a:solidFill>
                  <a:srgbClr val="5A6270"/>
                </a:solidFill>
                <a:latin typeface="Inter"/>
              </a:defRPr>
            </a:pPr>
            <a:r>
              <a:t>Self-knowledge WITHOUT a gatekeeper. No referral needed, no</a:t>
            </a:r>
            <a:br/>
            <a:r>
              <a:t>waiting room, no diagnosis. Just objective data they control.</a:t>
            </a:r>
            <a:br/>
            <a:r>
              <a:t>They'd rather monitor themselves than be monitored by a system.</a:t>
            </a:r>
          </a:p>
        </p:txBody>
      </p:sp>
      <p:sp>
        <p:nvSpPr>
          <p:cNvPr id="15" name="Rounded Rectangle 14"/>
          <p:cNvSpPr/>
          <p:nvPr/>
        </p:nvSpPr>
        <p:spPr>
          <a:xfrm>
            <a:off x="6858000" y="1463040"/>
            <a:ext cx="4572000" cy="50292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463040"/>
            <a:ext cx="457200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645920"/>
            <a:ext cx="4114800" cy="365760"/>
          </a:xfrm>
          <a:prstGeom prst="rect">
            <a:avLst/>
          </a:prstGeom>
          <a:noFill/>
        </p:spPr>
        <p:txBody>
          <a:bodyPr wrap="square"/>
          <a:lstStyle/>
          <a:p>
            <a:pPr algn="l">
              <a:defRPr sz="1800" b="1">
                <a:solidFill>
                  <a:srgbClr val="1A1D21"/>
                </a:solidFill>
                <a:latin typeface="Playfair Display"/>
              </a:defRPr>
            </a:pPr>
            <a:r>
              <a:t>Why They Don't Trust the System</a:t>
            </a:r>
          </a:p>
        </p:txBody>
      </p:sp>
      <p:sp>
        <p:nvSpPr>
          <p:cNvPr id="18" name="TextBox 17"/>
          <p:cNvSpPr txBox="1"/>
          <p:nvPr/>
        </p:nvSpPr>
        <p:spPr>
          <a:xfrm>
            <a:off x="7132320" y="2148840"/>
            <a:ext cx="1097280" cy="320040"/>
          </a:xfrm>
          <a:prstGeom prst="rect">
            <a:avLst/>
          </a:prstGeom>
          <a:noFill/>
        </p:spPr>
        <p:txBody>
          <a:bodyPr wrap="square"/>
          <a:lstStyle/>
          <a:p>
            <a:pPr algn="l">
              <a:defRPr sz="1800" b="1">
                <a:solidFill>
                  <a:srgbClr val="9B7EB8"/>
                </a:solidFill>
                <a:latin typeface="Inter"/>
              </a:defRPr>
            </a:pPr>
            <a:r>
              <a:t>9.8 yrs</a:t>
            </a:r>
          </a:p>
        </p:txBody>
      </p:sp>
      <p:sp>
        <p:nvSpPr>
          <p:cNvPr id="19" name="TextBox 18"/>
          <p:cNvSpPr txBox="1"/>
          <p:nvPr/>
        </p:nvSpPr>
        <p:spPr>
          <a:xfrm>
            <a:off x="8321040" y="2176272"/>
            <a:ext cx="2926080" cy="320040"/>
          </a:xfrm>
          <a:prstGeom prst="rect">
            <a:avLst/>
          </a:prstGeom>
          <a:noFill/>
        </p:spPr>
        <p:txBody>
          <a:bodyPr wrap="square"/>
          <a:lstStyle/>
          <a:p>
            <a:pPr algn="l">
              <a:defRPr sz="1100" b="0">
                <a:solidFill>
                  <a:srgbClr val="5A6270"/>
                </a:solidFill>
                <a:latin typeface="Inter"/>
              </a:defRPr>
            </a:pPr>
            <a:r>
              <a:t>average delay to mental health diagnosis</a:t>
            </a:r>
          </a:p>
        </p:txBody>
      </p:sp>
      <p:sp>
        <p:nvSpPr>
          <p:cNvPr id="20" name="TextBox 19"/>
          <p:cNvSpPr txBox="1"/>
          <p:nvPr/>
        </p:nvSpPr>
        <p:spPr>
          <a:xfrm>
            <a:off x="7132320" y="2651760"/>
            <a:ext cx="1097280" cy="320040"/>
          </a:xfrm>
          <a:prstGeom prst="rect">
            <a:avLst/>
          </a:prstGeom>
          <a:noFill/>
        </p:spPr>
        <p:txBody>
          <a:bodyPr wrap="square"/>
          <a:lstStyle/>
          <a:p>
            <a:pPr algn="l">
              <a:defRPr sz="1800" b="1">
                <a:solidFill>
                  <a:srgbClr val="9B7EB8"/>
                </a:solidFill>
                <a:latin typeface="Inter"/>
              </a:defRPr>
            </a:pPr>
            <a:r>
              <a:t>34.8%</a:t>
            </a:r>
          </a:p>
        </p:txBody>
      </p:sp>
      <p:sp>
        <p:nvSpPr>
          <p:cNvPr id="21" name="TextBox 20"/>
          <p:cNvSpPr txBox="1"/>
          <p:nvPr/>
        </p:nvSpPr>
        <p:spPr>
          <a:xfrm>
            <a:off x="8321040" y="2679192"/>
            <a:ext cx="2926080" cy="320040"/>
          </a:xfrm>
          <a:prstGeom prst="rect">
            <a:avLst/>
          </a:prstGeom>
          <a:noFill/>
        </p:spPr>
        <p:txBody>
          <a:bodyPr wrap="square"/>
          <a:lstStyle/>
          <a:p>
            <a:pPr algn="l">
              <a:defRPr sz="1100" b="0">
                <a:solidFill>
                  <a:srgbClr val="5A6270"/>
                </a:solidFill>
                <a:latin typeface="Inter"/>
              </a:defRPr>
            </a:pPr>
            <a:r>
              <a:t>therapy dropout rate (Swift &amp; Greenberg 2012)</a:t>
            </a:r>
          </a:p>
        </p:txBody>
      </p:sp>
      <p:sp>
        <p:nvSpPr>
          <p:cNvPr id="22" name="TextBox 21"/>
          <p:cNvSpPr txBox="1"/>
          <p:nvPr/>
        </p:nvSpPr>
        <p:spPr>
          <a:xfrm>
            <a:off x="7132320" y="3154680"/>
            <a:ext cx="1097280" cy="320040"/>
          </a:xfrm>
          <a:prstGeom prst="rect">
            <a:avLst/>
          </a:prstGeom>
          <a:noFill/>
        </p:spPr>
        <p:txBody>
          <a:bodyPr wrap="square"/>
          <a:lstStyle/>
          <a:p>
            <a:pPr algn="l">
              <a:defRPr sz="1800" b="1">
                <a:solidFill>
                  <a:srgbClr val="9B7EB8"/>
                </a:solidFill>
                <a:latin typeface="Inter"/>
              </a:defRPr>
            </a:pPr>
            <a:r>
              <a:t>4.3%</a:t>
            </a:r>
          </a:p>
        </p:txBody>
      </p:sp>
      <p:sp>
        <p:nvSpPr>
          <p:cNvPr id="23" name="TextBox 22"/>
          <p:cNvSpPr txBox="1"/>
          <p:nvPr/>
        </p:nvSpPr>
        <p:spPr>
          <a:xfrm>
            <a:off x="8321040" y="3182112"/>
            <a:ext cx="2926080" cy="320040"/>
          </a:xfrm>
          <a:prstGeom prst="rect">
            <a:avLst/>
          </a:prstGeom>
          <a:noFill/>
        </p:spPr>
        <p:txBody>
          <a:bodyPr wrap="square"/>
          <a:lstStyle/>
          <a:p>
            <a:pPr algn="l">
              <a:defRPr sz="1100" b="0">
                <a:solidFill>
                  <a:srgbClr val="5A6270"/>
                </a:solidFill>
                <a:latin typeface="Inter"/>
              </a:defRPr>
            </a:pPr>
            <a:r>
              <a:t>of primary care visits include mental health screening</a:t>
            </a:r>
          </a:p>
        </p:txBody>
      </p:sp>
      <p:sp>
        <p:nvSpPr>
          <p:cNvPr id="24" name="TextBox 23"/>
          <p:cNvSpPr txBox="1"/>
          <p:nvPr/>
        </p:nvSpPr>
        <p:spPr>
          <a:xfrm>
            <a:off x="7132320" y="3657600"/>
            <a:ext cx="1097280" cy="320040"/>
          </a:xfrm>
          <a:prstGeom prst="rect">
            <a:avLst/>
          </a:prstGeom>
          <a:noFill/>
        </p:spPr>
        <p:txBody>
          <a:bodyPr wrap="square"/>
          <a:lstStyle/>
          <a:p>
            <a:pPr algn="l">
              <a:defRPr sz="1800" b="1">
                <a:solidFill>
                  <a:srgbClr val="9B7EB8"/>
                </a:solidFill>
                <a:latin typeface="Inter"/>
              </a:defRPr>
            </a:pPr>
            <a:r>
              <a:t>4-6%</a:t>
            </a:r>
          </a:p>
        </p:txBody>
      </p:sp>
      <p:sp>
        <p:nvSpPr>
          <p:cNvPr id="25" name="TextBox 24"/>
          <p:cNvSpPr txBox="1"/>
          <p:nvPr/>
        </p:nvSpPr>
        <p:spPr>
          <a:xfrm>
            <a:off x="8321040" y="3685032"/>
            <a:ext cx="2926080" cy="320040"/>
          </a:xfrm>
          <a:prstGeom prst="rect">
            <a:avLst/>
          </a:prstGeom>
          <a:noFill/>
        </p:spPr>
        <p:txBody>
          <a:bodyPr wrap="square"/>
          <a:lstStyle/>
          <a:p>
            <a:pPr algn="l">
              <a:defRPr sz="1100" b="0">
                <a:solidFill>
                  <a:srgbClr val="5A6270"/>
                </a:solidFill>
                <a:latin typeface="Inter"/>
              </a:defRPr>
            </a:pPr>
            <a:r>
              <a:t>EAP utilization rate (despite being free to employees)</a:t>
            </a:r>
          </a:p>
        </p:txBody>
      </p:sp>
      <p:sp>
        <p:nvSpPr>
          <p:cNvPr id="26" name="TextBox 25"/>
          <p:cNvSpPr txBox="1"/>
          <p:nvPr/>
        </p:nvSpPr>
        <p:spPr>
          <a:xfrm>
            <a:off x="7132320" y="4160520"/>
            <a:ext cx="1097280" cy="320040"/>
          </a:xfrm>
          <a:prstGeom prst="rect">
            <a:avLst/>
          </a:prstGeom>
          <a:noFill/>
        </p:spPr>
        <p:txBody>
          <a:bodyPr wrap="square"/>
          <a:lstStyle/>
          <a:p>
            <a:pPr algn="l">
              <a:defRPr sz="1800" b="1">
                <a:solidFill>
                  <a:srgbClr val="9B7EB8"/>
                </a:solidFill>
                <a:latin typeface="Inter"/>
              </a:defRPr>
            </a:pPr>
            <a:r>
              <a:t>58%</a:t>
            </a:r>
          </a:p>
        </p:txBody>
      </p:sp>
      <p:sp>
        <p:nvSpPr>
          <p:cNvPr id="27" name="TextBox 26"/>
          <p:cNvSpPr txBox="1"/>
          <p:nvPr/>
        </p:nvSpPr>
        <p:spPr>
          <a:xfrm>
            <a:off x="8321040" y="4187952"/>
            <a:ext cx="2926080" cy="320040"/>
          </a:xfrm>
          <a:prstGeom prst="rect">
            <a:avLst/>
          </a:prstGeom>
          <a:noFill/>
        </p:spPr>
        <p:txBody>
          <a:bodyPr wrap="square"/>
          <a:lstStyle/>
          <a:p>
            <a:pPr algn="l">
              <a:defRPr sz="1100" b="0">
                <a:solidFill>
                  <a:srgbClr val="5A6270"/>
                </a:solidFill>
                <a:latin typeface="Inter"/>
              </a:defRPr>
            </a:pPr>
            <a:r>
              <a:t>cite cost as #1 barrier to therapy</a:t>
            </a:r>
          </a:p>
        </p:txBody>
      </p:sp>
      <p:sp>
        <p:nvSpPr>
          <p:cNvPr id="28" name="TextBox 27"/>
          <p:cNvSpPr txBox="1"/>
          <p:nvPr/>
        </p:nvSpPr>
        <p:spPr>
          <a:xfrm>
            <a:off x="7132320" y="4663440"/>
            <a:ext cx="1097280" cy="320040"/>
          </a:xfrm>
          <a:prstGeom prst="rect">
            <a:avLst/>
          </a:prstGeom>
          <a:noFill/>
        </p:spPr>
        <p:txBody>
          <a:bodyPr wrap="square"/>
          <a:lstStyle/>
          <a:p>
            <a:pPr algn="l">
              <a:defRPr sz="1800" b="1">
                <a:solidFill>
                  <a:srgbClr val="9B7EB8"/>
                </a:solidFill>
                <a:latin typeface="Inter"/>
              </a:defRPr>
            </a:pPr>
            <a:r>
              <a:t>$250+</a:t>
            </a:r>
          </a:p>
        </p:txBody>
      </p:sp>
      <p:sp>
        <p:nvSpPr>
          <p:cNvPr id="29" name="TextBox 28"/>
          <p:cNvSpPr txBox="1"/>
          <p:nvPr/>
        </p:nvSpPr>
        <p:spPr>
          <a:xfrm>
            <a:off x="8321040" y="4690872"/>
            <a:ext cx="2926080" cy="320040"/>
          </a:xfrm>
          <a:prstGeom prst="rect">
            <a:avLst/>
          </a:prstGeom>
          <a:noFill/>
        </p:spPr>
        <p:txBody>
          <a:bodyPr wrap="square"/>
          <a:lstStyle/>
          <a:p>
            <a:pPr algn="l">
              <a:defRPr sz="1100" b="0">
                <a:solidFill>
                  <a:srgbClr val="5A6270"/>
                </a:solidFill>
                <a:latin typeface="Inter"/>
              </a:defRPr>
            </a:pPr>
            <a:r>
              <a:t>per session without insurance coverage</a:t>
            </a:r>
          </a:p>
        </p:txBody>
      </p:sp>
      <p:sp>
        <p:nvSpPr>
          <p:cNvPr id="30" name="TextBox 29"/>
          <p:cNvSpPr txBox="1"/>
          <p:nvPr/>
        </p:nvSpPr>
        <p:spPr>
          <a:xfrm>
            <a:off x="7132320" y="5166360"/>
            <a:ext cx="1097280" cy="320040"/>
          </a:xfrm>
          <a:prstGeom prst="rect">
            <a:avLst/>
          </a:prstGeom>
          <a:noFill/>
        </p:spPr>
        <p:txBody>
          <a:bodyPr wrap="square"/>
          <a:lstStyle/>
          <a:p>
            <a:pPr algn="l">
              <a:defRPr sz="1800" b="1">
                <a:solidFill>
                  <a:srgbClr val="9B7EB8"/>
                </a:solidFill>
                <a:latin typeface="Inter"/>
              </a:defRPr>
            </a:pPr>
            <a:r>
              <a:t>100%</a:t>
            </a:r>
          </a:p>
        </p:txBody>
      </p:sp>
      <p:sp>
        <p:nvSpPr>
          <p:cNvPr id="31" name="TextBox 30"/>
          <p:cNvSpPr txBox="1"/>
          <p:nvPr/>
        </p:nvSpPr>
        <p:spPr>
          <a:xfrm>
            <a:off x="8321040" y="5193792"/>
            <a:ext cx="2926080" cy="320040"/>
          </a:xfrm>
          <a:prstGeom prst="rect">
            <a:avLst/>
          </a:prstGeom>
          <a:noFill/>
        </p:spPr>
        <p:txBody>
          <a:bodyPr wrap="square"/>
          <a:lstStyle/>
          <a:p>
            <a:pPr algn="l">
              <a:defRPr sz="1100" b="0">
                <a:solidFill>
                  <a:srgbClr val="5A6270"/>
                </a:solidFill>
                <a:latin typeface="Inter"/>
              </a:defRPr>
            </a:pPr>
            <a:r>
              <a:t>of Lucid data stays on YOUR machine, never leaves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9B7EB8"/>
                </a:solidFill>
                <a:latin typeface="Inter"/>
              </a:defRPr>
            </a:pPr>
            <a:r>
              <a:t>PERSONA 3  |  THE SYSTEM SKEPTIC</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Pain Points, Hooks &amp; Feature Value</a:t>
            </a:r>
          </a:p>
        </p:txBody>
      </p:sp>
      <p:sp>
        <p:nvSpPr>
          <p:cNvPr id="5" name="Rounded Rectangle 4"/>
          <p:cNvSpPr/>
          <p:nvPr/>
        </p:nvSpPr>
        <p:spPr>
          <a:xfrm>
            <a:off x="73152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30352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754880" cy="457200"/>
          </a:xfrm>
          <a:prstGeom prst="rect">
            <a:avLst/>
          </a:prstGeom>
          <a:noFill/>
        </p:spPr>
        <p:txBody>
          <a:bodyPr wrap="square"/>
          <a:lstStyle/>
          <a:p>
            <a:pPr algn="l">
              <a:defRPr sz="1600" b="1">
                <a:solidFill>
                  <a:srgbClr val="1A1D21"/>
                </a:solidFill>
                <a:latin typeface="Playfair Display"/>
              </a:defRPr>
            </a:pPr>
            <a:r>
              <a:t>Core Pain Points</a:t>
            </a:r>
          </a:p>
        </p:txBody>
      </p:sp>
      <p:sp>
        <p:nvSpPr>
          <p:cNvPr id="8" name="TextBox 7"/>
          <p:cNvSpPr txBox="1"/>
          <p:nvPr/>
        </p:nvSpPr>
        <p:spPr>
          <a:xfrm>
            <a:off x="1005840" y="1965960"/>
            <a:ext cx="4754880" cy="1783080"/>
          </a:xfrm>
          <a:prstGeom prst="rect">
            <a:avLst/>
          </a:prstGeom>
          <a:noFill/>
        </p:spPr>
        <p:txBody>
          <a:bodyPr wrap="square"/>
          <a:lstStyle/>
          <a:p>
            <a:pPr algn="l">
              <a:spcAft>
                <a:spcPts val="800"/>
              </a:spcAft>
              <a:defRPr sz="1200" b="0">
                <a:solidFill>
                  <a:srgbClr val="5A6270"/>
                </a:solidFill>
                <a:latin typeface="Inter"/>
              </a:defRPr>
            </a:pPr>
            <a:r>
              <a:t>  'I don't need a therapist to tell me I'm stressed. I need data.'</a:t>
            </a:r>
          </a:p>
          <a:p>
            <a:pPr algn="l">
              <a:spcAft>
                <a:spcPts val="800"/>
              </a:spcAft>
              <a:defRPr sz="1200" b="0">
                <a:solidFill>
                  <a:srgbClr val="5A6270"/>
                </a:solidFill>
                <a:latin typeface="Inter"/>
              </a:defRPr>
            </a:pPr>
            <a:r>
              <a:t>  Afraid mental health data will be used against them (insurance, employers).</a:t>
            </a:r>
          </a:p>
          <a:p>
            <a:pPr algn="l">
              <a:spcAft>
                <a:spcPts val="800"/>
              </a:spcAft>
              <a:defRPr sz="1200" b="0">
                <a:solidFill>
                  <a:srgbClr val="5A6270"/>
                </a:solidFill>
                <a:latin typeface="Inter"/>
              </a:defRPr>
            </a:pPr>
            <a:r>
              <a:t>  The system screens them 1x/year with a 9-question self-report — absurd.</a:t>
            </a:r>
          </a:p>
          <a:p>
            <a:pPr algn="l">
              <a:spcAft>
                <a:spcPts val="800"/>
              </a:spcAft>
              <a:defRPr sz="1200" b="0">
                <a:solidFill>
                  <a:srgbClr val="5A6270"/>
                </a:solidFill>
                <a:latin typeface="Inter"/>
              </a:defRPr>
            </a:pPr>
            <a:r>
              <a:t>  Cloud-based wellness apps feel like surveillance, not self-care.</a:t>
            </a:r>
          </a:p>
          <a:p>
            <a:pPr algn="l">
              <a:spcAft>
                <a:spcPts val="800"/>
              </a:spcAft>
              <a:defRPr sz="1200" b="0">
                <a:solidFill>
                  <a:srgbClr val="5A6270"/>
                </a:solidFill>
                <a:latin typeface="Inter"/>
              </a:defRPr>
            </a:pPr>
            <a:r>
              <a:t>  They've tried Calm/Headspace (3.3% 30-day retention) and abandoned them.</a:t>
            </a:r>
          </a:p>
          <a:p>
            <a:pPr algn="l">
              <a:spcAft>
                <a:spcPts val="800"/>
              </a:spcAft>
              <a:defRPr sz="1200" b="0">
                <a:solidFill>
                  <a:srgbClr val="5A6270"/>
                </a:solidFill>
                <a:latin typeface="Inter"/>
              </a:defRPr>
            </a:pPr>
            <a:r>
              <a:t>  Want to understand their patterns without involving another human.</a:t>
            </a:r>
          </a:p>
        </p:txBody>
      </p:sp>
      <p:sp>
        <p:nvSpPr>
          <p:cNvPr id="9" name="Rounded Rectangle 8"/>
          <p:cNvSpPr/>
          <p:nvPr/>
        </p:nvSpPr>
        <p:spPr>
          <a:xfrm>
            <a:off x="640080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530352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554480"/>
            <a:ext cx="4754880" cy="457200"/>
          </a:xfrm>
          <a:prstGeom prst="rect">
            <a:avLst/>
          </a:prstGeom>
          <a:noFill/>
        </p:spPr>
        <p:txBody>
          <a:bodyPr wrap="square"/>
          <a:lstStyle/>
          <a:p>
            <a:pPr algn="l">
              <a:defRPr sz="1600" b="1">
                <a:solidFill>
                  <a:srgbClr val="1A1D21"/>
                </a:solidFill>
                <a:latin typeface="Playfair Display"/>
              </a:defRPr>
            </a:pPr>
            <a:r>
              <a:t>Messaging That Resonates</a:t>
            </a:r>
          </a:p>
        </p:txBody>
      </p:sp>
      <p:sp>
        <p:nvSpPr>
          <p:cNvPr id="12" name="TextBox 11"/>
          <p:cNvSpPr txBox="1"/>
          <p:nvPr/>
        </p:nvSpPr>
        <p:spPr>
          <a:xfrm>
            <a:off x="6675120" y="1965960"/>
            <a:ext cx="4754880" cy="1783080"/>
          </a:xfrm>
          <a:prstGeom prst="rect">
            <a:avLst/>
          </a:prstGeom>
          <a:noFill/>
        </p:spPr>
        <p:txBody>
          <a:bodyPr wrap="square"/>
          <a:lstStyle/>
          <a:p>
            <a:pPr algn="l">
              <a:spcAft>
                <a:spcPts val="800"/>
              </a:spcAft>
              <a:defRPr sz="1200" b="0">
                <a:solidFill>
                  <a:srgbClr val="5A6270"/>
                </a:solidFill>
                <a:latin typeface="Inter"/>
              </a:defRPr>
            </a:pPr>
            <a:r>
              <a:t>  '100% on-device. Your data never leaves your machine. Ever.'</a:t>
            </a:r>
          </a:p>
          <a:p>
            <a:pPr algn="l">
              <a:spcAft>
                <a:spcPts val="800"/>
              </a:spcAft>
              <a:defRPr sz="1200" b="0">
                <a:solidFill>
                  <a:srgbClr val="5A6270"/>
                </a:solidFill>
                <a:latin typeface="Inter"/>
              </a:defRPr>
            </a:pPr>
            <a:r>
              <a:t>  'No therapist required. No diagnosis. Just clarity.'</a:t>
            </a:r>
          </a:p>
          <a:p>
            <a:pPr algn="l">
              <a:spcAft>
                <a:spcPts val="800"/>
              </a:spcAft>
              <a:defRPr sz="1200" b="0">
                <a:solidFill>
                  <a:srgbClr val="5A6270"/>
                </a:solidFill>
                <a:latin typeface="Inter"/>
              </a:defRPr>
            </a:pPr>
            <a:r>
              <a:t>  'Download and start — no referral, no insurance, no waiting room.'</a:t>
            </a:r>
          </a:p>
          <a:p>
            <a:pPr algn="l">
              <a:spcAft>
                <a:spcPts val="800"/>
              </a:spcAft>
              <a:defRPr sz="1200" b="0">
                <a:solidFill>
                  <a:srgbClr val="5A6270"/>
                </a:solidFill>
                <a:latin typeface="Inter"/>
              </a:defRPr>
            </a:pPr>
            <a:r>
              <a:t>  'Your data belongs to you. Not your insurance company.'</a:t>
            </a:r>
          </a:p>
          <a:p>
            <a:pPr algn="l">
              <a:spcAft>
                <a:spcPts val="800"/>
              </a:spcAft>
              <a:defRPr sz="1200" b="0">
                <a:solidFill>
                  <a:srgbClr val="5A6270"/>
                </a:solidFill>
                <a:latin typeface="Inter"/>
              </a:defRPr>
            </a:pPr>
            <a:r>
              <a:t>  'The system screens you 1x/year. Lucid screens every conversation.'</a:t>
            </a:r>
          </a:p>
          <a:p>
            <a:pPr algn="l">
              <a:spcAft>
                <a:spcPts val="800"/>
              </a:spcAft>
              <a:defRPr sz="1200" b="0">
                <a:solidFill>
                  <a:srgbClr val="5A6270"/>
                </a:solidFill>
                <a:latin typeface="Inter"/>
              </a:defRPr>
            </a:pPr>
            <a:r>
              <a:t>  Privacy-first, sovereignty language — not medical/clinical.</a:t>
            </a:r>
          </a:p>
        </p:txBody>
      </p:sp>
      <p:sp>
        <p:nvSpPr>
          <p:cNvPr id="13" name="TextBox 12"/>
          <p:cNvSpPr txBox="1"/>
          <p:nvPr/>
        </p:nvSpPr>
        <p:spPr>
          <a:xfrm>
            <a:off x="731520" y="4114800"/>
            <a:ext cx="5486400" cy="365760"/>
          </a:xfrm>
          <a:prstGeom prst="rect">
            <a:avLst/>
          </a:prstGeom>
          <a:noFill/>
        </p:spPr>
        <p:txBody>
          <a:bodyPr wrap="square"/>
          <a:lstStyle/>
          <a:p>
            <a:pPr algn="l">
              <a:defRPr sz="1600" b="1">
                <a:solidFill>
                  <a:srgbClr val="1A1D21"/>
                </a:solidFill>
                <a:latin typeface="Playfair Display"/>
              </a:defRPr>
            </a:pPr>
            <a:r>
              <a:t>Feature Value Ranking (Highest to Lowest)</a:t>
            </a:r>
          </a:p>
        </p:txBody>
      </p:sp>
      <p:sp>
        <p:nvSpPr>
          <p:cNvPr id="14" name="TextBox 13"/>
          <p:cNvSpPr txBox="1"/>
          <p:nvPr/>
        </p:nvSpPr>
        <p:spPr>
          <a:xfrm>
            <a:off x="731520" y="4572000"/>
            <a:ext cx="3200400" cy="274320"/>
          </a:xfrm>
          <a:prstGeom prst="rect">
            <a:avLst/>
          </a:prstGeom>
          <a:noFill/>
        </p:spPr>
        <p:txBody>
          <a:bodyPr wrap="square"/>
          <a:lstStyle/>
          <a:p>
            <a:pPr algn="l">
              <a:defRPr sz="1200" b="1">
                <a:solidFill>
                  <a:srgbClr val="1A1D21"/>
                </a:solidFill>
                <a:latin typeface="Inter"/>
              </a:defRPr>
            </a:pPr>
            <a:r>
              <a:t>1. On-Device Processing</a:t>
            </a:r>
          </a:p>
        </p:txBody>
      </p:sp>
      <p:sp>
        <p:nvSpPr>
          <p:cNvPr id="15" name="TextBox 14"/>
          <p:cNvSpPr txBox="1"/>
          <p:nvPr/>
        </p:nvSpPr>
        <p:spPr>
          <a:xfrm>
            <a:off x="4114800" y="4572000"/>
            <a:ext cx="5943600" cy="274320"/>
          </a:xfrm>
          <a:prstGeom prst="rect">
            <a:avLst/>
          </a:prstGeom>
          <a:noFill/>
        </p:spPr>
        <p:txBody>
          <a:bodyPr wrap="square"/>
          <a:lstStyle/>
          <a:p>
            <a:pPr algn="l">
              <a:defRPr sz="1100" b="0">
                <a:solidFill>
                  <a:srgbClr val="5A6270"/>
                </a:solidFill>
                <a:latin typeface="Inter"/>
              </a:defRPr>
            </a:pPr>
            <a:r>
              <a:t>100% local — no cloud, no server, no data leaving their Mac</a:t>
            </a:r>
          </a:p>
        </p:txBody>
      </p:sp>
      <p:sp>
        <p:nvSpPr>
          <p:cNvPr id="16" name="TextBox 15"/>
          <p:cNvSpPr txBox="1"/>
          <p:nvPr/>
        </p:nvSpPr>
        <p:spPr>
          <a:xfrm>
            <a:off x="10789920" y="4572000"/>
            <a:ext cx="914400" cy="274320"/>
          </a:xfrm>
          <a:prstGeom prst="rect">
            <a:avLst/>
          </a:prstGeom>
          <a:noFill/>
        </p:spPr>
        <p:txBody>
          <a:bodyPr wrap="square"/>
          <a:lstStyle/>
          <a:p>
            <a:pPr algn="r">
              <a:defRPr sz="1200" b="1">
                <a:solidFill>
                  <a:srgbClr val="9B7EB8"/>
                </a:solidFill>
                <a:latin typeface="Inter"/>
              </a:defRPr>
            </a:pPr>
            <a:r>
              <a:t>10/10</a:t>
            </a:r>
          </a:p>
        </p:txBody>
      </p:sp>
      <p:sp>
        <p:nvSpPr>
          <p:cNvPr id="17" name="TextBox 16"/>
          <p:cNvSpPr txBox="1"/>
          <p:nvPr/>
        </p:nvSpPr>
        <p:spPr>
          <a:xfrm>
            <a:off x="731520" y="4919472"/>
            <a:ext cx="3200400" cy="274320"/>
          </a:xfrm>
          <a:prstGeom prst="rect">
            <a:avLst/>
          </a:prstGeom>
          <a:noFill/>
        </p:spPr>
        <p:txBody>
          <a:bodyPr wrap="square"/>
          <a:lstStyle/>
          <a:p>
            <a:pPr algn="l">
              <a:defRPr sz="1200" b="1">
                <a:solidFill>
                  <a:srgbClr val="1A1D21"/>
                </a:solidFill>
                <a:latin typeface="Inter"/>
              </a:defRPr>
            </a:pPr>
            <a:r>
              <a:t>2. No Audio Storage</a:t>
            </a:r>
          </a:p>
        </p:txBody>
      </p:sp>
      <p:sp>
        <p:nvSpPr>
          <p:cNvPr id="18" name="TextBox 17"/>
          <p:cNvSpPr txBox="1"/>
          <p:nvPr/>
        </p:nvSpPr>
        <p:spPr>
          <a:xfrm>
            <a:off x="4114800" y="4919472"/>
            <a:ext cx="5943600" cy="274320"/>
          </a:xfrm>
          <a:prstGeom prst="rect">
            <a:avLst/>
          </a:prstGeom>
          <a:noFill/>
        </p:spPr>
        <p:txBody>
          <a:bodyPr wrap="square"/>
          <a:lstStyle/>
          <a:p>
            <a:pPr algn="l">
              <a:defRPr sz="1100" b="0">
                <a:solidFill>
                  <a:srgbClr val="5A6270"/>
                </a:solidFill>
                <a:latin typeface="Inter"/>
              </a:defRPr>
            </a:pPr>
            <a:r>
              <a:t>Audio is analyzed and discarded — never recorded, never stored</a:t>
            </a:r>
          </a:p>
        </p:txBody>
      </p:sp>
      <p:sp>
        <p:nvSpPr>
          <p:cNvPr id="19" name="TextBox 18"/>
          <p:cNvSpPr txBox="1"/>
          <p:nvPr/>
        </p:nvSpPr>
        <p:spPr>
          <a:xfrm>
            <a:off x="10789920" y="4919472"/>
            <a:ext cx="914400" cy="274320"/>
          </a:xfrm>
          <a:prstGeom prst="rect">
            <a:avLst/>
          </a:prstGeom>
          <a:noFill/>
        </p:spPr>
        <p:txBody>
          <a:bodyPr wrap="square"/>
          <a:lstStyle/>
          <a:p>
            <a:pPr algn="r">
              <a:defRPr sz="1200" b="1">
                <a:solidFill>
                  <a:srgbClr val="9B7EB8"/>
                </a:solidFill>
                <a:latin typeface="Inter"/>
              </a:defRPr>
            </a:pPr>
            <a:r>
              <a:t>10/10</a:t>
            </a:r>
          </a:p>
        </p:txBody>
      </p:sp>
      <p:sp>
        <p:nvSpPr>
          <p:cNvPr id="20" name="TextBox 19"/>
          <p:cNvSpPr txBox="1"/>
          <p:nvPr/>
        </p:nvSpPr>
        <p:spPr>
          <a:xfrm>
            <a:off x="731520" y="5266944"/>
            <a:ext cx="3200400" cy="274320"/>
          </a:xfrm>
          <a:prstGeom prst="rect">
            <a:avLst/>
          </a:prstGeom>
          <a:noFill/>
        </p:spPr>
        <p:txBody>
          <a:bodyPr wrap="square"/>
          <a:lstStyle/>
          <a:p>
            <a:pPr algn="l">
              <a:defRPr sz="1200" b="1">
                <a:solidFill>
                  <a:srgbClr val="1A1D21"/>
                </a:solidFill>
                <a:latin typeface="Inter"/>
              </a:defRPr>
            </a:pPr>
            <a:r>
              <a:t>3. Daily Wellness Score</a:t>
            </a:r>
          </a:p>
        </p:txBody>
      </p:sp>
      <p:sp>
        <p:nvSpPr>
          <p:cNvPr id="21" name="TextBox 20"/>
          <p:cNvSpPr txBox="1"/>
          <p:nvPr/>
        </p:nvSpPr>
        <p:spPr>
          <a:xfrm>
            <a:off x="4114800" y="5266944"/>
            <a:ext cx="5943600" cy="274320"/>
          </a:xfrm>
          <a:prstGeom prst="rect">
            <a:avLst/>
          </a:prstGeom>
          <a:noFill/>
        </p:spPr>
        <p:txBody>
          <a:bodyPr wrap="square"/>
          <a:lstStyle/>
          <a:p>
            <a:pPr algn="l">
              <a:defRPr sz="1100" b="0">
                <a:solidFill>
                  <a:srgbClr val="5A6270"/>
                </a:solidFill>
                <a:latin typeface="Inter"/>
              </a:defRPr>
            </a:pPr>
            <a:r>
              <a:t>Self-knowledge without a gatekeeper — objective, private data</a:t>
            </a:r>
          </a:p>
        </p:txBody>
      </p:sp>
      <p:sp>
        <p:nvSpPr>
          <p:cNvPr id="22" name="TextBox 21"/>
          <p:cNvSpPr txBox="1"/>
          <p:nvPr/>
        </p:nvSpPr>
        <p:spPr>
          <a:xfrm>
            <a:off x="10789920" y="5266944"/>
            <a:ext cx="914400" cy="274320"/>
          </a:xfrm>
          <a:prstGeom prst="rect">
            <a:avLst/>
          </a:prstGeom>
          <a:noFill/>
        </p:spPr>
        <p:txBody>
          <a:bodyPr wrap="square"/>
          <a:lstStyle/>
          <a:p>
            <a:pPr algn="r">
              <a:defRPr sz="1200" b="1">
                <a:solidFill>
                  <a:srgbClr val="9B7EB8"/>
                </a:solidFill>
                <a:latin typeface="Inter"/>
              </a:defRPr>
            </a:pPr>
            <a:r>
              <a:t>9/10</a:t>
            </a:r>
          </a:p>
        </p:txBody>
      </p:sp>
      <p:sp>
        <p:nvSpPr>
          <p:cNvPr id="23" name="TextBox 22"/>
          <p:cNvSpPr txBox="1"/>
          <p:nvPr/>
        </p:nvSpPr>
        <p:spPr>
          <a:xfrm>
            <a:off x="731520" y="5614416"/>
            <a:ext cx="3200400" cy="274320"/>
          </a:xfrm>
          <a:prstGeom prst="rect">
            <a:avLst/>
          </a:prstGeom>
          <a:noFill/>
        </p:spPr>
        <p:txBody>
          <a:bodyPr wrap="square"/>
          <a:lstStyle/>
          <a:p>
            <a:pPr algn="l">
              <a:defRPr sz="1200" b="1">
                <a:solidFill>
                  <a:srgbClr val="1A1D21"/>
                </a:solidFill>
                <a:latin typeface="Inter"/>
              </a:defRPr>
            </a:pPr>
            <a:r>
              <a:t>4. Trend Lines &amp; Trajectories</a:t>
            </a:r>
          </a:p>
        </p:txBody>
      </p:sp>
      <p:sp>
        <p:nvSpPr>
          <p:cNvPr id="24" name="TextBox 23"/>
          <p:cNvSpPr txBox="1"/>
          <p:nvPr/>
        </p:nvSpPr>
        <p:spPr>
          <a:xfrm>
            <a:off x="4114800" y="5614416"/>
            <a:ext cx="5943600" cy="274320"/>
          </a:xfrm>
          <a:prstGeom prst="rect">
            <a:avLst/>
          </a:prstGeom>
          <a:noFill/>
        </p:spPr>
        <p:txBody>
          <a:bodyPr wrap="square"/>
          <a:lstStyle/>
          <a:p>
            <a:pPr algn="l">
              <a:defRPr sz="1100" b="0">
                <a:solidFill>
                  <a:srgbClr val="5A6270"/>
                </a:solidFill>
                <a:latin typeface="Inter"/>
              </a:defRPr>
            </a:pPr>
            <a:r>
              <a:t>See their own patterns over time — self-directed insight</a:t>
            </a:r>
          </a:p>
        </p:txBody>
      </p:sp>
      <p:sp>
        <p:nvSpPr>
          <p:cNvPr id="25" name="TextBox 24"/>
          <p:cNvSpPr txBox="1"/>
          <p:nvPr/>
        </p:nvSpPr>
        <p:spPr>
          <a:xfrm>
            <a:off x="10789920" y="5614416"/>
            <a:ext cx="914400" cy="274320"/>
          </a:xfrm>
          <a:prstGeom prst="rect">
            <a:avLst/>
          </a:prstGeom>
          <a:noFill/>
        </p:spPr>
        <p:txBody>
          <a:bodyPr wrap="square"/>
          <a:lstStyle/>
          <a:p>
            <a:pPr algn="r">
              <a:defRPr sz="1200" b="1">
                <a:solidFill>
                  <a:srgbClr val="9B7EB8"/>
                </a:solidFill>
                <a:latin typeface="Inter"/>
              </a:defRPr>
            </a:pPr>
            <a:r>
              <a:t>8/10</a:t>
            </a:r>
          </a:p>
        </p:txBody>
      </p:sp>
      <p:sp>
        <p:nvSpPr>
          <p:cNvPr id="26" name="TextBox 25"/>
          <p:cNvSpPr txBox="1"/>
          <p:nvPr/>
        </p:nvSpPr>
        <p:spPr>
          <a:xfrm>
            <a:off x="731520" y="5961888"/>
            <a:ext cx="3200400" cy="274320"/>
          </a:xfrm>
          <a:prstGeom prst="rect">
            <a:avLst/>
          </a:prstGeom>
          <a:noFill/>
        </p:spPr>
        <p:txBody>
          <a:bodyPr wrap="square"/>
          <a:lstStyle/>
          <a:p>
            <a:pPr algn="l">
              <a:defRPr sz="1200" b="1">
                <a:solidFill>
                  <a:srgbClr val="1A1D21"/>
                </a:solidFill>
                <a:latin typeface="Inter"/>
              </a:defRPr>
            </a:pPr>
            <a:r>
              <a:t>5. Data Export (CSV/JSON)</a:t>
            </a:r>
          </a:p>
        </p:txBody>
      </p:sp>
      <p:sp>
        <p:nvSpPr>
          <p:cNvPr id="27" name="TextBox 26"/>
          <p:cNvSpPr txBox="1"/>
          <p:nvPr/>
        </p:nvSpPr>
        <p:spPr>
          <a:xfrm>
            <a:off x="4114800" y="5961888"/>
            <a:ext cx="5943600" cy="274320"/>
          </a:xfrm>
          <a:prstGeom prst="rect">
            <a:avLst/>
          </a:prstGeom>
          <a:noFill/>
        </p:spPr>
        <p:txBody>
          <a:bodyPr wrap="square"/>
          <a:lstStyle/>
          <a:p>
            <a:pPr algn="l">
              <a:defRPr sz="1100" b="0">
                <a:solidFill>
                  <a:srgbClr val="5A6270"/>
                </a:solidFill>
                <a:latin typeface="Inter"/>
              </a:defRPr>
            </a:pPr>
            <a:r>
              <a:t>Full data ownership — export, delete, take it anywhere</a:t>
            </a:r>
          </a:p>
        </p:txBody>
      </p:sp>
      <p:sp>
        <p:nvSpPr>
          <p:cNvPr id="28" name="TextBox 27"/>
          <p:cNvSpPr txBox="1"/>
          <p:nvPr/>
        </p:nvSpPr>
        <p:spPr>
          <a:xfrm>
            <a:off x="10789920" y="5961888"/>
            <a:ext cx="914400" cy="274320"/>
          </a:xfrm>
          <a:prstGeom prst="rect">
            <a:avLst/>
          </a:prstGeom>
          <a:noFill/>
        </p:spPr>
        <p:txBody>
          <a:bodyPr wrap="square"/>
          <a:lstStyle/>
          <a:p>
            <a:pPr algn="r">
              <a:defRPr sz="1200" b="1">
                <a:solidFill>
                  <a:srgbClr val="9B7EB8"/>
                </a:solidFill>
                <a:latin typeface="Inter"/>
              </a:defRPr>
            </a:pPr>
            <a:r>
              <a:t>8/10</a:t>
            </a:r>
          </a:p>
        </p:txBody>
      </p:sp>
      <p:sp>
        <p:nvSpPr>
          <p:cNvPr id="29" name="TextBox 28"/>
          <p:cNvSpPr txBox="1"/>
          <p:nvPr/>
        </p:nvSpPr>
        <p:spPr>
          <a:xfrm>
            <a:off x="731520" y="6309360"/>
            <a:ext cx="3200400" cy="274320"/>
          </a:xfrm>
          <a:prstGeom prst="rect">
            <a:avLst/>
          </a:prstGeom>
          <a:noFill/>
        </p:spPr>
        <p:txBody>
          <a:bodyPr wrap="square"/>
          <a:lstStyle/>
          <a:p>
            <a:pPr algn="l">
              <a:defRPr sz="1200" b="1">
                <a:solidFill>
                  <a:srgbClr val="1A1D21"/>
                </a:solidFill>
                <a:latin typeface="Inter"/>
              </a:defRPr>
            </a:pPr>
            <a:r>
              <a:t>6. Grove (Streak System)</a:t>
            </a:r>
          </a:p>
        </p:txBody>
      </p:sp>
      <p:sp>
        <p:nvSpPr>
          <p:cNvPr id="30" name="TextBox 29"/>
          <p:cNvSpPr txBox="1"/>
          <p:nvPr/>
        </p:nvSpPr>
        <p:spPr>
          <a:xfrm>
            <a:off x="4114800" y="6309360"/>
            <a:ext cx="5943600" cy="274320"/>
          </a:xfrm>
          <a:prstGeom prst="rect">
            <a:avLst/>
          </a:prstGeom>
          <a:noFill/>
        </p:spPr>
        <p:txBody>
          <a:bodyPr wrap="square"/>
          <a:lstStyle/>
          <a:p>
            <a:pPr algn="l">
              <a:defRPr sz="1100" b="0">
                <a:solidFill>
                  <a:srgbClr val="5A6270"/>
                </a:solidFill>
                <a:latin typeface="Inter"/>
              </a:defRPr>
            </a:pPr>
            <a:r>
              <a:t>Personal ritual that replaces the 'appointment' they refuse to make</a:t>
            </a:r>
          </a:p>
        </p:txBody>
      </p:sp>
      <p:sp>
        <p:nvSpPr>
          <p:cNvPr id="31" name="TextBox 30"/>
          <p:cNvSpPr txBox="1"/>
          <p:nvPr/>
        </p:nvSpPr>
        <p:spPr>
          <a:xfrm>
            <a:off x="10789920" y="6309360"/>
            <a:ext cx="914400" cy="274320"/>
          </a:xfrm>
          <a:prstGeom prst="rect">
            <a:avLst/>
          </a:prstGeom>
          <a:noFill/>
        </p:spPr>
        <p:txBody>
          <a:bodyPr wrap="square"/>
          <a:lstStyle/>
          <a:p>
            <a:pPr algn="r">
              <a:defRPr sz="1200" b="1">
                <a:solidFill>
                  <a:srgbClr val="9B7EB8"/>
                </a:solidFill>
                <a:latin typeface="Inter"/>
              </a:defRPr>
            </a:pPr>
            <a:r>
              <a:t>7/10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9B7EB8"/>
                </a:solidFill>
                <a:latin typeface="Inter"/>
              </a:defRPr>
            </a:pPr>
            <a:r>
              <a:t>PERSONA 3  |  THE SYSTEM SKEPTIC</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Acquisition &amp; Conversion Strategy</a:t>
            </a:r>
          </a:p>
        </p:txBody>
      </p:sp>
      <p:sp>
        <p:nvSpPr>
          <p:cNvPr id="5" name="Rounded Rectangle 4"/>
          <p:cNvSpPr/>
          <p:nvPr/>
        </p:nvSpPr>
        <p:spPr>
          <a:xfrm>
            <a:off x="7315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38328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2834640" cy="457200"/>
          </a:xfrm>
          <a:prstGeom prst="rect">
            <a:avLst/>
          </a:prstGeom>
          <a:noFill/>
        </p:spPr>
        <p:txBody>
          <a:bodyPr wrap="square"/>
          <a:lstStyle/>
          <a:p>
            <a:pPr algn="l">
              <a:defRPr sz="1600" b="1">
                <a:solidFill>
                  <a:srgbClr val="1A1D21"/>
                </a:solidFill>
                <a:latin typeface="Playfair Display"/>
              </a:defRPr>
            </a:pPr>
            <a:r>
              <a:t>Top Acquisition Channels</a:t>
            </a:r>
          </a:p>
        </p:txBody>
      </p:sp>
      <p:sp>
        <p:nvSpPr>
          <p:cNvPr id="8" name="TextBox 7"/>
          <p:cNvSpPr txBox="1"/>
          <p:nvPr/>
        </p:nvSpPr>
        <p:spPr>
          <a:xfrm>
            <a:off x="1005840" y="1965960"/>
            <a:ext cx="2834640" cy="1783080"/>
          </a:xfrm>
          <a:prstGeom prst="rect">
            <a:avLst/>
          </a:prstGeom>
          <a:noFill/>
        </p:spPr>
        <p:txBody>
          <a:bodyPr wrap="square"/>
          <a:lstStyle/>
          <a:p>
            <a:pPr algn="l">
              <a:spcAft>
                <a:spcPts val="800"/>
              </a:spcAft>
              <a:defRPr sz="1200" b="0">
                <a:solidFill>
                  <a:srgbClr val="5A6270"/>
                </a:solidFill>
                <a:latin typeface="Inter"/>
              </a:defRPr>
            </a:pPr>
            <a:r>
              <a:t>  1. TikTok (anti-system, 'therapy is broken' content)</a:t>
            </a:r>
          </a:p>
          <a:p>
            <a:pPr algn="l">
              <a:spcAft>
                <a:spcPts val="800"/>
              </a:spcAft>
              <a:defRPr sz="1200" b="0">
                <a:solidFill>
                  <a:srgbClr val="5A6270"/>
                </a:solidFill>
                <a:latin typeface="Inter"/>
              </a:defRPr>
            </a:pPr>
            <a:r>
              <a:t>  2. Reddit (r/mentalhealth, r/privacy, r/selfimprovement)</a:t>
            </a:r>
          </a:p>
          <a:p>
            <a:pPr algn="l">
              <a:spcAft>
                <a:spcPts val="800"/>
              </a:spcAft>
              <a:defRPr sz="1200" b="0">
                <a:solidFill>
                  <a:srgbClr val="5A6270"/>
                </a:solidFill>
                <a:latin typeface="Inter"/>
              </a:defRPr>
            </a:pPr>
            <a:r>
              <a:t>  3. Twitter/X (privacy advocacy, mental health discourse)</a:t>
            </a:r>
          </a:p>
          <a:p>
            <a:pPr algn="l">
              <a:spcAft>
                <a:spcPts val="800"/>
              </a:spcAft>
              <a:defRPr sz="1200" b="0">
                <a:solidFill>
                  <a:srgbClr val="5A6270"/>
                </a:solidFill>
                <a:latin typeface="Inter"/>
              </a:defRPr>
            </a:pPr>
            <a:r>
              <a:t>  4. Podcasts (independent health, privacy-focused shows)</a:t>
            </a:r>
          </a:p>
          <a:p>
            <a:pPr algn="l">
              <a:spcAft>
                <a:spcPts val="800"/>
              </a:spcAft>
              <a:defRPr sz="1200" b="0">
                <a:solidFill>
                  <a:srgbClr val="5A6270"/>
                </a:solidFill>
                <a:latin typeface="Inter"/>
              </a:defRPr>
            </a:pPr>
            <a:r>
              <a:t>  5. Word of mouth (strongest for trust-based product)</a:t>
            </a:r>
          </a:p>
        </p:txBody>
      </p:sp>
      <p:sp>
        <p:nvSpPr>
          <p:cNvPr id="9" name="Rounded Rectangle 8"/>
          <p:cNvSpPr/>
          <p:nvPr/>
        </p:nvSpPr>
        <p:spPr>
          <a:xfrm>
            <a:off x="43891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38328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54480"/>
            <a:ext cx="2834640" cy="457200"/>
          </a:xfrm>
          <a:prstGeom prst="rect">
            <a:avLst/>
          </a:prstGeom>
          <a:noFill/>
        </p:spPr>
        <p:txBody>
          <a:bodyPr wrap="square"/>
          <a:lstStyle/>
          <a:p>
            <a:pPr algn="l">
              <a:defRPr sz="1600" b="1">
                <a:solidFill>
                  <a:srgbClr val="1A1D21"/>
                </a:solidFill>
                <a:latin typeface="Playfair Display"/>
              </a:defRPr>
            </a:pPr>
            <a:r>
              <a:t>Hook Messages That Convert</a:t>
            </a:r>
          </a:p>
        </p:txBody>
      </p:sp>
      <p:sp>
        <p:nvSpPr>
          <p:cNvPr id="12" name="TextBox 11"/>
          <p:cNvSpPr txBox="1"/>
          <p:nvPr/>
        </p:nvSpPr>
        <p:spPr>
          <a:xfrm>
            <a:off x="4663440" y="1965960"/>
            <a:ext cx="2834640" cy="1783080"/>
          </a:xfrm>
          <a:prstGeom prst="rect">
            <a:avLst/>
          </a:prstGeom>
          <a:noFill/>
        </p:spPr>
        <p:txBody>
          <a:bodyPr wrap="square"/>
          <a:lstStyle/>
          <a:p>
            <a:pPr algn="l">
              <a:spcAft>
                <a:spcPts val="800"/>
              </a:spcAft>
              <a:defRPr sz="1200" b="0">
                <a:solidFill>
                  <a:srgbClr val="5A6270"/>
                </a:solidFill>
                <a:latin typeface="Inter"/>
              </a:defRPr>
            </a:pPr>
            <a:r>
              <a:t>  'The system screens you once a year. Your voice can screen you every day.'</a:t>
            </a:r>
          </a:p>
          <a:p>
            <a:pPr algn="l">
              <a:spcAft>
                <a:spcPts val="800"/>
              </a:spcAft>
              <a:defRPr sz="1200" b="0">
                <a:solidFill>
                  <a:srgbClr val="5A6270"/>
                </a:solidFill>
                <a:latin typeface="Inter"/>
              </a:defRPr>
            </a:pPr>
            <a:r>
              <a:t>  'No therapist, no insurance company, no cloud server ever sees your data.'</a:t>
            </a:r>
          </a:p>
          <a:p>
            <a:pPr algn="l">
              <a:spcAft>
                <a:spcPts val="800"/>
              </a:spcAft>
              <a:defRPr sz="1200" b="0">
                <a:solidFill>
                  <a:srgbClr val="5A6270"/>
                </a:solidFill>
                <a:latin typeface="Inter"/>
              </a:defRPr>
            </a:pPr>
            <a:r>
              <a:t>  'I stopped going to therapy. I didn't stop monitoring my mental health.'</a:t>
            </a:r>
          </a:p>
          <a:p>
            <a:pPr algn="l">
              <a:spcAft>
                <a:spcPts val="800"/>
              </a:spcAft>
              <a:defRPr sz="1200" b="0">
                <a:solidFill>
                  <a:srgbClr val="5A6270"/>
                </a:solidFill>
                <a:latin typeface="Inter"/>
              </a:defRPr>
            </a:pPr>
            <a:r>
              <a:t>  'Your voice already knows. It's been telling you the truth your entire life.'</a:t>
            </a:r>
          </a:p>
          <a:p>
            <a:pPr algn="l">
              <a:spcAft>
                <a:spcPts val="800"/>
              </a:spcAft>
              <a:defRPr sz="1200" b="0">
                <a:solidFill>
                  <a:srgbClr val="5A6270"/>
                </a:solidFill>
                <a:latin typeface="Inter"/>
              </a:defRPr>
            </a:pPr>
            <a:r>
              <a:t>  Content comparing the current system vs Lucid (table format).</a:t>
            </a:r>
          </a:p>
        </p:txBody>
      </p:sp>
      <p:sp>
        <p:nvSpPr>
          <p:cNvPr id="13" name="Rounded Rectangle 12"/>
          <p:cNvSpPr/>
          <p:nvPr/>
        </p:nvSpPr>
        <p:spPr>
          <a:xfrm>
            <a:off x="80467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3383280" cy="508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54480"/>
            <a:ext cx="2834640" cy="457200"/>
          </a:xfrm>
          <a:prstGeom prst="rect">
            <a:avLst/>
          </a:prstGeom>
          <a:noFill/>
        </p:spPr>
        <p:txBody>
          <a:bodyPr wrap="square"/>
          <a:lstStyle/>
          <a:p>
            <a:pPr algn="l">
              <a:defRPr sz="1600" b="1">
                <a:solidFill>
                  <a:srgbClr val="1A1D21"/>
                </a:solidFill>
                <a:latin typeface="Playfair Display"/>
              </a:defRPr>
            </a:pPr>
            <a:r>
              <a:t>Conversion Strategy</a:t>
            </a:r>
          </a:p>
        </p:txBody>
      </p:sp>
      <p:sp>
        <p:nvSpPr>
          <p:cNvPr id="16" name="TextBox 15"/>
          <p:cNvSpPr txBox="1"/>
          <p:nvPr/>
        </p:nvSpPr>
        <p:spPr>
          <a:xfrm>
            <a:off x="8321040" y="1965960"/>
            <a:ext cx="2834640" cy="1783080"/>
          </a:xfrm>
          <a:prstGeom prst="rect">
            <a:avLst/>
          </a:prstGeom>
          <a:noFill/>
        </p:spPr>
        <p:txBody>
          <a:bodyPr wrap="square"/>
          <a:lstStyle/>
          <a:p>
            <a:pPr algn="l">
              <a:spcAft>
                <a:spcPts val="800"/>
              </a:spcAft>
              <a:defRPr sz="1200" b="0">
                <a:solidFill>
                  <a:srgbClr val="5A6270"/>
                </a:solidFill>
                <a:latin typeface="Inter"/>
              </a:defRPr>
            </a:pPr>
            <a:r>
              <a:t>  Privacy as the LEAD value proposition, not a checkbox</a:t>
            </a:r>
          </a:p>
          <a:p>
            <a:pPr algn="l">
              <a:spcAft>
                <a:spcPts val="800"/>
              </a:spcAft>
              <a:defRPr sz="1200" b="0">
                <a:solidFill>
                  <a:srgbClr val="5A6270"/>
                </a:solidFill>
                <a:latin typeface="Inter"/>
              </a:defRPr>
            </a:pPr>
            <a:r>
              <a:t>  Transparent technical explanation of on-device processing</a:t>
            </a:r>
          </a:p>
          <a:p>
            <a:pPr algn="l">
              <a:spcAft>
                <a:spcPts val="800"/>
              </a:spcAft>
              <a:defRPr sz="1200" b="0">
                <a:solidFill>
                  <a:srgbClr val="5A6270"/>
                </a:solidFill>
                <a:latin typeface="Inter"/>
              </a:defRPr>
            </a:pPr>
            <a:r>
              <a:t>  Open about what data exists and how to delete it</a:t>
            </a:r>
          </a:p>
          <a:p>
            <a:pPr algn="l">
              <a:spcAft>
                <a:spcPts val="800"/>
              </a:spcAft>
              <a:defRPr sz="1200" b="0">
                <a:solidFill>
                  <a:srgbClr val="5A6270"/>
                </a:solidFill>
                <a:latin typeface="Inter"/>
              </a:defRPr>
            </a:pPr>
            <a:r>
              <a:t>  No account creation required for core features</a:t>
            </a:r>
          </a:p>
          <a:p>
            <a:pPr algn="l">
              <a:spcAft>
                <a:spcPts val="800"/>
              </a:spcAft>
              <a:defRPr sz="1200" b="0">
                <a:solidFill>
                  <a:srgbClr val="5A6270"/>
                </a:solidFill>
                <a:latin typeface="Inter"/>
              </a:defRPr>
            </a:pPr>
            <a:r>
              <a:t>  Trust-building through transparency, not marketing polish</a:t>
            </a:r>
          </a:p>
        </p:txBody>
      </p:sp>
      <p:sp>
        <p:nvSpPr>
          <p:cNvPr id="17" name="Rounded Rectangle 16"/>
          <p:cNvSpPr/>
          <p:nvPr/>
        </p:nvSpPr>
        <p:spPr>
          <a:xfrm>
            <a:off x="731520" y="4206240"/>
            <a:ext cx="10698480" cy="2286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06240"/>
            <a:ext cx="63500" cy="22860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389120"/>
            <a:ext cx="9784080" cy="731520"/>
          </a:xfrm>
          <a:prstGeom prst="rect">
            <a:avLst/>
          </a:prstGeom>
          <a:noFill/>
        </p:spPr>
        <p:txBody>
          <a:bodyPr wrap="square"/>
          <a:lstStyle/>
          <a:p>
            <a:pPr algn="l">
              <a:defRPr sz="2200" b="0" i="1">
                <a:solidFill>
                  <a:srgbClr val="1A1D21"/>
                </a:solidFill>
                <a:latin typeface="Playfair Display"/>
              </a:defRPr>
            </a:pPr>
            <a:r>
              <a:t>"I don't need someone to tell me how I feel. I need data to show me what I can't see."</a:t>
            </a:r>
          </a:p>
        </p:txBody>
      </p:sp>
      <p:sp>
        <p:nvSpPr>
          <p:cNvPr id="20" name="TextBox 19"/>
          <p:cNvSpPr txBox="1"/>
          <p:nvPr/>
        </p:nvSpPr>
        <p:spPr>
          <a:xfrm>
            <a:off x="1188720" y="5029200"/>
            <a:ext cx="9784080" cy="1097280"/>
          </a:xfrm>
          <a:prstGeom prst="rect">
            <a:avLst/>
          </a:prstGeom>
          <a:noFill/>
        </p:spPr>
        <p:txBody>
          <a:bodyPr wrap="square"/>
          <a:lstStyle/>
          <a:p>
            <a:pPr algn="l">
              <a:defRPr sz="1300" b="0">
                <a:solidFill>
                  <a:srgbClr val="5A6270"/>
                </a:solidFill>
                <a:latin typeface="Inter"/>
              </a:defRPr>
            </a:pPr>
            <a:r>
              <a:t>This persona is the hardest to acquire but the most loyal once converted. They will NEVER tolerate a privacy breach or a cloud upload. The '100% on-device' message isn't a feature for them — it's the entire reason they'll consider Lucid. Every other mental health app failed them because it required trust in a third party.</a:t>
            </a:r>
            <a:br/>
            <a:br/>
            <a:r>
              <a:t>Key insight: Don't market to them like a health app. Market like a privacy tool that happens to measure wellness. Lead with sovereignty, not clinical accuracy.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3657600" cy="365760"/>
          </a:xfrm>
          <a:prstGeom prst="rect">
            <a:avLst/>
          </a:prstGeom>
          <a:noFill/>
        </p:spPr>
        <p:txBody>
          <a:bodyPr wrap="square"/>
          <a:lstStyle/>
          <a:p>
            <a:pPr algn="l">
              <a:defRPr sz="1200" b="1">
                <a:solidFill>
                  <a:srgbClr val="C47A5A"/>
                </a:solidFill>
                <a:latin typeface="Inter"/>
              </a:defRPr>
            </a:pPr>
            <a:r>
              <a:t>PERSONA 4</a:t>
            </a:r>
          </a:p>
        </p:txBody>
      </p:sp>
      <p:sp>
        <p:nvSpPr>
          <p:cNvPr id="5" name="TextBox 4"/>
          <p:cNvSpPr txBox="1"/>
          <p:nvPr/>
        </p:nvSpPr>
        <p:spPr>
          <a:xfrm>
            <a:off x="731520" y="411480"/>
            <a:ext cx="7315200" cy="548640"/>
          </a:xfrm>
          <a:prstGeom prst="rect">
            <a:avLst/>
          </a:prstGeom>
          <a:noFill/>
        </p:spPr>
        <p:txBody>
          <a:bodyPr wrap="square"/>
          <a:lstStyle/>
          <a:p>
            <a:pPr algn="l">
              <a:defRPr sz="3000" b="1">
                <a:solidFill>
                  <a:srgbClr val="FFFFFF"/>
                </a:solidFill>
                <a:latin typeface="Playfair Display"/>
              </a:defRPr>
            </a:pPr>
            <a:r>
              <a:t>The Performance Athlete</a:t>
            </a:r>
          </a:p>
        </p:txBody>
      </p:sp>
      <p:sp>
        <p:nvSpPr>
          <p:cNvPr id="6" name="TextBox 5"/>
          <p:cNvSpPr txBox="1"/>
          <p:nvPr/>
        </p:nvSpPr>
        <p:spPr>
          <a:xfrm>
            <a:off x="731520" y="1463040"/>
            <a:ext cx="5029200" cy="365760"/>
          </a:xfrm>
          <a:prstGeom prst="rect">
            <a:avLst/>
          </a:prstGeom>
          <a:noFill/>
        </p:spPr>
        <p:txBody>
          <a:bodyPr wrap="square"/>
          <a:lstStyle/>
          <a:p>
            <a:pPr algn="l">
              <a:defRPr sz="2000" b="1">
                <a:solidFill>
                  <a:srgbClr val="1A1D21"/>
                </a:solidFill>
                <a:latin typeface="Playfair Display"/>
              </a:defRPr>
            </a:pPr>
            <a:r>
              <a:t>Who They Are</a:t>
            </a:r>
          </a:p>
        </p:txBody>
      </p:sp>
      <p:sp>
        <p:nvSpPr>
          <p:cNvPr id="7" name="TextBox 6"/>
          <p:cNvSpPr txBox="1"/>
          <p:nvPr/>
        </p:nvSpPr>
        <p:spPr>
          <a:xfrm>
            <a:off x="731520" y="1920240"/>
            <a:ext cx="1645920" cy="274320"/>
          </a:xfrm>
          <a:prstGeom prst="rect">
            <a:avLst/>
          </a:prstGeom>
          <a:noFill/>
        </p:spPr>
        <p:txBody>
          <a:bodyPr wrap="square"/>
          <a:lstStyle/>
          <a:p>
            <a:pPr algn="l">
              <a:defRPr sz="1100" b="1">
                <a:solidFill>
                  <a:srgbClr val="C47A5A"/>
                </a:solidFill>
                <a:latin typeface="Inter"/>
              </a:defRPr>
            </a:pPr>
            <a:r>
              <a:t>Demographics</a:t>
            </a:r>
          </a:p>
        </p:txBody>
      </p:sp>
      <p:sp>
        <p:nvSpPr>
          <p:cNvPr id="8" name="TextBox 7"/>
          <p:cNvSpPr txBox="1"/>
          <p:nvPr/>
        </p:nvSpPr>
        <p:spPr>
          <a:xfrm>
            <a:off x="2560320" y="1920240"/>
            <a:ext cx="3657600" cy="914400"/>
          </a:xfrm>
          <a:prstGeom prst="rect">
            <a:avLst/>
          </a:prstGeom>
          <a:noFill/>
        </p:spPr>
        <p:txBody>
          <a:bodyPr wrap="square"/>
          <a:lstStyle/>
          <a:p>
            <a:pPr algn="l">
              <a:defRPr sz="1100" b="0">
                <a:solidFill>
                  <a:srgbClr val="5A6270"/>
                </a:solidFill>
                <a:latin typeface="Inter"/>
              </a:defRPr>
            </a:pPr>
            <a:r>
              <a:t>25-50 years old  |  $75K-$200K+ income  |  Urban/suburban</a:t>
            </a:r>
            <a:br/>
            <a:r>
              <a:t>Weekend warriors, CrossFit athletes, marathon runners, triathletes</a:t>
            </a:r>
          </a:p>
        </p:txBody>
      </p:sp>
      <p:sp>
        <p:nvSpPr>
          <p:cNvPr id="9" name="TextBox 8"/>
          <p:cNvSpPr txBox="1"/>
          <p:nvPr/>
        </p:nvSpPr>
        <p:spPr>
          <a:xfrm>
            <a:off x="731520" y="3017520"/>
            <a:ext cx="1645920" cy="274320"/>
          </a:xfrm>
          <a:prstGeom prst="rect">
            <a:avLst/>
          </a:prstGeom>
          <a:noFill/>
        </p:spPr>
        <p:txBody>
          <a:bodyPr wrap="square"/>
          <a:lstStyle/>
          <a:p>
            <a:pPr algn="l">
              <a:defRPr sz="1100" b="1">
                <a:solidFill>
                  <a:srgbClr val="C47A5A"/>
                </a:solidFill>
                <a:latin typeface="Inter"/>
              </a:defRPr>
            </a:pPr>
            <a:r>
              <a:t>Psychographics</a:t>
            </a:r>
          </a:p>
        </p:txBody>
      </p:sp>
      <p:sp>
        <p:nvSpPr>
          <p:cNvPr id="10" name="TextBox 9"/>
          <p:cNvSpPr txBox="1"/>
          <p:nvPr/>
        </p:nvSpPr>
        <p:spPr>
          <a:xfrm>
            <a:off x="2560320" y="3017520"/>
            <a:ext cx="3657600" cy="914400"/>
          </a:xfrm>
          <a:prstGeom prst="rect">
            <a:avLst/>
          </a:prstGeom>
          <a:noFill/>
        </p:spPr>
        <p:txBody>
          <a:bodyPr wrap="square"/>
          <a:lstStyle/>
          <a:p>
            <a:pPr algn="l">
              <a:defRPr sz="1100" b="0">
                <a:solidFill>
                  <a:srgbClr val="5A6270"/>
                </a:solidFill>
                <a:latin typeface="Inter"/>
              </a:defRPr>
            </a:pPr>
            <a:r>
              <a:t>Competitive, disciplined, data-obsessed about performance. They</a:t>
            </a:r>
            <a:br/>
            <a:r>
              <a:t>track every rep, every split, every recovery metric. Mental health</a:t>
            </a:r>
            <a:br/>
            <a:r>
              <a:t>is the #1 limiter they don't measure. Identity: 'I train harder.'</a:t>
            </a:r>
          </a:p>
        </p:txBody>
      </p:sp>
      <p:sp>
        <p:nvSpPr>
          <p:cNvPr id="11" name="TextBox 10"/>
          <p:cNvSpPr txBox="1"/>
          <p:nvPr/>
        </p:nvSpPr>
        <p:spPr>
          <a:xfrm>
            <a:off x="731520" y="4114800"/>
            <a:ext cx="1645920" cy="274320"/>
          </a:xfrm>
          <a:prstGeom prst="rect">
            <a:avLst/>
          </a:prstGeom>
          <a:noFill/>
        </p:spPr>
        <p:txBody>
          <a:bodyPr wrap="square"/>
          <a:lstStyle/>
          <a:p>
            <a:pPr algn="l">
              <a:defRPr sz="1100" b="1">
                <a:solidFill>
                  <a:srgbClr val="C47A5A"/>
                </a:solidFill>
                <a:latin typeface="Inter"/>
              </a:defRPr>
            </a:pPr>
            <a:r>
              <a:t>Current Stack</a:t>
            </a:r>
          </a:p>
        </p:txBody>
      </p:sp>
      <p:sp>
        <p:nvSpPr>
          <p:cNvPr id="12" name="TextBox 11"/>
          <p:cNvSpPr txBox="1"/>
          <p:nvPr/>
        </p:nvSpPr>
        <p:spPr>
          <a:xfrm>
            <a:off x="2560320" y="4114800"/>
            <a:ext cx="3657600" cy="914400"/>
          </a:xfrm>
          <a:prstGeom prst="rect">
            <a:avLst/>
          </a:prstGeom>
          <a:noFill/>
        </p:spPr>
        <p:txBody>
          <a:bodyPr wrap="square"/>
          <a:lstStyle/>
          <a:p>
            <a:pPr algn="l">
              <a:defRPr sz="1100" b="0">
                <a:solidFill>
                  <a:srgbClr val="5A6270"/>
                </a:solidFill>
                <a:latin typeface="Inter"/>
              </a:defRPr>
            </a:pPr>
            <a:r>
              <a:t>WHOOP ($199-$399/yr), Garmin/Strava, Oura Ring, TrainingPeaks</a:t>
            </a:r>
            <a:br/>
            <a:r>
              <a:t>Nutrition tracking, sleep optimization, periodization plans</a:t>
            </a:r>
            <a:br/>
            <a:r>
              <a:t>Zero tools for mental readiness or stress impact on performance</a:t>
            </a:r>
          </a:p>
        </p:txBody>
      </p:sp>
      <p:sp>
        <p:nvSpPr>
          <p:cNvPr id="13" name="TextBox 12"/>
          <p:cNvSpPr txBox="1"/>
          <p:nvPr/>
        </p:nvSpPr>
        <p:spPr>
          <a:xfrm>
            <a:off x="731520" y="5212080"/>
            <a:ext cx="1645920" cy="274320"/>
          </a:xfrm>
          <a:prstGeom prst="rect">
            <a:avLst/>
          </a:prstGeom>
          <a:noFill/>
        </p:spPr>
        <p:txBody>
          <a:bodyPr wrap="square"/>
          <a:lstStyle/>
          <a:p>
            <a:pPr algn="l">
              <a:defRPr sz="1100" b="1">
                <a:solidFill>
                  <a:srgbClr val="C47A5A"/>
                </a:solidFill>
                <a:latin typeface="Inter"/>
              </a:defRPr>
            </a:pPr>
            <a:r>
              <a:t>The Gap</a:t>
            </a:r>
          </a:p>
        </p:txBody>
      </p:sp>
      <p:sp>
        <p:nvSpPr>
          <p:cNvPr id="14" name="TextBox 13"/>
          <p:cNvSpPr txBox="1"/>
          <p:nvPr/>
        </p:nvSpPr>
        <p:spPr>
          <a:xfrm>
            <a:off x="2560320" y="5212080"/>
            <a:ext cx="3657600" cy="914400"/>
          </a:xfrm>
          <a:prstGeom prst="rect">
            <a:avLst/>
          </a:prstGeom>
          <a:noFill/>
        </p:spPr>
        <p:txBody>
          <a:bodyPr wrap="square"/>
          <a:lstStyle/>
          <a:p>
            <a:pPr algn="l">
              <a:defRPr sz="1100" b="0">
                <a:solidFill>
                  <a:srgbClr val="5A6270"/>
                </a:solidFill>
                <a:latin typeface="Inter"/>
              </a:defRPr>
            </a:pPr>
            <a:r>
              <a:t>35% of athletes suffer mental health crises. 46.4% meet criteria</a:t>
            </a:r>
            <a:br/>
            <a:r>
              <a:t>for at least one mental health problem. They track VO2max, HRV,</a:t>
            </a:r>
            <a:br/>
            <a:r>
              <a:t>and lactate — but not the anxiety that costs them race day.</a:t>
            </a:r>
          </a:p>
        </p:txBody>
      </p:sp>
      <p:sp>
        <p:nvSpPr>
          <p:cNvPr id="15" name="Rounded Rectangle 14"/>
          <p:cNvSpPr/>
          <p:nvPr/>
        </p:nvSpPr>
        <p:spPr>
          <a:xfrm>
            <a:off x="6858000" y="1463040"/>
            <a:ext cx="4572000" cy="50292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463040"/>
            <a:ext cx="457200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645920"/>
            <a:ext cx="4114800" cy="365760"/>
          </a:xfrm>
          <a:prstGeom prst="rect">
            <a:avLst/>
          </a:prstGeom>
          <a:noFill/>
        </p:spPr>
        <p:txBody>
          <a:bodyPr wrap="square"/>
          <a:lstStyle/>
          <a:p>
            <a:pPr algn="l">
              <a:defRPr sz="1800" b="1">
                <a:solidFill>
                  <a:srgbClr val="1A1D21"/>
                </a:solidFill>
                <a:latin typeface="Playfair Display"/>
              </a:defRPr>
            </a:pPr>
            <a:r>
              <a:t>The Mental Performance Gap</a:t>
            </a:r>
          </a:p>
        </p:txBody>
      </p:sp>
      <p:sp>
        <p:nvSpPr>
          <p:cNvPr id="18" name="TextBox 17"/>
          <p:cNvSpPr txBox="1"/>
          <p:nvPr/>
        </p:nvSpPr>
        <p:spPr>
          <a:xfrm>
            <a:off x="7132320" y="2148840"/>
            <a:ext cx="1097280" cy="320040"/>
          </a:xfrm>
          <a:prstGeom prst="rect">
            <a:avLst/>
          </a:prstGeom>
          <a:noFill/>
        </p:spPr>
        <p:txBody>
          <a:bodyPr wrap="square"/>
          <a:lstStyle/>
          <a:p>
            <a:pPr algn="l">
              <a:defRPr sz="1800" b="1">
                <a:solidFill>
                  <a:srgbClr val="C47A5A"/>
                </a:solidFill>
                <a:latin typeface="Inter"/>
              </a:defRPr>
            </a:pPr>
            <a:r>
              <a:t>35%</a:t>
            </a:r>
          </a:p>
        </p:txBody>
      </p:sp>
      <p:sp>
        <p:nvSpPr>
          <p:cNvPr id="19" name="TextBox 18"/>
          <p:cNvSpPr txBox="1"/>
          <p:nvPr/>
        </p:nvSpPr>
        <p:spPr>
          <a:xfrm>
            <a:off x="8321040" y="2176272"/>
            <a:ext cx="2926080" cy="320040"/>
          </a:xfrm>
          <a:prstGeom prst="rect">
            <a:avLst/>
          </a:prstGeom>
          <a:noFill/>
        </p:spPr>
        <p:txBody>
          <a:bodyPr wrap="square"/>
          <a:lstStyle/>
          <a:p>
            <a:pPr algn="l">
              <a:defRPr sz="1100" b="0">
                <a:solidFill>
                  <a:srgbClr val="5A6270"/>
                </a:solidFill>
                <a:latin typeface="Inter"/>
              </a:defRPr>
            </a:pPr>
            <a:r>
              <a:t>of athletes suffer mental health crises (burnout, depression)</a:t>
            </a:r>
          </a:p>
        </p:txBody>
      </p:sp>
      <p:sp>
        <p:nvSpPr>
          <p:cNvPr id="20" name="TextBox 19"/>
          <p:cNvSpPr txBox="1"/>
          <p:nvPr/>
        </p:nvSpPr>
        <p:spPr>
          <a:xfrm>
            <a:off x="7132320" y="2651760"/>
            <a:ext cx="1097280" cy="320040"/>
          </a:xfrm>
          <a:prstGeom prst="rect">
            <a:avLst/>
          </a:prstGeom>
          <a:noFill/>
        </p:spPr>
        <p:txBody>
          <a:bodyPr wrap="square"/>
          <a:lstStyle/>
          <a:p>
            <a:pPr algn="l">
              <a:defRPr sz="1800" b="1">
                <a:solidFill>
                  <a:srgbClr val="C47A5A"/>
                </a:solidFill>
                <a:latin typeface="Inter"/>
              </a:defRPr>
            </a:pPr>
            <a:r>
              <a:t>46.4%</a:t>
            </a:r>
          </a:p>
        </p:txBody>
      </p:sp>
      <p:sp>
        <p:nvSpPr>
          <p:cNvPr id="21" name="TextBox 20"/>
          <p:cNvSpPr txBox="1"/>
          <p:nvPr/>
        </p:nvSpPr>
        <p:spPr>
          <a:xfrm>
            <a:off x="8321040" y="2679192"/>
            <a:ext cx="2926080" cy="320040"/>
          </a:xfrm>
          <a:prstGeom prst="rect">
            <a:avLst/>
          </a:prstGeom>
          <a:noFill/>
        </p:spPr>
        <p:txBody>
          <a:bodyPr wrap="square"/>
          <a:lstStyle/>
          <a:p>
            <a:pPr algn="l">
              <a:defRPr sz="1100" b="0">
                <a:solidFill>
                  <a:srgbClr val="5A6270"/>
                </a:solidFill>
                <a:latin typeface="Inter"/>
              </a:defRPr>
            </a:pPr>
            <a:r>
              <a:t>of athletes meet criteria for a mental health problem</a:t>
            </a:r>
          </a:p>
        </p:txBody>
      </p:sp>
      <p:sp>
        <p:nvSpPr>
          <p:cNvPr id="22" name="TextBox 21"/>
          <p:cNvSpPr txBox="1"/>
          <p:nvPr/>
        </p:nvSpPr>
        <p:spPr>
          <a:xfrm>
            <a:off x="7132320" y="3154680"/>
            <a:ext cx="1097280" cy="320040"/>
          </a:xfrm>
          <a:prstGeom prst="rect">
            <a:avLst/>
          </a:prstGeom>
          <a:noFill/>
        </p:spPr>
        <p:txBody>
          <a:bodyPr wrap="square"/>
          <a:lstStyle/>
          <a:p>
            <a:pPr algn="l">
              <a:defRPr sz="1800" b="1">
                <a:solidFill>
                  <a:srgbClr val="C47A5A"/>
                </a:solidFill>
                <a:latin typeface="Inter"/>
              </a:defRPr>
            </a:pPr>
            <a:r>
              <a:t>60%+</a:t>
            </a:r>
          </a:p>
        </p:txBody>
      </p:sp>
      <p:sp>
        <p:nvSpPr>
          <p:cNvPr id="23" name="TextBox 22"/>
          <p:cNvSpPr txBox="1"/>
          <p:nvPr/>
        </p:nvSpPr>
        <p:spPr>
          <a:xfrm>
            <a:off x="8321040" y="3182112"/>
            <a:ext cx="2926080" cy="320040"/>
          </a:xfrm>
          <a:prstGeom prst="rect">
            <a:avLst/>
          </a:prstGeom>
          <a:noFill/>
        </p:spPr>
        <p:txBody>
          <a:bodyPr wrap="square"/>
          <a:lstStyle/>
          <a:p>
            <a:pPr algn="l">
              <a:defRPr sz="1100" b="0">
                <a:solidFill>
                  <a:srgbClr val="5A6270"/>
                </a:solidFill>
                <a:latin typeface="Inter"/>
              </a:defRPr>
            </a:pPr>
            <a:r>
              <a:t>of recreational athletes report moderate-to-severe stress</a:t>
            </a:r>
          </a:p>
        </p:txBody>
      </p:sp>
      <p:sp>
        <p:nvSpPr>
          <p:cNvPr id="24" name="TextBox 23"/>
          <p:cNvSpPr txBox="1"/>
          <p:nvPr/>
        </p:nvSpPr>
        <p:spPr>
          <a:xfrm>
            <a:off x="7132320" y="3657600"/>
            <a:ext cx="1097280" cy="320040"/>
          </a:xfrm>
          <a:prstGeom prst="rect">
            <a:avLst/>
          </a:prstGeom>
          <a:noFill/>
        </p:spPr>
        <p:txBody>
          <a:bodyPr wrap="square"/>
          <a:lstStyle/>
          <a:p>
            <a:pPr algn="l">
              <a:defRPr sz="1800" b="1">
                <a:solidFill>
                  <a:srgbClr val="C47A5A"/>
                </a:solidFill>
                <a:latin typeface="Inter"/>
              </a:defRPr>
            </a:pPr>
            <a:r>
              <a:t>84.7%</a:t>
            </a:r>
          </a:p>
        </p:txBody>
      </p:sp>
      <p:sp>
        <p:nvSpPr>
          <p:cNvPr id="25" name="TextBox 24"/>
          <p:cNvSpPr txBox="1"/>
          <p:nvPr/>
        </p:nvSpPr>
        <p:spPr>
          <a:xfrm>
            <a:off x="8321040" y="3685032"/>
            <a:ext cx="2926080" cy="320040"/>
          </a:xfrm>
          <a:prstGeom prst="rect">
            <a:avLst/>
          </a:prstGeom>
          <a:noFill/>
        </p:spPr>
        <p:txBody>
          <a:bodyPr wrap="square"/>
          <a:lstStyle/>
          <a:p>
            <a:pPr algn="l">
              <a:defRPr sz="1100" b="0">
                <a:solidFill>
                  <a:srgbClr val="5A6270"/>
                </a:solidFill>
                <a:latin typeface="Inter"/>
              </a:defRPr>
            </a:pPr>
            <a:r>
              <a:t>voice biomarker accuracy for stress detection</a:t>
            </a:r>
          </a:p>
        </p:txBody>
      </p:sp>
      <p:sp>
        <p:nvSpPr>
          <p:cNvPr id="26" name="TextBox 25"/>
          <p:cNvSpPr txBox="1"/>
          <p:nvPr/>
        </p:nvSpPr>
        <p:spPr>
          <a:xfrm>
            <a:off x="7132320" y="4160520"/>
            <a:ext cx="1097280" cy="320040"/>
          </a:xfrm>
          <a:prstGeom prst="rect">
            <a:avLst/>
          </a:prstGeom>
          <a:noFill/>
        </p:spPr>
        <p:txBody>
          <a:bodyPr wrap="square"/>
          <a:lstStyle/>
          <a:p>
            <a:pPr algn="l">
              <a:defRPr sz="1800" b="1">
                <a:solidFill>
                  <a:srgbClr val="C47A5A"/>
                </a:solidFill>
                <a:latin typeface="Inter"/>
              </a:defRPr>
            </a:pPr>
            <a:r>
              <a:t>6.7 min</a:t>
            </a:r>
          </a:p>
        </p:txBody>
      </p:sp>
      <p:sp>
        <p:nvSpPr>
          <p:cNvPr id="27" name="TextBox 26"/>
          <p:cNvSpPr txBox="1"/>
          <p:nvPr/>
        </p:nvSpPr>
        <p:spPr>
          <a:xfrm>
            <a:off x="8321040" y="4187952"/>
            <a:ext cx="2926080" cy="320040"/>
          </a:xfrm>
          <a:prstGeom prst="rect">
            <a:avLst/>
          </a:prstGeom>
          <a:noFill/>
        </p:spPr>
        <p:txBody>
          <a:bodyPr wrap="square"/>
          <a:lstStyle/>
          <a:p>
            <a:pPr algn="l">
              <a:defRPr sz="1100" b="0">
                <a:solidFill>
                  <a:srgbClr val="5A6270"/>
                </a:solidFill>
                <a:latin typeface="Inter"/>
              </a:defRPr>
            </a:pPr>
            <a:r>
              <a:t>AI detects stress before athletes self-report it</a:t>
            </a:r>
          </a:p>
        </p:txBody>
      </p:sp>
      <p:sp>
        <p:nvSpPr>
          <p:cNvPr id="28" name="TextBox 27"/>
          <p:cNvSpPr txBox="1"/>
          <p:nvPr/>
        </p:nvSpPr>
        <p:spPr>
          <a:xfrm>
            <a:off x="7132320" y="4663440"/>
            <a:ext cx="1097280" cy="320040"/>
          </a:xfrm>
          <a:prstGeom prst="rect">
            <a:avLst/>
          </a:prstGeom>
          <a:noFill/>
        </p:spPr>
        <p:txBody>
          <a:bodyPr wrap="square"/>
          <a:lstStyle/>
          <a:p>
            <a:pPr algn="l">
              <a:defRPr sz="1800" b="1">
                <a:solidFill>
                  <a:srgbClr val="C47A5A"/>
                </a:solidFill>
                <a:latin typeface="Inter"/>
              </a:defRPr>
            </a:pPr>
            <a:r>
              <a:t>$260M+</a:t>
            </a:r>
          </a:p>
        </p:txBody>
      </p:sp>
      <p:sp>
        <p:nvSpPr>
          <p:cNvPr id="29" name="TextBox 28"/>
          <p:cNvSpPr txBox="1"/>
          <p:nvPr/>
        </p:nvSpPr>
        <p:spPr>
          <a:xfrm>
            <a:off x="8321040" y="4690872"/>
            <a:ext cx="2926080" cy="320040"/>
          </a:xfrm>
          <a:prstGeom prst="rect">
            <a:avLst/>
          </a:prstGeom>
          <a:noFill/>
        </p:spPr>
        <p:txBody>
          <a:bodyPr wrap="square"/>
          <a:lstStyle/>
          <a:p>
            <a:pPr algn="l">
              <a:defRPr sz="1100" b="0">
                <a:solidFill>
                  <a:srgbClr val="5A6270"/>
                </a:solidFill>
                <a:latin typeface="Inter"/>
              </a:defRPr>
            </a:pPr>
            <a:r>
              <a:t>WHOOP revenue — athletes pay for recovery data</a:t>
            </a:r>
          </a:p>
        </p:txBody>
      </p:sp>
      <p:sp>
        <p:nvSpPr>
          <p:cNvPr id="30" name="TextBox 29"/>
          <p:cNvSpPr txBox="1"/>
          <p:nvPr/>
        </p:nvSpPr>
        <p:spPr>
          <a:xfrm>
            <a:off x="7132320" y="5166360"/>
            <a:ext cx="1097280" cy="320040"/>
          </a:xfrm>
          <a:prstGeom prst="rect">
            <a:avLst/>
          </a:prstGeom>
          <a:noFill/>
        </p:spPr>
        <p:txBody>
          <a:bodyPr wrap="square"/>
          <a:lstStyle/>
          <a:p>
            <a:pPr algn="l">
              <a:defRPr sz="1800" b="1">
                <a:solidFill>
                  <a:srgbClr val="C47A5A"/>
                </a:solidFill>
                <a:latin typeface="Inter"/>
              </a:defRPr>
            </a:pPr>
            <a:r>
              <a:t>$0</a:t>
            </a:r>
          </a:p>
        </p:txBody>
      </p:sp>
      <p:sp>
        <p:nvSpPr>
          <p:cNvPr id="31" name="TextBox 30"/>
          <p:cNvSpPr txBox="1"/>
          <p:nvPr/>
        </p:nvSpPr>
        <p:spPr>
          <a:xfrm>
            <a:off x="8321040" y="5193792"/>
            <a:ext cx="2926080" cy="320040"/>
          </a:xfrm>
          <a:prstGeom prst="rect">
            <a:avLst/>
          </a:prstGeom>
          <a:noFill/>
        </p:spPr>
        <p:txBody>
          <a:bodyPr wrap="square"/>
          <a:lstStyle/>
          <a:p>
            <a:pPr algn="l">
              <a:defRPr sz="1100" b="0">
                <a:solidFill>
                  <a:srgbClr val="5A6270"/>
                </a:solidFill>
                <a:latin typeface="Inter"/>
              </a:defRPr>
            </a:pPr>
            <a:r>
              <a:t>extra hardware — Lucid adds the mental layer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C47A5A"/>
                </a:solidFill>
                <a:latin typeface="Inter"/>
              </a:defRPr>
            </a:pPr>
            <a:r>
              <a:t>PERSONA 4  |  THE PERFORMANCE ATHLETE</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Pain Points, Hooks &amp; Feature Value</a:t>
            </a:r>
          </a:p>
        </p:txBody>
      </p:sp>
      <p:sp>
        <p:nvSpPr>
          <p:cNvPr id="5" name="Rounded Rectangle 4"/>
          <p:cNvSpPr/>
          <p:nvPr/>
        </p:nvSpPr>
        <p:spPr>
          <a:xfrm>
            <a:off x="73152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30352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754880" cy="457200"/>
          </a:xfrm>
          <a:prstGeom prst="rect">
            <a:avLst/>
          </a:prstGeom>
          <a:noFill/>
        </p:spPr>
        <p:txBody>
          <a:bodyPr wrap="square"/>
          <a:lstStyle/>
          <a:p>
            <a:pPr algn="l">
              <a:defRPr sz="1600" b="1">
                <a:solidFill>
                  <a:srgbClr val="1A1D21"/>
                </a:solidFill>
                <a:latin typeface="Playfair Display"/>
              </a:defRPr>
            </a:pPr>
            <a:r>
              <a:t>Core Pain Points</a:t>
            </a:r>
          </a:p>
        </p:txBody>
      </p:sp>
      <p:sp>
        <p:nvSpPr>
          <p:cNvPr id="8" name="TextBox 7"/>
          <p:cNvSpPr txBox="1"/>
          <p:nvPr/>
        </p:nvSpPr>
        <p:spPr>
          <a:xfrm>
            <a:off x="1005840" y="1965960"/>
            <a:ext cx="4754880" cy="1783080"/>
          </a:xfrm>
          <a:prstGeom prst="rect">
            <a:avLst/>
          </a:prstGeom>
          <a:noFill/>
        </p:spPr>
        <p:txBody>
          <a:bodyPr wrap="square"/>
          <a:lstStyle/>
          <a:p>
            <a:pPr algn="l">
              <a:spcAft>
                <a:spcPts val="800"/>
              </a:spcAft>
              <a:defRPr sz="1200" b="0">
                <a:solidFill>
                  <a:srgbClr val="5A6270"/>
                </a:solidFill>
                <a:latin typeface="Inter"/>
              </a:defRPr>
            </a:pPr>
            <a:r>
              <a:t>  'I train 6 days a week. I have no idea what stress costs me on race day.'</a:t>
            </a:r>
          </a:p>
          <a:p>
            <a:pPr algn="l">
              <a:spcAft>
                <a:spcPts val="800"/>
              </a:spcAft>
              <a:defRPr sz="1200" b="0">
                <a:solidFill>
                  <a:srgbClr val="5A6270"/>
                </a:solidFill>
                <a:latin typeface="Inter"/>
              </a:defRPr>
            </a:pPr>
            <a:r>
              <a:t>  They track every physical metric but ZERO mental readiness data.</a:t>
            </a:r>
          </a:p>
          <a:p>
            <a:pPr algn="l">
              <a:spcAft>
                <a:spcPts val="800"/>
              </a:spcAft>
              <a:defRPr sz="1200" b="0">
                <a:solidFill>
                  <a:srgbClr val="5A6270"/>
                </a:solidFill>
                <a:latin typeface="Inter"/>
              </a:defRPr>
            </a:pPr>
            <a:r>
              <a:t>  Anxiety causes distraction, execution errors, and performance breakdowns.</a:t>
            </a:r>
          </a:p>
          <a:p>
            <a:pPr algn="l">
              <a:spcAft>
                <a:spcPts val="800"/>
              </a:spcAft>
              <a:defRPr sz="1200" b="0">
                <a:solidFill>
                  <a:srgbClr val="5A6270"/>
                </a:solidFill>
                <a:latin typeface="Inter"/>
              </a:defRPr>
            </a:pPr>
            <a:r>
              <a:t>  Mental health is the #1 limiter — but they treat it as a character flaw.</a:t>
            </a:r>
          </a:p>
          <a:p>
            <a:pPr algn="l">
              <a:spcAft>
                <a:spcPts val="800"/>
              </a:spcAft>
              <a:defRPr sz="1200" b="0">
                <a:solidFill>
                  <a:srgbClr val="5A6270"/>
                </a:solidFill>
                <a:latin typeface="Inter"/>
              </a:defRPr>
            </a:pPr>
            <a:r>
              <a:t>  Recovery is physical only: 'Am I mentally ready?' has no answer.</a:t>
            </a:r>
          </a:p>
          <a:p>
            <a:pPr algn="l">
              <a:spcAft>
                <a:spcPts val="800"/>
              </a:spcAft>
              <a:defRPr sz="1200" b="0">
                <a:solidFill>
                  <a:srgbClr val="5A6270"/>
                </a:solidFill>
                <a:latin typeface="Inter"/>
              </a:defRPr>
            </a:pPr>
            <a:r>
              <a:t>  Stress directly predicts injury risk and training quality — unmeasured.</a:t>
            </a:r>
          </a:p>
        </p:txBody>
      </p:sp>
      <p:sp>
        <p:nvSpPr>
          <p:cNvPr id="9" name="Rounded Rectangle 8"/>
          <p:cNvSpPr/>
          <p:nvPr/>
        </p:nvSpPr>
        <p:spPr>
          <a:xfrm>
            <a:off x="6400800" y="1371600"/>
            <a:ext cx="530352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530352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554480"/>
            <a:ext cx="4754880" cy="457200"/>
          </a:xfrm>
          <a:prstGeom prst="rect">
            <a:avLst/>
          </a:prstGeom>
          <a:noFill/>
        </p:spPr>
        <p:txBody>
          <a:bodyPr wrap="square"/>
          <a:lstStyle/>
          <a:p>
            <a:pPr algn="l">
              <a:defRPr sz="1600" b="1">
                <a:solidFill>
                  <a:srgbClr val="1A1D21"/>
                </a:solidFill>
                <a:latin typeface="Playfair Display"/>
              </a:defRPr>
            </a:pPr>
            <a:r>
              <a:t>Messaging That Resonates</a:t>
            </a:r>
          </a:p>
        </p:txBody>
      </p:sp>
      <p:sp>
        <p:nvSpPr>
          <p:cNvPr id="12" name="TextBox 11"/>
          <p:cNvSpPr txBox="1"/>
          <p:nvPr/>
        </p:nvSpPr>
        <p:spPr>
          <a:xfrm>
            <a:off x="6675120" y="1965960"/>
            <a:ext cx="4754880" cy="1783080"/>
          </a:xfrm>
          <a:prstGeom prst="rect">
            <a:avLst/>
          </a:prstGeom>
          <a:noFill/>
        </p:spPr>
        <p:txBody>
          <a:bodyPr wrap="square"/>
          <a:lstStyle/>
          <a:p>
            <a:pPr algn="l">
              <a:spcAft>
                <a:spcPts val="800"/>
              </a:spcAft>
              <a:defRPr sz="1200" b="0">
                <a:solidFill>
                  <a:srgbClr val="5A6270"/>
                </a:solidFill>
                <a:latin typeface="Inter"/>
              </a:defRPr>
            </a:pPr>
            <a:r>
              <a:t>  'Your WHOOP tracks recovery. Nothing tracks what's holding you back.'</a:t>
            </a:r>
          </a:p>
          <a:p>
            <a:pPr algn="l">
              <a:spcAft>
                <a:spcPts val="800"/>
              </a:spcAft>
              <a:defRPr sz="1200" b="0">
                <a:solidFill>
                  <a:srgbClr val="5A6270"/>
                </a:solidFill>
                <a:latin typeface="Inter"/>
              </a:defRPr>
            </a:pPr>
            <a:r>
              <a:t>  '35% of athletes hit a wall that has nothing to do with fitness.'</a:t>
            </a:r>
          </a:p>
          <a:p>
            <a:pPr algn="l">
              <a:spcAft>
                <a:spcPts val="800"/>
              </a:spcAft>
              <a:defRPr sz="1200" b="0">
                <a:solidFill>
                  <a:srgbClr val="5A6270"/>
                </a:solidFill>
                <a:latin typeface="Inter"/>
              </a:defRPr>
            </a:pPr>
            <a:r>
              <a:t>  'You train your body 6 days a week. When did you last check your mind?'</a:t>
            </a:r>
          </a:p>
          <a:p>
            <a:pPr algn="l">
              <a:spcAft>
                <a:spcPts val="800"/>
              </a:spcAft>
              <a:defRPr sz="1200" b="0">
                <a:solidFill>
                  <a:srgbClr val="5A6270"/>
                </a:solidFill>
                <a:latin typeface="Inter"/>
              </a:defRPr>
            </a:pPr>
            <a:r>
              <a:t>  'The mental edge is the only edge left to gain.'</a:t>
            </a:r>
          </a:p>
          <a:p>
            <a:pPr algn="l">
              <a:spcAft>
                <a:spcPts val="800"/>
              </a:spcAft>
              <a:defRPr sz="1200" b="0">
                <a:solidFill>
                  <a:srgbClr val="5A6270"/>
                </a:solidFill>
                <a:latin typeface="Inter"/>
              </a:defRPr>
            </a:pPr>
            <a:r>
              <a:t>  'AI detects stress 6.7 minutes before you feel it.'</a:t>
            </a:r>
          </a:p>
          <a:p>
            <a:pPr algn="l">
              <a:spcAft>
                <a:spcPts val="800"/>
              </a:spcAft>
              <a:defRPr sz="1200" b="0">
                <a:solidFill>
                  <a:srgbClr val="5A6270"/>
                </a:solidFill>
                <a:latin typeface="Inter"/>
              </a:defRPr>
            </a:pPr>
            <a:r>
              <a:t>  Competitive, data-driven language. Think: Strava, WHOOP, TrainingPeaks.</a:t>
            </a:r>
          </a:p>
        </p:txBody>
      </p:sp>
      <p:sp>
        <p:nvSpPr>
          <p:cNvPr id="13" name="TextBox 12"/>
          <p:cNvSpPr txBox="1"/>
          <p:nvPr/>
        </p:nvSpPr>
        <p:spPr>
          <a:xfrm>
            <a:off x="731520" y="4114800"/>
            <a:ext cx="5486400" cy="365760"/>
          </a:xfrm>
          <a:prstGeom prst="rect">
            <a:avLst/>
          </a:prstGeom>
          <a:noFill/>
        </p:spPr>
        <p:txBody>
          <a:bodyPr wrap="square"/>
          <a:lstStyle/>
          <a:p>
            <a:pPr algn="l">
              <a:defRPr sz="1600" b="1">
                <a:solidFill>
                  <a:srgbClr val="1A1D21"/>
                </a:solidFill>
                <a:latin typeface="Playfair Display"/>
              </a:defRPr>
            </a:pPr>
            <a:r>
              <a:t>Feature Value Ranking (Highest to Lowest)</a:t>
            </a:r>
          </a:p>
        </p:txBody>
      </p:sp>
      <p:sp>
        <p:nvSpPr>
          <p:cNvPr id="14" name="TextBox 13"/>
          <p:cNvSpPr txBox="1"/>
          <p:nvPr/>
        </p:nvSpPr>
        <p:spPr>
          <a:xfrm>
            <a:off x="731520" y="4572000"/>
            <a:ext cx="3200400" cy="274320"/>
          </a:xfrm>
          <a:prstGeom prst="rect">
            <a:avLst/>
          </a:prstGeom>
          <a:noFill/>
        </p:spPr>
        <p:txBody>
          <a:bodyPr wrap="square"/>
          <a:lstStyle/>
          <a:p>
            <a:pPr algn="l">
              <a:defRPr sz="1200" b="1">
                <a:solidFill>
                  <a:srgbClr val="1A1D21"/>
                </a:solidFill>
                <a:latin typeface="Inter"/>
              </a:defRPr>
            </a:pPr>
            <a:r>
              <a:t>1. Stress &amp; Calm Scores</a:t>
            </a:r>
          </a:p>
        </p:txBody>
      </p:sp>
      <p:sp>
        <p:nvSpPr>
          <p:cNvPr id="15" name="TextBox 14"/>
          <p:cNvSpPr txBox="1"/>
          <p:nvPr/>
        </p:nvSpPr>
        <p:spPr>
          <a:xfrm>
            <a:off x="4114800" y="4572000"/>
            <a:ext cx="5943600" cy="274320"/>
          </a:xfrm>
          <a:prstGeom prst="rect">
            <a:avLst/>
          </a:prstGeom>
          <a:noFill/>
        </p:spPr>
        <p:txBody>
          <a:bodyPr wrap="square"/>
          <a:lstStyle/>
          <a:p>
            <a:pPr algn="l">
              <a:defRPr sz="1100" b="0">
                <a:solidFill>
                  <a:srgbClr val="5A6270"/>
                </a:solidFill>
                <a:latin typeface="Inter"/>
              </a:defRPr>
            </a:pPr>
            <a:r>
              <a:t>Pre-workout/race mental readiness — objective performance signal</a:t>
            </a:r>
          </a:p>
        </p:txBody>
      </p:sp>
      <p:sp>
        <p:nvSpPr>
          <p:cNvPr id="16" name="TextBox 15"/>
          <p:cNvSpPr txBox="1"/>
          <p:nvPr/>
        </p:nvSpPr>
        <p:spPr>
          <a:xfrm>
            <a:off x="10789920" y="4572000"/>
            <a:ext cx="914400" cy="274320"/>
          </a:xfrm>
          <a:prstGeom prst="rect">
            <a:avLst/>
          </a:prstGeom>
          <a:noFill/>
        </p:spPr>
        <p:txBody>
          <a:bodyPr wrap="square"/>
          <a:lstStyle/>
          <a:p>
            <a:pPr algn="r">
              <a:defRPr sz="1200" b="1">
                <a:solidFill>
                  <a:srgbClr val="C47A5A"/>
                </a:solidFill>
                <a:latin typeface="Inter"/>
              </a:defRPr>
            </a:pPr>
            <a:r>
              <a:t>10/10</a:t>
            </a:r>
          </a:p>
        </p:txBody>
      </p:sp>
      <p:sp>
        <p:nvSpPr>
          <p:cNvPr id="17" name="TextBox 16"/>
          <p:cNvSpPr txBox="1"/>
          <p:nvPr/>
        </p:nvSpPr>
        <p:spPr>
          <a:xfrm>
            <a:off x="731520" y="4919472"/>
            <a:ext cx="3200400" cy="274320"/>
          </a:xfrm>
          <a:prstGeom prst="rect">
            <a:avLst/>
          </a:prstGeom>
          <a:noFill/>
        </p:spPr>
        <p:txBody>
          <a:bodyPr wrap="square"/>
          <a:lstStyle/>
          <a:p>
            <a:pPr algn="l">
              <a:defRPr sz="1200" b="1">
                <a:solidFill>
                  <a:srgbClr val="1A1D21"/>
                </a:solidFill>
                <a:latin typeface="Inter"/>
              </a:defRPr>
            </a:pPr>
            <a:r>
              <a:t>2. Correlation Explorer</a:t>
            </a:r>
          </a:p>
        </p:txBody>
      </p:sp>
      <p:sp>
        <p:nvSpPr>
          <p:cNvPr id="18" name="TextBox 17"/>
          <p:cNvSpPr txBox="1"/>
          <p:nvPr/>
        </p:nvSpPr>
        <p:spPr>
          <a:xfrm>
            <a:off x="4114800" y="4919472"/>
            <a:ext cx="5943600" cy="274320"/>
          </a:xfrm>
          <a:prstGeom prst="rect">
            <a:avLst/>
          </a:prstGeom>
          <a:noFill/>
        </p:spPr>
        <p:txBody>
          <a:bodyPr wrap="square"/>
          <a:lstStyle/>
          <a:p>
            <a:pPr algn="l">
              <a:defRPr sz="1100" b="0">
                <a:solidFill>
                  <a:srgbClr val="5A6270"/>
                </a:solidFill>
                <a:latin typeface="Inter"/>
              </a:defRPr>
            </a:pPr>
            <a:r>
              <a:t>Cross-ref with WHOOP, Oura, Garmin — find mental-physical links</a:t>
            </a:r>
          </a:p>
        </p:txBody>
      </p:sp>
      <p:sp>
        <p:nvSpPr>
          <p:cNvPr id="19" name="TextBox 18"/>
          <p:cNvSpPr txBox="1"/>
          <p:nvPr/>
        </p:nvSpPr>
        <p:spPr>
          <a:xfrm>
            <a:off x="10789920" y="4919472"/>
            <a:ext cx="914400" cy="274320"/>
          </a:xfrm>
          <a:prstGeom prst="rect">
            <a:avLst/>
          </a:prstGeom>
          <a:noFill/>
        </p:spPr>
        <p:txBody>
          <a:bodyPr wrap="square"/>
          <a:lstStyle/>
          <a:p>
            <a:pPr algn="r">
              <a:defRPr sz="1200" b="1">
                <a:solidFill>
                  <a:srgbClr val="C47A5A"/>
                </a:solidFill>
                <a:latin typeface="Inter"/>
              </a:defRPr>
            </a:pPr>
            <a:r>
              <a:t>10/10</a:t>
            </a:r>
          </a:p>
        </p:txBody>
      </p:sp>
      <p:sp>
        <p:nvSpPr>
          <p:cNvPr id="20" name="TextBox 19"/>
          <p:cNvSpPr txBox="1"/>
          <p:nvPr/>
        </p:nvSpPr>
        <p:spPr>
          <a:xfrm>
            <a:off x="731520" y="5266944"/>
            <a:ext cx="3200400" cy="274320"/>
          </a:xfrm>
          <a:prstGeom prst="rect">
            <a:avLst/>
          </a:prstGeom>
          <a:noFill/>
        </p:spPr>
        <p:txBody>
          <a:bodyPr wrap="square"/>
          <a:lstStyle/>
          <a:p>
            <a:pPr algn="l">
              <a:defRPr sz="1200" b="1">
                <a:solidFill>
                  <a:srgbClr val="1A1D21"/>
                </a:solidFill>
                <a:latin typeface="Inter"/>
              </a:defRPr>
            </a:pPr>
            <a:r>
              <a:t>3. Trend Lines &amp; Trajectories</a:t>
            </a:r>
          </a:p>
        </p:txBody>
      </p:sp>
      <p:sp>
        <p:nvSpPr>
          <p:cNvPr id="21" name="TextBox 20"/>
          <p:cNvSpPr txBox="1"/>
          <p:nvPr/>
        </p:nvSpPr>
        <p:spPr>
          <a:xfrm>
            <a:off x="4114800" y="5266944"/>
            <a:ext cx="5943600" cy="274320"/>
          </a:xfrm>
          <a:prstGeom prst="rect">
            <a:avLst/>
          </a:prstGeom>
          <a:noFill/>
        </p:spPr>
        <p:txBody>
          <a:bodyPr wrap="square"/>
          <a:lstStyle/>
          <a:p>
            <a:pPr algn="l">
              <a:defRPr sz="1100" b="0">
                <a:solidFill>
                  <a:srgbClr val="5A6270"/>
                </a:solidFill>
                <a:latin typeface="Inter"/>
              </a:defRPr>
            </a:pPr>
            <a:r>
              <a:t>Training block mental load tracking over weeks/months</a:t>
            </a:r>
          </a:p>
        </p:txBody>
      </p:sp>
      <p:sp>
        <p:nvSpPr>
          <p:cNvPr id="22" name="TextBox 21"/>
          <p:cNvSpPr txBox="1"/>
          <p:nvPr/>
        </p:nvSpPr>
        <p:spPr>
          <a:xfrm>
            <a:off x="10789920" y="5266944"/>
            <a:ext cx="914400" cy="274320"/>
          </a:xfrm>
          <a:prstGeom prst="rect">
            <a:avLst/>
          </a:prstGeom>
          <a:noFill/>
        </p:spPr>
        <p:txBody>
          <a:bodyPr wrap="square"/>
          <a:lstStyle/>
          <a:p>
            <a:pPr algn="r">
              <a:defRPr sz="1200" b="1">
                <a:solidFill>
                  <a:srgbClr val="C47A5A"/>
                </a:solidFill>
                <a:latin typeface="Inter"/>
              </a:defRPr>
            </a:pPr>
            <a:r>
              <a:t>9/10</a:t>
            </a:r>
          </a:p>
        </p:txBody>
      </p:sp>
      <p:sp>
        <p:nvSpPr>
          <p:cNvPr id="23" name="TextBox 22"/>
          <p:cNvSpPr txBox="1"/>
          <p:nvPr/>
        </p:nvSpPr>
        <p:spPr>
          <a:xfrm>
            <a:off x="731520" y="5614416"/>
            <a:ext cx="3200400" cy="274320"/>
          </a:xfrm>
          <a:prstGeom prst="rect">
            <a:avLst/>
          </a:prstGeom>
          <a:noFill/>
        </p:spPr>
        <p:txBody>
          <a:bodyPr wrap="square"/>
          <a:lstStyle/>
          <a:p>
            <a:pPr algn="l">
              <a:defRPr sz="1200" b="1">
                <a:solidFill>
                  <a:srgbClr val="1A1D21"/>
                </a:solidFill>
                <a:latin typeface="Inter"/>
              </a:defRPr>
            </a:pPr>
            <a:r>
              <a:t>4. Morning Briefing</a:t>
            </a:r>
          </a:p>
        </p:txBody>
      </p:sp>
      <p:sp>
        <p:nvSpPr>
          <p:cNvPr id="24" name="TextBox 23"/>
          <p:cNvSpPr txBox="1"/>
          <p:nvPr/>
        </p:nvSpPr>
        <p:spPr>
          <a:xfrm>
            <a:off x="4114800" y="5614416"/>
            <a:ext cx="5943600" cy="274320"/>
          </a:xfrm>
          <a:prstGeom prst="rect">
            <a:avLst/>
          </a:prstGeom>
          <a:noFill/>
        </p:spPr>
        <p:txBody>
          <a:bodyPr wrap="square"/>
          <a:lstStyle/>
          <a:p>
            <a:pPr algn="l">
              <a:defRPr sz="1100" b="0">
                <a:solidFill>
                  <a:srgbClr val="5A6270"/>
                </a:solidFill>
                <a:latin typeface="Inter"/>
              </a:defRPr>
            </a:pPr>
            <a:r>
              <a:t>'Yesterday's long run spiked stress — consider active recovery today'</a:t>
            </a:r>
          </a:p>
        </p:txBody>
      </p:sp>
      <p:sp>
        <p:nvSpPr>
          <p:cNvPr id="25" name="TextBox 24"/>
          <p:cNvSpPr txBox="1"/>
          <p:nvPr/>
        </p:nvSpPr>
        <p:spPr>
          <a:xfrm>
            <a:off x="10789920" y="5614416"/>
            <a:ext cx="914400" cy="274320"/>
          </a:xfrm>
          <a:prstGeom prst="rect">
            <a:avLst/>
          </a:prstGeom>
          <a:noFill/>
        </p:spPr>
        <p:txBody>
          <a:bodyPr wrap="square"/>
          <a:lstStyle/>
          <a:p>
            <a:pPr algn="r">
              <a:defRPr sz="1200" b="1">
                <a:solidFill>
                  <a:srgbClr val="C47A5A"/>
                </a:solidFill>
                <a:latin typeface="Inter"/>
              </a:defRPr>
            </a:pPr>
            <a:r>
              <a:t>9/10</a:t>
            </a:r>
          </a:p>
        </p:txBody>
      </p:sp>
      <p:sp>
        <p:nvSpPr>
          <p:cNvPr id="26" name="TextBox 25"/>
          <p:cNvSpPr txBox="1"/>
          <p:nvPr/>
        </p:nvSpPr>
        <p:spPr>
          <a:xfrm>
            <a:off x="731520" y="5961888"/>
            <a:ext cx="3200400" cy="274320"/>
          </a:xfrm>
          <a:prstGeom prst="rect">
            <a:avLst/>
          </a:prstGeom>
          <a:noFill/>
        </p:spPr>
        <p:txBody>
          <a:bodyPr wrap="square"/>
          <a:lstStyle/>
          <a:p>
            <a:pPr algn="l">
              <a:defRPr sz="1200" b="1">
                <a:solidFill>
                  <a:srgbClr val="1A1D21"/>
                </a:solidFill>
                <a:latin typeface="Inter"/>
              </a:defRPr>
            </a:pPr>
            <a:r>
              <a:t>5. Daily Wellness Score</a:t>
            </a:r>
          </a:p>
        </p:txBody>
      </p:sp>
      <p:sp>
        <p:nvSpPr>
          <p:cNvPr id="27" name="TextBox 26"/>
          <p:cNvSpPr txBox="1"/>
          <p:nvPr/>
        </p:nvSpPr>
        <p:spPr>
          <a:xfrm>
            <a:off x="4114800" y="5961888"/>
            <a:ext cx="5943600" cy="274320"/>
          </a:xfrm>
          <a:prstGeom prst="rect">
            <a:avLst/>
          </a:prstGeom>
          <a:noFill/>
        </p:spPr>
        <p:txBody>
          <a:bodyPr wrap="square"/>
          <a:lstStyle/>
          <a:p>
            <a:pPr algn="l">
              <a:defRPr sz="1100" b="0">
                <a:solidFill>
                  <a:srgbClr val="5A6270"/>
                </a:solidFill>
                <a:latin typeface="Inter"/>
              </a:defRPr>
            </a:pPr>
            <a:r>
              <a:t>Mental readiness score — like WHOOP Recovery but for your mind</a:t>
            </a:r>
          </a:p>
        </p:txBody>
      </p:sp>
      <p:sp>
        <p:nvSpPr>
          <p:cNvPr id="28" name="TextBox 27"/>
          <p:cNvSpPr txBox="1"/>
          <p:nvPr/>
        </p:nvSpPr>
        <p:spPr>
          <a:xfrm>
            <a:off x="10789920" y="5961888"/>
            <a:ext cx="914400" cy="274320"/>
          </a:xfrm>
          <a:prstGeom prst="rect">
            <a:avLst/>
          </a:prstGeom>
          <a:noFill/>
        </p:spPr>
        <p:txBody>
          <a:bodyPr wrap="square"/>
          <a:lstStyle/>
          <a:p>
            <a:pPr algn="r">
              <a:defRPr sz="1200" b="1">
                <a:solidFill>
                  <a:srgbClr val="C47A5A"/>
                </a:solidFill>
                <a:latin typeface="Inter"/>
              </a:defRPr>
            </a:pPr>
            <a:r>
              <a:t>8/10</a:t>
            </a:r>
          </a:p>
        </p:txBody>
      </p:sp>
      <p:sp>
        <p:nvSpPr>
          <p:cNvPr id="29" name="TextBox 28"/>
          <p:cNvSpPr txBox="1"/>
          <p:nvPr/>
        </p:nvSpPr>
        <p:spPr>
          <a:xfrm>
            <a:off x="731520" y="6309360"/>
            <a:ext cx="3200400" cy="274320"/>
          </a:xfrm>
          <a:prstGeom prst="rect">
            <a:avLst/>
          </a:prstGeom>
          <a:noFill/>
        </p:spPr>
        <p:txBody>
          <a:bodyPr wrap="square"/>
          <a:lstStyle/>
          <a:p>
            <a:pPr algn="l">
              <a:defRPr sz="1200" b="1">
                <a:solidFill>
                  <a:srgbClr val="1A1D21"/>
                </a:solidFill>
                <a:latin typeface="Inter"/>
              </a:defRPr>
            </a:pPr>
            <a:r>
              <a:t>6. Echoes (Pattern Discovery)</a:t>
            </a:r>
          </a:p>
        </p:txBody>
      </p:sp>
      <p:sp>
        <p:nvSpPr>
          <p:cNvPr id="30" name="TextBox 29"/>
          <p:cNvSpPr txBox="1"/>
          <p:nvPr/>
        </p:nvSpPr>
        <p:spPr>
          <a:xfrm>
            <a:off x="4114800" y="6309360"/>
            <a:ext cx="5943600" cy="274320"/>
          </a:xfrm>
          <a:prstGeom prst="rect">
            <a:avLst/>
          </a:prstGeom>
          <a:noFill/>
        </p:spPr>
        <p:txBody>
          <a:bodyPr wrap="square"/>
          <a:lstStyle/>
          <a:p>
            <a:pPr algn="l">
              <a:defRPr sz="1100" b="0">
                <a:solidFill>
                  <a:srgbClr val="5A6270"/>
                </a:solidFill>
                <a:latin typeface="Inter"/>
              </a:defRPr>
            </a:pPr>
            <a:r>
              <a:t>'Stress 35% higher during race week' — training cycle insights</a:t>
            </a:r>
          </a:p>
        </p:txBody>
      </p:sp>
      <p:sp>
        <p:nvSpPr>
          <p:cNvPr id="31" name="TextBox 30"/>
          <p:cNvSpPr txBox="1"/>
          <p:nvPr/>
        </p:nvSpPr>
        <p:spPr>
          <a:xfrm>
            <a:off x="10789920" y="6309360"/>
            <a:ext cx="914400" cy="274320"/>
          </a:xfrm>
          <a:prstGeom prst="rect">
            <a:avLst/>
          </a:prstGeom>
          <a:noFill/>
        </p:spPr>
        <p:txBody>
          <a:bodyPr wrap="square"/>
          <a:lstStyle/>
          <a:p>
            <a:pPr algn="r">
              <a:defRPr sz="1200" b="1">
                <a:solidFill>
                  <a:srgbClr val="C47A5A"/>
                </a:solidFill>
                <a:latin typeface="Inter"/>
              </a:defRPr>
            </a:pPr>
            <a:r>
              <a:t>8/10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76200" cy="68580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274320"/>
          </a:xfrm>
          <a:prstGeom prst="rect">
            <a:avLst/>
          </a:prstGeom>
          <a:noFill/>
        </p:spPr>
        <p:txBody>
          <a:bodyPr wrap="square"/>
          <a:lstStyle/>
          <a:p>
            <a:pPr algn="l">
              <a:defRPr sz="1100" b="1">
                <a:solidFill>
                  <a:srgbClr val="C47A5A"/>
                </a:solidFill>
                <a:latin typeface="Inter"/>
              </a:defRPr>
            </a:pPr>
            <a:r>
              <a:t>PERSONA 4  |  THE PERFORMANCE ATHLETE</a:t>
            </a:r>
          </a:p>
        </p:txBody>
      </p:sp>
      <p:sp>
        <p:nvSpPr>
          <p:cNvPr id="4" name="TextBox 3"/>
          <p:cNvSpPr txBox="1"/>
          <p:nvPr/>
        </p:nvSpPr>
        <p:spPr>
          <a:xfrm>
            <a:off x="731520" y="640080"/>
            <a:ext cx="7315200" cy="457200"/>
          </a:xfrm>
          <a:prstGeom prst="rect">
            <a:avLst/>
          </a:prstGeom>
          <a:noFill/>
        </p:spPr>
        <p:txBody>
          <a:bodyPr wrap="square"/>
          <a:lstStyle/>
          <a:p>
            <a:pPr algn="l">
              <a:defRPr sz="2600" b="1">
                <a:solidFill>
                  <a:srgbClr val="1A1D21"/>
                </a:solidFill>
                <a:latin typeface="Playfair Display"/>
              </a:defRPr>
            </a:pPr>
            <a:r>
              <a:t>Acquisition &amp; Conversion Strategy</a:t>
            </a:r>
          </a:p>
        </p:txBody>
      </p:sp>
      <p:sp>
        <p:nvSpPr>
          <p:cNvPr id="5" name="Rounded Rectangle 4"/>
          <p:cNvSpPr/>
          <p:nvPr/>
        </p:nvSpPr>
        <p:spPr>
          <a:xfrm>
            <a:off x="7315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38328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2834640" cy="457200"/>
          </a:xfrm>
          <a:prstGeom prst="rect">
            <a:avLst/>
          </a:prstGeom>
          <a:noFill/>
        </p:spPr>
        <p:txBody>
          <a:bodyPr wrap="square"/>
          <a:lstStyle/>
          <a:p>
            <a:pPr algn="l">
              <a:defRPr sz="1600" b="1">
                <a:solidFill>
                  <a:srgbClr val="1A1D21"/>
                </a:solidFill>
                <a:latin typeface="Playfair Display"/>
              </a:defRPr>
            </a:pPr>
            <a:r>
              <a:t>Top Acquisition Channels</a:t>
            </a:r>
          </a:p>
        </p:txBody>
      </p:sp>
      <p:sp>
        <p:nvSpPr>
          <p:cNvPr id="8" name="TextBox 7"/>
          <p:cNvSpPr txBox="1"/>
          <p:nvPr/>
        </p:nvSpPr>
        <p:spPr>
          <a:xfrm>
            <a:off x="1005840" y="1965960"/>
            <a:ext cx="2834640" cy="1783080"/>
          </a:xfrm>
          <a:prstGeom prst="rect">
            <a:avLst/>
          </a:prstGeom>
          <a:noFill/>
        </p:spPr>
        <p:txBody>
          <a:bodyPr wrap="square"/>
          <a:lstStyle/>
          <a:p>
            <a:pPr algn="l">
              <a:spcAft>
                <a:spcPts val="800"/>
              </a:spcAft>
              <a:defRPr sz="1200" b="0">
                <a:solidFill>
                  <a:srgbClr val="5A6270"/>
                </a:solidFill>
                <a:latin typeface="Inter"/>
              </a:defRPr>
            </a:pPr>
            <a:r>
              <a:t>  1. Reddit (r/crossfit 400K+, r/running 2M+, r/triathlon)</a:t>
            </a:r>
          </a:p>
          <a:p>
            <a:pPr algn="l">
              <a:spcAft>
                <a:spcPts val="800"/>
              </a:spcAft>
              <a:defRPr sz="1200" b="0">
                <a:solidFill>
                  <a:srgbClr val="5A6270"/>
                </a:solidFill>
                <a:latin typeface="Inter"/>
              </a:defRPr>
            </a:pPr>
            <a:r>
              <a:t>  2. Strava community / running clubs / CrossFit boxes</a:t>
            </a:r>
          </a:p>
          <a:p>
            <a:pPr algn="l">
              <a:spcAft>
                <a:spcPts val="800"/>
              </a:spcAft>
              <a:defRPr sz="1200" b="0">
                <a:solidFill>
                  <a:srgbClr val="5A6270"/>
                </a:solidFill>
                <a:latin typeface="Inter"/>
              </a:defRPr>
            </a:pPr>
            <a:r>
              <a:t>  3. YouTube (training vlogs, race recaps, recovery content)</a:t>
            </a:r>
          </a:p>
          <a:p>
            <a:pPr algn="l">
              <a:spcAft>
                <a:spcPts val="800"/>
              </a:spcAft>
              <a:defRPr sz="1200" b="0">
                <a:solidFill>
                  <a:srgbClr val="5A6270"/>
                </a:solidFill>
                <a:latin typeface="Inter"/>
              </a:defRPr>
            </a:pPr>
            <a:r>
              <a:t>  4. Podcast sponsorships (endurance/CrossFit/fitness shows)</a:t>
            </a:r>
          </a:p>
          <a:p>
            <a:pPr algn="l">
              <a:spcAft>
                <a:spcPts val="800"/>
              </a:spcAft>
              <a:defRPr sz="1200" b="0">
                <a:solidFill>
                  <a:srgbClr val="5A6270"/>
                </a:solidFill>
                <a:latin typeface="Inter"/>
              </a:defRPr>
            </a:pPr>
            <a:r>
              <a:t>  5. Micro-influencers (CrossFit coaches, running coaches)</a:t>
            </a:r>
          </a:p>
        </p:txBody>
      </p:sp>
      <p:sp>
        <p:nvSpPr>
          <p:cNvPr id="9" name="Rounded Rectangle 8"/>
          <p:cNvSpPr/>
          <p:nvPr/>
        </p:nvSpPr>
        <p:spPr>
          <a:xfrm>
            <a:off x="43891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38328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54480"/>
            <a:ext cx="2834640" cy="457200"/>
          </a:xfrm>
          <a:prstGeom prst="rect">
            <a:avLst/>
          </a:prstGeom>
          <a:noFill/>
        </p:spPr>
        <p:txBody>
          <a:bodyPr wrap="square"/>
          <a:lstStyle/>
          <a:p>
            <a:pPr algn="l">
              <a:defRPr sz="1600" b="1">
                <a:solidFill>
                  <a:srgbClr val="1A1D21"/>
                </a:solidFill>
                <a:latin typeface="Playfair Display"/>
              </a:defRPr>
            </a:pPr>
            <a:r>
              <a:t>Hook Messages That Convert</a:t>
            </a:r>
          </a:p>
        </p:txBody>
      </p:sp>
      <p:sp>
        <p:nvSpPr>
          <p:cNvPr id="12" name="TextBox 11"/>
          <p:cNvSpPr txBox="1"/>
          <p:nvPr/>
        </p:nvSpPr>
        <p:spPr>
          <a:xfrm>
            <a:off x="4663440" y="1965960"/>
            <a:ext cx="2834640" cy="1783080"/>
          </a:xfrm>
          <a:prstGeom prst="rect">
            <a:avLst/>
          </a:prstGeom>
          <a:noFill/>
        </p:spPr>
        <p:txBody>
          <a:bodyPr wrap="square"/>
          <a:lstStyle/>
          <a:p>
            <a:pPr algn="l">
              <a:spcAft>
                <a:spcPts val="800"/>
              </a:spcAft>
              <a:defRPr sz="1200" b="0">
                <a:solidFill>
                  <a:srgbClr val="5A6270"/>
                </a:solidFill>
                <a:latin typeface="Inter"/>
              </a:defRPr>
            </a:pPr>
            <a:r>
              <a:t>  'I tracked my mental readiness for 30 days of training.'</a:t>
            </a:r>
          </a:p>
          <a:p>
            <a:pPr algn="l">
              <a:spcAft>
                <a:spcPts val="800"/>
              </a:spcAft>
              <a:defRPr sz="1200" b="0">
                <a:solidFill>
                  <a:srgbClr val="5A6270"/>
                </a:solidFill>
                <a:latin typeface="Inter"/>
              </a:defRPr>
            </a:pPr>
            <a:r>
              <a:t>  'My WHOOP said I was recovered. Lucid said I wasn't ready.'</a:t>
            </a:r>
          </a:p>
          <a:p>
            <a:pPr algn="l">
              <a:spcAft>
                <a:spcPts val="800"/>
              </a:spcAft>
              <a:defRPr sz="1200" b="0">
                <a:solidFill>
                  <a:srgbClr val="5A6270"/>
                </a:solidFill>
                <a:latin typeface="Inter"/>
              </a:defRPr>
            </a:pPr>
            <a:r>
              <a:t>  'The data that explained why I bonked at mile 20.'</a:t>
            </a:r>
          </a:p>
          <a:p>
            <a:pPr algn="l">
              <a:spcAft>
                <a:spcPts val="800"/>
              </a:spcAft>
              <a:defRPr sz="1200" b="0">
                <a:solidFill>
                  <a:srgbClr val="5A6270"/>
                </a:solidFill>
                <a:latin typeface="Inter"/>
              </a:defRPr>
            </a:pPr>
            <a:r>
              <a:t>  'Your stress on race week is 35% higher. Here's the proof.'</a:t>
            </a:r>
          </a:p>
          <a:p>
            <a:pPr algn="l">
              <a:spcAft>
                <a:spcPts val="800"/>
              </a:spcAft>
              <a:defRPr sz="1200" b="0">
                <a:solidFill>
                  <a:srgbClr val="5A6270"/>
                </a:solidFill>
                <a:latin typeface="Inter"/>
              </a:defRPr>
            </a:pPr>
            <a:r>
              <a:t>  Before/after stress data around race day / competition.</a:t>
            </a:r>
          </a:p>
        </p:txBody>
      </p:sp>
      <p:sp>
        <p:nvSpPr>
          <p:cNvPr id="13" name="Rounded Rectangle 12"/>
          <p:cNvSpPr/>
          <p:nvPr/>
        </p:nvSpPr>
        <p:spPr>
          <a:xfrm>
            <a:off x="8046720" y="1371600"/>
            <a:ext cx="3383280" cy="2560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3383280" cy="508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54480"/>
            <a:ext cx="2834640" cy="457200"/>
          </a:xfrm>
          <a:prstGeom prst="rect">
            <a:avLst/>
          </a:prstGeom>
          <a:noFill/>
        </p:spPr>
        <p:txBody>
          <a:bodyPr wrap="square"/>
          <a:lstStyle/>
          <a:p>
            <a:pPr algn="l">
              <a:defRPr sz="1600" b="1">
                <a:solidFill>
                  <a:srgbClr val="1A1D21"/>
                </a:solidFill>
                <a:latin typeface="Playfair Display"/>
              </a:defRPr>
            </a:pPr>
            <a:r>
              <a:t>Conversion Strategy</a:t>
            </a:r>
          </a:p>
        </p:txBody>
      </p:sp>
      <p:sp>
        <p:nvSpPr>
          <p:cNvPr id="16" name="TextBox 15"/>
          <p:cNvSpPr txBox="1"/>
          <p:nvPr/>
        </p:nvSpPr>
        <p:spPr>
          <a:xfrm>
            <a:off x="8321040" y="1965960"/>
            <a:ext cx="2834640" cy="1783080"/>
          </a:xfrm>
          <a:prstGeom prst="rect">
            <a:avLst/>
          </a:prstGeom>
          <a:noFill/>
        </p:spPr>
        <p:txBody>
          <a:bodyPr wrap="square"/>
          <a:lstStyle/>
          <a:p>
            <a:pPr algn="l">
              <a:spcAft>
                <a:spcPts val="800"/>
              </a:spcAft>
              <a:defRPr sz="1200" b="0">
                <a:solidFill>
                  <a:srgbClr val="5A6270"/>
                </a:solidFill>
                <a:latin typeface="Inter"/>
              </a:defRPr>
            </a:pPr>
            <a:r>
              <a:t>  Free tier: Basic stress/wellness score (show the gap)</a:t>
            </a:r>
          </a:p>
          <a:p>
            <a:pPr algn="l">
              <a:spcAft>
                <a:spcPts val="800"/>
              </a:spcAft>
              <a:defRPr sz="1200" b="0">
                <a:solidFill>
                  <a:srgbClr val="5A6270"/>
                </a:solidFill>
                <a:latin typeface="Inter"/>
              </a:defRPr>
            </a:pPr>
            <a:r>
              <a:t>  Upgrade trigger: Correlation Explorer + trends (paid)</a:t>
            </a:r>
          </a:p>
          <a:p>
            <a:pPr algn="l">
              <a:spcAft>
                <a:spcPts val="800"/>
              </a:spcAft>
              <a:defRPr sz="1200" b="0">
                <a:solidFill>
                  <a:srgbClr val="5A6270"/>
                </a:solidFill>
                <a:latin typeface="Inter"/>
              </a:defRPr>
            </a:pPr>
            <a:r>
              <a:t>  'Mental readiness' framing — not 'mental health'</a:t>
            </a:r>
          </a:p>
          <a:p>
            <a:pPr algn="l">
              <a:spcAft>
                <a:spcPts val="800"/>
              </a:spcAft>
              <a:defRPr sz="1200" b="0">
                <a:solidFill>
                  <a:srgbClr val="5A6270"/>
                </a:solidFill>
                <a:latin typeface="Inter"/>
              </a:defRPr>
            </a:pPr>
            <a:r>
              <a:t>  WHOOP/Garmin/Strava integration as premium hook</a:t>
            </a:r>
          </a:p>
          <a:p>
            <a:pPr algn="l">
              <a:spcAft>
                <a:spcPts val="800"/>
              </a:spcAft>
              <a:defRPr sz="1200" b="0">
                <a:solidFill>
                  <a:srgbClr val="5A6270"/>
                </a:solidFill>
                <a:latin typeface="Inter"/>
              </a:defRPr>
            </a:pPr>
            <a:r>
              <a:t>  Competitive edge positioning, not self-care</a:t>
            </a:r>
          </a:p>
        </p:txBody>
      </p:sp>
      <p:sp>
        <p:nvSpPr>
          <p:cNvPr id="17" name="Rounded Rectangle 16"/>
          <p:cNvSpPr/>
          <p:nvPr/>
        </p:nvSpPr>
        <p:spPr>
          <a:xfrm>
            <a:off x="731520" y="4206240"/>
            <a:ext cx="10698480" cy="2286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06240"/>
            <a:ext cx="63500" cy="22860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389120"/>
            <a:ext cx="9784080" cy="731520"/>
          </a:xfrm>
          <a:prstGeom prst="rect">
            <a:avLst/>
          </a:prstGeom>
          <a:noFill/>
        </p:spPr>
        <p:txBody>
          <a:bodyPr wrap="square"/>
          <a:lstStyle/>
          <a:p>
            <a:pPr algn="l">
              <a:defRPr sz="2200" b="0" i="1">
                <a:solidFill>
                  <a:srgbClr val="1A1D21"/>
                </a:solidFill>
                <a:latin typeface="Playfair Display"/>
              </a:defRPr>
            </a:pPr>
            <a:r>
              <a:t>"You train your body 6 days a week. When did you last check your mind?"</a:t>
            </a:r>
          </a:p>
        </p:txBody>
      </p:sp>
      <p:sp>
        <p:nvSpPr>
          <p:cNvPr id="20" name="TextBox 19"/>
          <p:cNvSpPr txBox="1"/>
          <p:nvPr/>
        </p:nvSpPr>
        <p:spPr>
          <a:xfrm>
            <a:off x="1188720" y="5029200"/>
            <a:ext cx="9784080" cy="1097280"/>
          </a:xfrm>
          <a:prstGeom prst="rect">
            <a:avLst/>
          </a:prstGeom>
          <a:noFill/>
        </p:spPr>
        <p:txBody>
          <a:bodyPr wrap="square"/>
          <a:lstStyle/>
          <a:p>
            <a:pPr algn="l">
              <a:defRPr sz="1300" b="0">
                <a:solidFill>
                  <a:srgbClr val="5A6270"/>
                </a:solidFill>
                <a:latin typeface="Inter"/>
              </a:defRPr>
            </a:pPr>
            <a:r>
              <a:t>This persona already believes in data-driven performance. They don't need to be sold on tracking — they need to see mental readiness as the missing metric. WHOOP proved athletes will pay $260M+/year for recovery data. Lucid adds the layer WHOOP can't: how stress, anxiety, and mental load impact their training and race-day performance.</a:t>
            </a:r>
            <a:br/>
            <a:br/>
            <a:r>
              <a:t>Key insight: Frame Lucid as a COMPETITIVE EDGE tool, not a wellness tool. 'The mental edge is the only edge left to gain.' This persona responds to performance language, leaderboard thinking, and the idea that their competitors don't have this data yet.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315200" cy="457200"/>
          </a:xfrm>
          <a:prstGeom prst="rect">
            <a:avLst/>
          </a:prstGeom>
          <a:noFill/>
        </p:spPr>
        <p:txBody>
          <a:bodyPr wrap="square"/>
          <a:lstStyle/>
          <a:p>
            <a:pPr algn="l">
              <a:defRPr sz="2800" b="1">
                <a:solidFill>
                  <a:srgbClr val="1A1D21"/>
                </a:solidFill>
                <a:latin typeface="Playfair Display"/>
              </a:defRPr>
            </a:pPr>
            <a:r>
              <a:t>Feature Value Matrix: All Personas</a:t>
            </a:r>
          </a:p>
        </p:txBody>
      </p:sp>
      <p:sp>
        <p:nvSpPr>
          <p:cNvPr id="3" name="Rectangle 2"/>
          <p:cNvSpPr/>
          <p:nvPr/>
        </p:nvSpPr>
        <p:spPr>
          <a:xfrm>
            <a:off x="731520" y="91440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7315200" cy="365760"/>
          </a:xfrm>
          <a:prstGeom prst="rect">
            <a:avLst/>
          </a:prstGeom>
          <a:noFill/>
        </p:spPr>
        <p:txBody>
          <a:bodyPr wrap="square"/>
          <a:lstStyle/>
          <a:p>
            <a:pPr algn="l">
              <a:defRPr sz="1300" b="0">
                <a:solidFill>
                  <a:srgbClr val="5A6270"/>
                </a:solidFill>
                <a:latin typeface="Inter"/>
              </a:defRPr>
            </a:pPr>
            <a:r>
              <a:t>How each feature ranks across all four personas. Higher number = higher value to that persona.</a:t>
            </a:r>
          </a:p>
        </p:txBody>
      </p:sp>
      <p:sp>
        <p:nvSpPr>
          <p:cNvPr id="5" name="Rectangle 4"/>
          <p:cNvSpPr/>
          <p:nvPr/>
        </p:nvSpPr>
        <p:spPr>
          <a:xfrm>
            <a:off x="548640" y="1645920"/>
            <a:ext cx="10972800" cy="4572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3200400" cy="365760"/>
          </a:xfrm>
          <a:prstGeom prst="rect">
            <a:avLst/>
          </a:prstGeom>
          <a:noFill/>
        </p:spPr>
        <p:txBody>
          <a:bodyPr wrap="square"/>
          <a:lstStyle/>
          <a:p>
            <a:pPr algn="l">
              <a:defRPr sz="1200" b="1">
                <a:solidFill>
                  <a:srgbClr val="FFFFFF"/>
                </a:solidFill>
                <a:latin typeface="Inter"/>
              </a:defRPr>
            </a:pPr>
            <a:r>
              <a:t>Feature</a:t>
            </a:r>
          </a:p>
        </p:txBody>
      </p:sp>
      <p:sp>
        <p:nvSpPr>
          <p:cNvPr id="7" name="TextBox 6"/>
          <p:cNvSpPr txBox="1"/>
          <p:nvPr/>
        </p:nvSpPr>
        <p:spPr>
          <a:xfrm>
            <a:off x="4114800" y="1691640"/>
            <a:ext cx="1645920" cy="365760"/>
          </a:xfrm>
          <a:prstGeom prst="rect">
            <a:avLst/>
          </a:prstGeom>
          <a:noFill/>
        </p:spPr>
        <p:txBody>
          <a:bodyPr wrap="square"/>
          <a:lstStyle/>
          <a:p>
            <a:pPr algn="ctr">
              <a:defRPr sz="1200" b="1">
                <a:solidFill>
                  <a:srgbClr val="D4E4F0"/>
                </a:solidFill>
                <a:latin typeface="Inter"/>
              </a:defRPr>
            </a:pPr>
            <a:r>
              <a:t>Builder</a:t>
            </a:r>
          </a:p>
        </p:txBody>
      </p:sp>
      <p:sp>
        <p:nvSpPr>
          <p:cNvPr id="8" name="TextBox 7"/>
          <p:cNvSpPr txBox="1"/>
          <p:nvPr/>
        </p:nvSpPr>
        <p:spPr>
          <a:xfrm>
            <a:off x="5943600" y="1691640"/>
            <a:ext cx="1463040" cy="365760"/>
          </a:xfrm>
          <a:prstGeom prst="rect">
            <a:avLst/>
          </a:prstGeom>
          <a:noFill/>
        </p:spPr>
        <p:txBody>
          <a:bodyPr wrap="square"/>
          <a:lstStyle/>
          <a:p>
            <a:pPr algn="ctr">
              <a:defRPr sz="1200" b="1">
                <a:solidFill>
                  <a:srgbClr val="D4E4F0"/>
                </a:solidFill>
                <a:latin typeface="Inter"/>
              </a:defRPr>
            </a:pPr>
            <a:r>
              <a:t>Architect</a:t>
            </a:r>
          </a:p>
        </p:txBody>
      </p:sp>
      <p:sp>
        <p:nvSpPr>
          <p:cNvPr id="9" name="TextBox 8"/>
          <p:cNvSpPr txBox="1"/>
          <p:nvPr/>
        </p:nvSpPr>
        <p:spPr>
          <a:xfrm>
            <a:off x="7589520" y="1691640"/>
            <a:ext cx="1463040" cy="365760"/>
          </a:xfrm>
          <a:prstGeom prst="rect">
            <a:avLst/>
          </a:prstGeom>
          <a:noFill/>
        </p:spPr>
        <p:txBody>
          <a:bodyPr wrap="square"/>
          <a:lstStyle/>
          <a:p>
            <a:pPr algn="ctr">
              <a:defRPr sz="1200" b="1">
                <a:solidFill>
                  <a:srgbClr val="D4E4F0"/>
                </a:solidFill>
                <a:latin typeface="Inter"/>
              </a:defRPr>
            </a:pPr>
            <a:r>
              <a:t>Skeptic</a:t>
            </a:r>
          </a:p>
        </p:txBody>
      </p:sp>
      <p:sp>
        <p:nvSpPr>
          <p:cNvPr id="10" name="TextBox 9"/>
          <p:cNvSpPr txBox="1"/>
          <p:nvPr/>
        </p:nvSpPr>
        <p:spPr>
          <a:xfrm>
            <a:off x="9235440" y="1691640"/>
            <a:ext cx="1463040" cy="365760"/>
          </a:xfrm>
          <a:prstGeom prst="rect">
            <a:avLst/>
          </a:prstGeom>
          <a:noFill/>
        </p:spPr>
        <p:txBody>
          <a:bodyPr wrap="square"/>
          <a:lstStyle/>
          <a:p>
            <a:pPr algn="ctr">
              <a:defRPr sz="1200" b="1">
                <a:solidFill>
                  <a:srgbClr val="D4E4F0"/>
                </a:solidFill>
                <a:latin typeface="Inter"/>
              </a:defRPr>
            </a:pPr>
            <a:r>
              <a:t>Athlete</a:t>
            </a:r>
          </a:p>
        </p:txBody>
      </p:sp>
      <p:sp>
        <p:nvSpPr>
          <p:cNvPr id="11" name="Rectangle 10"/>
          <p:cNvSpPr/>
          <p:nvPr/>
        </p:nvSpPr>
        <p:spPr>
          <a:xfrm>
            <a:off x="548640" y="214884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167128"/>
            <a:ext cx="3200400" cy="274320"/>
          </a:xfrm>
          <a:prstGeom prst="rect">
            <a:avLst/>
          </a:prstGeom>
          <a:noFill/>
        </p:spPr>
        <p:txBody>
          <a:bodyPr wrap="square"/>
          <a:lstStyle/>
          <a:p>
            <a:pPr algn="l">
              <a:defRPr sz="1100" b="0">
                <a:solidFill>
                  <a:srgbClr val="1A1D21"/>
                </a:solidFill>
                <a:latin typeface="Inter"/>
              </a:defRPr>
            </a:pPr>
            <a:r>
              <a:t>Wellness Score (0-100 daily)</a:t>
            </a:r>
          </a:p>
        </p:txBody>
      </p:sp>
      <p:sp>
        <p:nvSpPr>
          <p:cNvPr id="13" name="TextBox 12"/>
          <p:cNvSpPr txBox="1"/>
          <p:nvPr/>
        </p:nvSpPr>
        <p:spPr>
          <a:xfrm>
            <a:off x="4114800" y="2167128"/>
            <a:ext cx="1645920" cy="274320"/>
          </a:xfrm>
          <a:prstGeom prst="rect">
            <a:avLst/>
          </a:prstGeom>
          <a:noFill/>
        </p:spPr>
        <p:txBody>
          <a:bodyPr wrap="square"/>
          <a:lstStyle/>
          <a:p>
            <a:pPr algn="ctr">
              <a:defRPr sz="1200" b="1">
                <a:solidFill>
                  <a:srgbClr val="2D7D46"/>
                </a:solidFill>
                <a:latin typeface="Inter"/>
              </a:defRPr>
            </a:pPr>
            <a:r>
              <a:t>9</a:t>
            </a:r>
          </a:p>
        </p:txBody>
      </p:sp>
      <p:sp>
        <p:nvSpPr>
          <p:cNvPr id="14" name="TextBox 13"/>
          <p:cNvSpPr txBox="1"/>
          <p:nvPr/>
        </p:nvSpPr>
        <p:spPr>
          <a:xfrm>
            <a:off x="5943600" y="2167128"/>
            <a:ext cx="1463040" cy="274320"/>
          </a:xfrm>
          <a:prstGeom prst="rect">
            <a:avLst/>
          </a:prstGeom>
          <a:noFill/>
        </p:spPr>
        <p:txBody>
          <a:bodyPr wrap="square"/>
          <a:lstStyle/>
          <a:p>
            <a:pPr algn="ctr">
              <a:defRPr sz="1200" b="1">
                <a:solidFill>
                  <a:srgbClr val="2D7D46"/>
                </a:solidFill>
                <a:latin typeface="Inter"/>
              </a:defRPr>
            </a:pPr>
            <a:r>
              <a:t>9</a:t>
            </a:r>
          </a:p>
        </p:txBody>
      </p:sp>
      <p:sp>
        <p:nvSpPr>
          <p:cNvPr id="15" name="TextBox 14"/>
          <p:cNvSpPr txBox="1"/>
          <p:nvPr/>
        </p:nvSpPr>
        <p:spPr>
          <a:xfrm>
            <a:off x="7589520" y="2167128"/>
            <a:ext cx="1463040" cy="274320"/>
          </a:xfrm>
          <a:prstGeom prst="rect">
            <a:avLst/>
          </a:prstGeom>
          <a:noFill/>
        </p:spPr>
        <p:txBody>
          <a:bodyPr wrap="square"/>
          <a:lstStyle/>
          <a:p>
            <a:pPr algn="ctr">
              <a:defRPr sz="1200" b="1">
                <a:solidFill>
                  <a:srgbClr val="2D7D46"/>
                </a:solidFill>
                <a:latin typeface="Inter"/>
              </a:defRPr>
            </a:pPr>
            <a:r>
              <a:t>9</a:t>
            </a:r>
          </a:p>
        </p:txBody>
      </p:sp>
      <p:sp>
        <p:nvSpPr>
          <p:cNvPr id="16" name="TextBox 15"/>
          <p:cNvSpPr txBox="1"/>
          <p:nvPr/>
        </p:nvSpPr>
        <p:spPr>
          <a:xfrm>
            <a:off x="9235440" y="2167128"/>
            <a:ext cx="1463040" cy="274320"/>
          </a:xfrm>
          <a:prstGeom prst="rect">
            <a:avLst/>
          </a:prstGeom>
          <a:noFill/>
        </p:spPr>
        <p:txBody>
          <a:bodyPr wrap="square"/>
          <a:lstStyle/>
          <a:p>
            <a:pPr algn="ctr">
              <a:defRPr sz="1200" b="0">
                <a:solidFill>
                  <a:srgbClr val="C47A5A"/>
                </a:solidFill>
                <a:latin typeface="Inter"/>
              </a:defRPr>
            </a:pPr>
            <a:r>
              <a:t>8</a:t>
            </a:r>
          </a:p>
        </p:txBody>
      </p:sp>
      <p:sp>
        <p:nvSpPr>
          <p:cNvPr id="17" name="Rectangle 16"/>
          <p:cNvSpPr/>
          <p:nvPr/>
        </p:nvSpPr>
        <p:spPr>
          <a:xfrm>
            <a:off x="548640" y="246888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487168"/>
            <a:ext cx="3200400" cy="274320"/>
          </a:xfrm>
          <a:prstGeom prst="rect">
            <a:avLst/>
          </a:prstGeom>
          <a:noFill/>
        </p:spPr>
        <p:txBody>
          <a:bodyPr wrap="square"/>
          <a:lstStyle/>
          <a:p>
            <a:pPr algn="l">
              <a:defRPr sz="1100" b="0">
                <a:solidFill>
                  <a:srgbClr val="1A1D21"/>
                </a:solidFill>
                <a:latin typeface="Inter"/>
              </a:defRPr>
            </a:pPr>
            <a:r>
              <a:t>Meeting Stress Correlation</a:t>
            </a:r>
          </a:p>
        </p:txBody>
      </p:sp>
      <p:sp>
        <p:nvSpPr>
          <p:cNvPr id="19" name="TextBox 18"/>
          <p:cNvSpPr txBox="1"/>
          <p:nvPr/>
        </p:nvSpPr>
        <p:spPr>
          <a:xfrm>
            <a:off x="4114800" y="2487168"/>
            <a:ext cx="1645920" cy="274320"/>
          </a:xfrm>
          <a:prstGeom prst="rect">
            <a:avLst/>
          </a:prstGeom>
          <a:noFill/>
        </p:spPr>
        <p:txBody>
          <a:bodyPr wrap="square"/>
          <a:lstStyle/>
          <a:p>
            <a:pPr algn="ctr">
              <a:defRPr sz="1200" b="1">
                <a:solidFill>
                  <a:srgbClr val="2D7D46"/>
                </a:solidFill>
                <a:latin typeface="Inter"/>
              </a:defRPr>
            </a:pPr>
            <a:r>
              <a:t>10</a:t>
            </a:r>
          </a:p>
        </p:txBody>
      </p:sp>
      <p:sp>
        <p:nvSpPr>
          <p:cNvPr id="20" name="TextBox 19"/>
          <p:cNvSpPr txBox="1"/>
          <p:nvPr/>
        </p:nvSpPr>
        <p:spPr>
          <a:xfrm>
            <a:off x="5943600" y="2487168"/>
            <a:ext cx="1463040" cy="274320"/>
          </a:xfrm>
          <a:prstGeom prst="rect">
            <a:avLst/>
          </a:prstGeom>
          <a:noFill/>
        </p:spPr>
        <p:txBody>
          <a:bodyPr wrap="square"/>
          <a:lstStyle/>
          <a:p>
            <a:pPr algn="ctr">
              <a:defRPr sz="1200" b="0">
                <a:solidFill>
                  <a:srgbClr val="99A0A8"/>
                </a:solidFill>
                <a:latin typeface="Inter"/>
              </a:defRPr>
            </a:pPr>
            <a:r>
              <a:t>6</a:t>
            </a:r>
          </a:p>
        </p:txBody>
      </p:sp>
      <p:sp>
        <p:nvSpPr>
          <p:cNvPr id="21" name="TextBox 20"/>
          <p:cNvSpPr txBox="1"/>
          <p:nvPr/>
        </p:nvSpPr>
        <p:spPr>
          <a:xfrm>
            <a:off x="7589520" y="2487168"/>
            <a:ext cx="1463040" cy="274320"/>
          </a:xfrm>
          <a:prstGeom prst="rect">
            <a:avLst/>
          </a:prstGeom>
          <a:noFill/>
        </p:spPr>
        <p:txBody>
          <a:bodyPr wrap="square"/>
          <a:lstStyle/>
          <a:p>
            <a:pPr algn="ctr">
              <a:defRPr sz="1200" b="0">
                <a:solidFill>
                  <a:srgbClr val="99A0A8"/>
                </a:solidFill>
                <a:latin typeface="Inter"/>
              </a:defRPr>
            </a:pPr>
            <a:r>
              <a:t>5</a:t>
            </a:r>
          </a:p>
        </p:txBody>
      </p:sp>
      <p:sp>
        <p:nvSpPr>
          <p:cNvPr id="22" name="TextBox 21"/>
          <p:cNvSpPr txBox="1"/>
          <p:nvPr/>
        </p:nvSpPr>
        <p:spPr>
          <a:xfrm>
            <a:off x="9235440" y="2487168"/>
            <a:ext cx="1463040" cy="274320"/>
          </a:xfrm>
          <a:prstGeom prst="rect">
            <a:avLst/>
          </a:prstGeom>
          <a:noFill/>
        </p:spPr>
        <p:txBody>
          <a:bodyPr wrap="square"/>
          <a:lstStyle/>
          <a:p>
            <a:pPr algn="ctr">
              <a:defRPr sz="1200" b="0">
                <a:solidFill>
                  <a:srgbClr val="99A0A8"/>
                </a:solidFill>
                <a:latin typeface="Inter"/>
              </a:defRPr>
            </a:pPr>
            <a:r>
              <a:t>4</a:t>
            </a:r>
          </a:p>
        </p:txBody>
      </p:sp>
      <p:sp>
        <p:nvSpPr>
          <p:cNvPr id="23" name="Rectangle 22"/>
          <p:cNvSpPr/>
          <p:nvPr/>
        </p:nvSpPr>
        <p:spPr>
          <a:xfrm>
            <a:off x="548640" y="278892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807208"/>
            <a:ext cx="3200400" cy="274320"/>
          </a:xfrm>
          <a:prstGeom prst="rect">
            <a:avLst/>
          </a:prstGeom>
          <a:noFill/>
        </p:spPr>
        <p:txBody>
          <a:bodyPr wrap="square"/>
          <a:lstStyle/>
          <a:p>
            <a:pPr algn="l">
              <a:defRPr sz="1100" b="0">
                <a:solidFill>
                  <a:srgbClr val="1A1D21"/>
                </a:solidFill>
                <a:latin typeface="Inter"/>
              </a:defRPr>
            </a:pPr>
            <a:r>
              <a:t>Correlation Explorer (cross-device)</a:t>
            </a:r>
          </a:p>
        </p:txBody>
      </p:sp>
      <p:sp>
        <p:nvSpPr>
          <p:cNvPr id="25" name="TextBox 24"/>
          <p:cNvSpPr txBox="1"/>
          <p:nvPr/>
        </p:nvSpPr>
        <p:spPr>
          <a:xfrm>
            <a:off x="4114800" y="2807208"/>
            <a:ext cx="1645920" cy="274320"/>
          </a:xfrm>
          <a:prstGeom prst="rect">
            <a:avLst/>
          </a:prstGeom>
          <a:noFill/>
        </p:spPr>
        <p:txBody>
          <a:bodyPr wrap="square"/>
          <a:lstStyle/>
          <a:p>
            <a:pPr algn="ctr">
              <a:defRPr sz="1200" b="0">
                <a:solidFill>
                  <a:srgbClr val="5B8DB8"/>
                </a:solidFill>
                <a:latin typeface="Inter"/>
              </a:defRPr>
            </a:pPr>
            <a:r>
              <a:t>7</a:t>
            </a:r>
          </a:p>
        </p:txBody>
      </p:sp>
      <p:sp>
        <p:nvSpPr>
          <p:cNvPr id="26" name="TextBox 25"/>
          <p:cNvSpPr txBox="1"/>
          <p:nvPr/>
        </p:nvSpPr>
        <p:spPr>
          <a:xfrm>
            <a:off x="5943600" y="2807208"/>
            <a:ext cx="1463040" cy="274320"/>
          </a:xfrm>
          <a:prstGeom prst="rect">
            <a:avLst/>
          </a:prstGeom>
          <a:noFill/>
        </p:spPr>
        <p:txBody>
          <a:bodyPr wrap="square"/>
          <a:lstStyle/>
          <a:p>
            <a:pPr algn="ctr">
              <a:defRPr sz="1200" b="1">
                <a:solidFill>
                  <a:srgbClr val="2D7D46"/>
                </a:solidFill>
                <a:latin typeface="Inter"/>
              </a:defRPr>
            </a:pPr>
            <a:r>
              <a:t>10</a:t>
            </a:r>
          </a:p>
        </p:txBody>
      </p:sp>
      <p:sp>
        <p:nvSpPr>
          <p:cNvPr id="27" name="TextBox 26"/>
          <p:cNvSpPr txBox="1"/>
          <p:nvPr/>
        </p:nvSpPr>
        <p:spPr>
          <a:xfrm>
            <a:off x="7589520" y="2807208"/>
            <a:ext cx="1463040" cy="274320"/>
          </a:xfrm>
          <a:prstGeom prst="rect">
            <a:avLst/>
          </a:prstGeom>
          <a:noFill/>
        </p:spPr>
        <p:txBody>
          <a:bodyPr wrap="square"/>
          <a:lstStyle/>
          <a:p>
            <a:pPr algn="ctr">
              <a:defRPr sz="1200" b="0">
                <a:solidFill>
                  <a:srgbClr val="99A0A8"/>
                </a:solidFill>
                <a:latin typeface="Inter"/>
              </a:defRPr>
            </a:pPr>
            <a:r>
              <a:t>5</a:t>
            </a:r>
          </a:p>
        </p:txBody>
      </p:sp>
      <p:sp>
        <p:nvSpPr>
          <p:cNvPr id="28" name="TextBox 27"/>
          <p:cNvSpPr txBox="1"/>
          <p:nvPr/>
        </p:nvSpPr>
        <p:spPr>
          <a:xfrm>
            <a:off x="9235440" y="2807208"/>
            <a:ext cx="1463040" cy="274320"/>
          </a:xfrm>
          <a:prstGeom prst="rect">
            <a:avLst/>
          </a:prstGeom>
          <a:noFill/>
        </p:spPr>
        <p:txBody>
          <a:bodyPr wrap="square"/>
          <a:lstStyle/>
          <a:p>
            <a:pPr algn="ctr">
              <a:defRPr sz="1200" b="1">
                <a:solidFill>
                  <a:srgbClr val="2D7D46"/>
                </a:solidFill>
                <a:latin typeface="Inter"/>
              </a:defRPr>
            </a:pPr>
            <a:r>
              <a:t>10</a:t>
            </a:r>
          </a:p>
        </p:txBody>
      </p:sp>
      <p:sp>
        <p:nvSpPr>
          <p:cNvPr id="29" name="Rectangle 28"/>
          <p:cNvSpPr/>
          <p:nvPr/>
        </p:nvSpPr>
        <p:spPr>
          <a:xfrm>
            <a:off x="548640" y="310896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127248"/>
            <a:ext cx="3200400" cy="274320"/>
          </a:xfrm>
          <a:prstGeom prst="rect">
            <a:avLst/>
          </a:prstGeom>
          <a:noFill/>
        </p:spPr>
        <p:txBody>
          <a:bodyPr wrap="square"/>
          <a:lstStyle/>
          <a:p>
            <a:pPr algn="l">
              <a:defRPr sz="1100" b="0">
                <a:solidFill>
                  <a:srgbClr val="1A1D21"/>
                </a:solidFill>
                <a:latin typeface="Inter"/>
              </a:defRPr>
            </a:pPr>
            <a:r>
              <a:t>Raw Acoustic Data Export</a:t>
            </a:r>
          </a:p>
        </p:txBody>
      </p:sp>
      <p:sp>
        <p:nvSpPr>
          <p:cNvPr id="31" name="TextBox 30"/>
          <p:cNvSpPr txBox="1"/>
          <p:nvPr/>
        </p:nvSpPr>
        <p:spPr>
          <a:xfrm>
            <a:off x="4114800" y="3127248"/>
            <a:ext cx="1645920" cy="274320"/>
          </a:xfrm>
          <a:prstGeom prst="rect">
            <a:avLst/>
          </a:prstGeom>
          <a:noFill/>
        </p:spPr>
        <p:txBody>
          <a:bodyPr wrap="square"/>
          <a:lstStyle/>
          <a:p>
            <a:pPr algn="ctr">
              <a:defRPr sz="1200" b="0">
                <a:solidFill>
                  <a:srgbClr val="99A0A8"/>
                </a:solidFill>
                <a:latin typeface="Inter"/>
              </a:defRPr>
            </a:pPr>
            <a:r>
              <a:t>4</a:t>
            </a:r>
          </a:p>
        </p:txBody>
      </p:sp>
      <p:sp>
        <p:nvSpPr>
          <p:cNvPr id="32" name="TextBox 31"/>
          <p:cNvSpPr txBox="1"/>
          <p:nvPr/>
        </p:nvSpPr>
        <p:spPr>
          <a:xfrm>
            <a:off x="5943600" y="3127248"/>
            <a:ext cx="1463040" cy="274320"/>
          </a:xfrm>
          <a:prstGeom prst="rect">
            <a:avLst/>
          </a:prstGeom>
          <a:noFill/>
        </p:spPr>
        <p:txBody>
          <a:bodyPr wrap="square"/>
          <a:lstStyle/>
          <a:p>
            <a:pPr algn="ctr">
              <a:defRPr sz="1200" b="1">
                <a:solidFill>
                  <a:srgbClr val="2D7D46"/>
                </a:solidFill>
                <a:latin typeface="Inter"/>
              </a:defRPr>
            </a:pPr>
            <a:r>
              <a:t>10</a:t>
            </a:r>
          </a:p>
        </p:txBody>
      </p:sp>
      <p:sp>
        <p:nvSpPr>
          <p:cNvPr id="33" name="TextBox 32"/>
          <p:cNvSpPr txBox="1"/>
          <p:nvPr/>
        </p:nvSpPr>
        <p:spPr>
          <a:xfrm>
            <a:off x="7589520" y="3127248"/>
            <a:ext cx="1463040" cy="274320"/>
          </a:xfrm>
          <a:prstGeom prst="rect">
            <a:avLst/>
          </a:prstGeom>
          <a:noFill/>
        </p:spPr>
        <p:txBody>
          <a:bodyPr wrap="square"/>
          <a:lstStyle/>
          <a:p>
            <a:pPr algn="ctr">
              <a:defRPr sz="1200" b="0">
                <a:solidFill>
                  <a:srgbClr val="9B7EB8"/>
                </a:solidFill>
                <a:latin typeface="Inter"/>
              </a:defRPr>
            </a:pPr>
            <a:r>
              <a:t>8</a:t>
            </a:r>
          </a:p>
        </p:txBody>
      </p:sp>
      <p:sp>
        <p:nvSpPr>
          <p:cNvPr id="34" name="TextBox 33"/>
          <p:cNvSpPr txBox="1"/>
          <p:nvPr/>
        </p:nvSpPr>
        <p:spPr>
          <a:xfrm>
            <a:off x="9235440" y="3127248"/>
            <a:ext cx="1463040" cy="274320"/>
          </a:xfrm>
          <a:prstGeom prst="rect">
            <a:avLst/>
          </a:prstGeom>
          <a:noFill/>
        </p:spPr>
        <p:txBody>
          <a:bodyPr wrap="square"/>
          <a:lstStyle/>
          <a:p>
            <a:pPr algn="ctr">
              <a:defRPr sz="1200" b="0">
                <a:solidFill>
                  <a:srgbClr val="99A0A8"/>
                </a:solidFill>
                <a:latin typeface="Inter"/>
              </a:defRPr>
            </a:pPr>
            <a:r>
              <a:t>5</a:t>
            </a:r>
          </a:p>
        </p:txBody>
      </p:sp>
      <p:sp>
        <p:nvSpPr>
          <p:cNvPr id="35" name="Rectangle 34"/>
          <p:cNvSpPr/>
          <p:nvPr/>
        </p:nvSpPr>
        <p:spPr>
          <a:xfrm>
            <a:off x="548640" y="342900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447288"/>
            <a:ext cx="3200400" cy="274320"/>
          </a:xfrm>
          <a:prstGeom prst="rect">
            <a:avLst/>
          </a:prstGeom>
          <a:noFill/>
        </p:spPr>
        <p:txBody>
          <a:bodyPr wrap="square"/>
          <a:lstStyle/>
          <a:p>
            <a:pPr algn="l">
              <a:defRPr sz="1100" b="0">
                <a:solidFill>
                  <a:srgbClr val="1A1D21"/>
                </a:solidFill>
                <a:latin typeface="Inter"/>
              </a:defRPr>
            </a:pPr>
            <a:r>
              <a:t>Stress &amp; Calm Scores (real-time)</a:t>
            </a:r>
          </a:p>
        </p:txBody>
      </p:sp>
      <p:sp>
        <p:nvSpPr>
          <p:cNvPr id="37" name="TextBox 36"/>
          <p:cNvSpPr txBox="1"/>
          <p:nvPr/>
        </p:nvSpPr>
        <p:spPr>
          <a:xfrm>
            <a:off x="4114800" y="3447288"/>
            <a:ext cx="1645920" cy="274320"/>
          </a:xfrm>
          <a:prstGeom prst="rect">
            <a:avLst/>
          </a:prstGeom>
          <a:noFill/>
        </p:spPr>
        <p:txBody>
          <a:bodyPr wrap="square"/>
          <a:lstStyle/>
          <a:p>
            <a:pPr algn="ctr">
              <a:defRPr sz="1200" b="1">
                <a:solidFill>
                  <a:srgbClr val="2D7D46"/>
                </a:solidFill>
                <a:latin typeface="Inter"/>
              </a:defRPr>
            </a:pPr>
            <a:r>
              <a:t>9</a:t>
            </a:r>
          </a:p>
        </p:txBody>
      </p:sp>
      <p:sp>
        <p:nvSpPr>
          <p:cNvPr id="38" name="TextBox 37"/>
          <p:cNvSpPr txBox="1"/>
          <p:nvPr/>
        </p:nvSpPr>
        <p:spPr>
          <a:xfrm>
            <a:off x="5943600" y="3447288"/>
            <a:ext cx="1463040" cy="274320"/>
          </a:xfrm>
          <a:prstGeom prst="rect">
            <a:avLst/>
          </a:prstGeom>
          <a:noFill/>
        </p:spPr>
        <p:txBody>
          <a:bodyPr wrap="square"/>
          <a:lstStyle/>
          <a:p>
            <a:pPr algn="ctr">
              <a:defRPr sz="1200" b="0">
                <a:solidFill>
                  <a:srgbClr val="6BA37E"/>
                </a:solidFill>
                <a:latin typeface="Inter"/>
              </a:defRPr>
            </a:pPr>
            <a:r>
              <a:t>8</a:t>
            </a:r>
          </a:p>
        </p:txBody>
      </p:sp>
      <p:sp>
        <p:nvSpPr>
          <p:cNvPr id="39" name="TextBox 38"/>
          <p:cNvSpPr txBox="1"/>
          <p:nvPr/>
        </p:nvSpPr>
        <p:spPr>
          <a:xfrm>
            <a:off x="7589520" y="3447288"/>
            <a:ext cx="1463040" cy="274320"/>
          </a:xfrm>
          <a:prstGeom prst="rect">
            <a:avLst/>
          </a:prstGeom>
          <a:noFill/>
        </p:spPr>
        <p:txBody>
          <a:bodyPr wrap="square"/>
          <a:lstStyle/>
          <a:p>
            <a:pPr algn="ctr">
              <a:defRPr sz="1200" b="0">
                <a:solidFill>
                  <a:srgbClr val="9B7EB8"/>
                </a:solidFill>
                <a:latin typeface="Inter"/>
              </a:defRPr>
            </a:pPr>
            <a:r>
              <a:t>8</a:t>
            </a:r>
          </a:p>
        </p:txBody>
      </p:sp>
      <p:sp>
        <p:nvSpPr>
          <p:cNvPr id="40" name="TextBox 39"/>
          <p:cNvSpPr txBox="1"/>
          <p:nvPr/>
        </p:nvSpPr>
        <p:spPr>
          <a:xfrm>
            <a:off x="9235440" y="3447288"/>
            <a:ext cx="1463040" cy="274320"/>
          </a:xfrm>
          <a:prstGeom prst="rect">
            <a:avLst/>
          </a:prstGeom>
          <a:noFill/>
        </p:spPr>
        <p:txBody>
          <a:bodyPr wrap="square"/>
          <a:lstStyle/>
          <a:p>
            <a:pPr algn="ctr">
              <a:defRPr sz="1200" b="1">
                <a:solidFill>
                  <a:srgbClr val="2D7D46"/>
                </a:solidFill>
                <a:latin typeface="Inter"/>
              </a:defRPr>
            </a:pPr>
            <a:r>
              <a:t>10</a:t>
            </a:r>
          </a:p>
        </p:txBody>
      </p:sp>
      <p:sp>
        <p:nvSpPr>
          <p:cNvPr id="41" name="Rectangle 40"/>
          <p:cNvSpPr/>
          <p:nvPr/>
        </p:nvSpPr>
        <p:spPr>
          <a:xfrm>
            <a:off x="548640" y="374904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67328"/>
            <a:ext cx="3200400" cy="274320"/>
          </a:xfrm>
          <a:prstGeom prst="rect">
            <a:avLst/>
          </a:prstGeom>
          <a:noFill/>
        </p:spPr>
        <p:txBody>
          <a:bodyPr wrap="square"/>
          <a:lstStyle/>
          <a:p>
            <a:pPr algn="l">
              <a:defRPr sz="1100" b="0">
                <a:solidFill>
                  <a:srgbClr val="1A1D21"/>
                </a:solidFill>
                <a:latin typeface="Inter"/>
              </a:defRPr>
            </a:pPr>
            <a:r>
              <a:t>Morning Briefing</a:t>
            </a:r>
          </a:p>
        </p:txBody>
      </p:sp>
      <p:sp>
        <p:nvSpPr>
          <p:cNvPr id="43" name="TextBox 42"/>
          <p:cNvSpPr txBox="1"/>
          <p:nvPr/>
        </p:nvSpPr>
        <p:spPr>
          <a:xfrm>
            <a:off x="4114800" y="3767328"/>
            <a:ext cx="1645920" cy="274320"/>
          </a:xfrm>
          <a:prstGeom prst="rect">
            <a:avLst/>
          </a:prstGeom>
          <a:noFill/>
        </p:spPr>
        <p:txBody>
          <a:bodyPr wrap="square"/>
          <a:lstStyle/>
          <a:p>
            <a:pPr algn="ctr">
              <a:defRPr sz="1200" b="1">
                <a:solidFill>
                  <a:srgbClr val="2D7D46"/>
                </a:solidFill>
                <a:latin typeface="Inter"/>
              </a:defRPr>
            </a:pPr>
            <a:r>
              <a:t>9</a:t>
            </a:r>
          </a:p>
        </p:txBody>
      </p:sp>
      <p:sp>
        <p:nvSpPr>
          <p:cNvPr id="44" name="TextBox 43"/>
          <p:cNvSpPr txBox="1"/>
          <p:nvPr/>
        </p:nvSpPr>
        <p:spPr>
          <a:xfrm>
            <a:off x="5943600" y="3767328"/>
            <a:ext cx="1463040" cy="274320"/>
          </a:xfrm>
          <a:prstGeom prst="rect">
            <a:avLst/>
          </a:prstGeom>
          <a:noFill/>
        </p:spPr>
        <p:txBody>
          <a:bodyPr wrap="square"/>
          <a:lstStyle/>
          <a:p>
            <a:pPr algn="ctr">
              <a:defRPr sz="1200" b="0">
                <a:solidFill>
                  <a:srgbClr val="6BA37E"/>
                </a:solidFill>
                <a:latin typeface="Inter"/>
              </a:defRPr>
            </a:pPr>
            <a:r>
              <a:t>7</a:t>
            </a:r>
          </a:p>
        </p:txBody>
      </p:sp>
      <p:sp>
        <p:nvSpPr>
          <p:cNvPr id="45" name="TextBox 44"/>
          <p:cNvSpPr txBox="1"/>
          <p:nvPr/>
        </p:nvSpPr>
        <p:spPr>
          <a:xfrm>
            <a:off x="7589520" y="3767328"/>
            <a:ext cx="1463040" cy="274320"/>
          </a:xfrm>
          <a:prstGeom prst="rect">
            <a:avLst/>
          </a:prstGeom>
          <a:noFill/>
        </p:spPr>
        <p:txBody>
          <a:bodyPr wrap="square"/>
          <a:lstStyle/>
          <a:p>
            <a:pPr algn="ctr">
              <a:defRPr sz="1200" b="0">
                <a:solidFill>
                  <a:srgbClr val="99A0A8"/>
                </a:solidFill>
                <a:latin typeface="Inter"/>
              </a:defRPr>
            </a:pPr>
            <a:r>
              <a:t>6</a:t>
            </a:r>
          </a:p>
        </p:txBody>
      </p:sp>
      <p:sp>
        <p:nvSpPr>
          <p:cNvPr id="46" name="TextBox 45"/>
          <p:cNvSpPr txBox="1"/>
          <p:nvPr/>
        </p:nvSpPr>
        <p:spPr>
          <a:xfrm>
            <a:off x="9235440" y="3767328"/>
            <a:ext cx="1463040" cy="274320"/>
          </a:xfrm>
          <a:prstGeom prst="rect">
            <a:avLst/>
          </a:prstGeom>
          <a:noFill/>
        </p:spPr>
        <p:txBody>
          <a:bodyPr wrap="square"/>
          <a:lstStyle/>
          <a:p>
            <a:pPr algn="ctr">
              <a:defRPr sz="1200" b="1">
                <a:solidFill>
                  <a:srgbClr val="2D7D46"/>
                </a:solidFill>
                <a:latin typeface="Inter"/>
              </a:defRPr>
            </a:pPr>
            <a:r>
              <a:t>9</a:t>
            </a:r>
          </a:p>
        </p:txBody>
      </p:sp>
      <p:sp>
        <p:nvSpPr>
          <p:cNvPr id="47" name="Rectangle 46"/>
          <p:cNvSpPr/>
          <p:nvPr/>
        </p:nvSpPr>
        <p:spPr>
          <a:xfrm>
            <a:off x="548640" y="406908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4087368"/>
            <a:ext cx="3200400" cy="274320"/>
          </a:xfrm>
          <a:prstGeom prst="rect">
            <a:avLst/>
          </a:prstGeom>
          <a:noFill/>
        </p:spPr>
        <p:txBody>
          <a:bodyPr wrap="square"/>
          <a:lstStyle/>
          <a:p>
            <a:pPr algn="l">
              <a:defRPr sz="1100" b="0">
                <a:solidFill>
                  <a:srgbClr val="1A1D21"/>
                </a:solidFill>
                <a:latin typeface="Inter"/>
              </a:defRPr>
            </a:pPr>
            <a:r>
              <a:t>Weekly Wrapped</a:t>
            </a:r>
          </a:p>
        </p:txBody>
      </p:sp>
      <p:sp>
        <p:nvSpPr>
          <p:cNvPr id="49" name="TextBox 48"/>
          <p:cNvSpPr txBox="1"/>
          <p:nvPr/>
        </p:nvSpPr>
        <p:spPr>
          <a:xfrm>
            <a:off x="4114800" y="4087368"/>
            <a:ext cx="1645920" cy="274320"/>
          </a:xfrm>
          <a:prstGeom prst="rect">
            <a:avLst/>
          </a:prstGeom>
          <a:noFill/>
        </p:spPr>
        <p:txBody>
          <a:bodyPr wrap="square"/>
          <a:lstStyle/>
          <a:p>
            <a:pPr algn="ctr">
              <a:defRPr sz="1200" b="0">
                <a:solidFill>
                  <a:srgbClr val="5B8DB8"/>
                </a:solidFill>
                <a:latin typeface="Inter"/>
              </a:defRPr>
            </a:pPr>
            <a:r>
              <a:t>8</a:t>
            </a:r>
          </a:p>
        </p:txBody>
      </p:sp>
      <p:sp>
        <p:nvSpPr>
          <p:cNvPr id="50" name="TextBox 49"/>
          <p:cNvSpPr txBox="1"/>
          <p:nvPr/>
        </p:nvSpPr>
        <p:spPr>
          <a:xfrm>
            <a:off x="5943600" y="4087368"/>
            <a:ext cx="1463040" cy="274320"/>
          </a:xfrm>
          <a:prstGeom prst="rect">
            <a:avLst/>
          </a:prstGeom>
          <a:noFill/>
        </p:spPr>
        <p:txBody>
          <a:bodyPr wrap="square"/>
          <a:lstStyle/>
          <a:p>
            <a:pPr algn="ctr">
              <a:defRPr sz="1200" b="0">
                <a:solidFill>
                  <a:srgbClr val="99A0A8"/>
                </a:solidFill>
                <a:latin typeface="Inter"/>
              </a:defRPr>
            </a:pPr>
            <a:r>
              <a:t>6</a:t>
            </a:r>
          </a:p>
        </p:txBody>
      </p:sp>
      <p:sp>
        <p:nvSpPr>
          <p:cNvPr id="51" name="TextBox 50"/>
          <p:cNvSpPr txBox="1"/>
          <p:nvPr/>
        </p:nvSpPr>
        <p:spPr>
          <a:xfrm>
            <a:off x="7589520" y="4087368"/>
            <a:ext cx="1463040" cy="274320"/>
          </a:xfrm>
          <a:prstGeom prst="rect">
            <a:avLst/>
          </a:prstGeom>
          <a:noFill/>
        </p:spPr>
        <p:txBody>
          <a:bodyPr wrap="square"/>
          <a:lstStyle/>
          <a:p>
            <a:pPr algn="ctr">
              <a:defRPr sz="1200" b="0">
                <a:solidFill>
                  <a:srgbClr val="99A0A8"/>
                </a:solidFill>
                <a:latin typeface="Inter"/>
              </a:defRPr>
            </a:pPr>
            <a:r>
              <a:t>5</a:t>
            </a:r>
          </a:p>
        </p:txBody>
      </p:sp>
      <p:sp>
        <p:nvSpPr>
          <p:cNvPr id="52" name="TextBox 51"/>
          <p:cNvSpPr txBox="1"/>
          <p:nvPr/>
        </p:nvSpPr>
        <p:spPr>
          <a:xfrm>
            <a:off x="9235440" y="4087368"/>
            <a:ext cx="1463040" cy="274320"/>
          </a:xfrm>
          <a:prstGeom prst="rect">
            <a:avLst/>
          </a:prstGeom>
          <a:noFill/>
        </p:spPr>
        <p:txBody>
          <a:bodyPr wrap="square"/>
          <a:lstStyle/>
          <a:p>
            <a:pPr algn="ctr">
              <a:defRPr sz="1200" b="0">
                <a:solidFill>
                  <a:srgbClr val="99A0A8"/>
                </a:solidFill>
                <a:latin typeface="Inter"/>
              </a:defRPr>
            </a:pPr>
            <a:r>
              <a:t>6</a:t>
            </a:r>
          </a:p>
        </p:txBody>
      </p:sp>
      <p:sp>
        <p:nvSpPr>
          <p:cNvPr id="53" name="Rectangle 52"/>
          <p:cNvSpPr/>
          <p:nvPr/>
        </p:nvSpPr>
        <p:spPr>
          <a:xfrm>
            <a:off x="548640" y="438912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4407408"/>
            <a:ext cx="3200400" cy="274320"/>
          </a:xfrm>
          <a:prstGeom prst="rect">
            <a:avLst/>
          </a:prstGeom>
          <a:noFill/>
        </p:spPr>
        <p:txBody>
          <a:bodyPr wrap="square"/>
          <a:lstStyle/>
          <a:p>
            <a:pPr algn="l">
              <a:defRPr sz="1100" b="0">
                <a:solidFill>
                  <a:srgbClr val="1A1D21"/>
                </a:solidFill>
                <a:latin typeface="Inter"/>
              </a:defRPr>
            </a:pPr>
            <a:r>
              <a:t>Grove (Streak System)</a:t>
            </a:r>
          </a:p>
        </p:txBody>
      </p:sp>
      <p:sp>
        <p:nvSpPr>
          <p:cNvPr id="55" name="TextBox 54"/>
          <p:cNvSpPr txBox="1"/>
          <p:nvPr/>
        </p:nvSpPr>
        <p:spPr>
          <a:xfrm>
            <a:off x="4114800" y="4407408"/>
            <a:ext cx="1645920" cy="274320"/>
          </a:xfrm>
          <a:prstGeom prst="rect">
            <a:avLst/>
          </a:prstGeom>
          <a:noFill/>
        </p:spPr>
        <p:txBody>
          <a:bodyPr wrap="square"/>
          <a:lstStyle/>
          <a:p>
            <a:pPr algn="ctr">
              <a:defRPr sz="1200" b="0">
                <a:solidFill>
                  <a:srgbClr val="99A0A8"/>
                </a:solidFill>
                <a:latin typeface="Inter"/>
              </a:defRPr>
            </a:pPr>
            <a:r>
              <a:t>6</a:t>
            </a:r>
          </a:p>
        </p:txBody>
      </p:sp>
      <p:sp>
        <p:nvSpPr>
          <p:cNvPr id="56" name="TextBox 55"/>
          <p:cNvSpPr txBox="1"/>
          <p:nvPr/>
        </p:nvSpPr>
        <p:spPr>
          <a:xfrm>
            <a:off x="5943600" y="4407408"/>
            <a:ext cx="1463040" cy="274320"/>
          </a:xfrm>
          <a:prstGeom prst="rect">
            <a:avLst/>
          </a:prstGeom>
          <a:noFill/>
        </p:spPr>
        <p:txBody>
          <a:bodyPr wrap="square"/>
          <a:lstStyle/>
          <a:p>
            <a:pPr algn="ctr">
              <a:defRPr sz="1200" b="0">
                <a:solidFill>
                  <a:srgbClr val="6BA37E"/>
                </a:solidFill>
                <a:latin typeface="Inter"/>
              </a:defRPr>
            </a:pPr>
            <a:r>
              <a:t>7</a:t>
            </a:r>
          </a:p>
        </p:txBody>
      </p:sp>
      <p:sp>
        <p:nvSpPr>
          <p:cNvPr id="57" name="TextBox 56"/>
          <p:cNvSpPr txBox="1"/>
          <p:nvPr/>
        </p:nvSpPr>
        <p:spPr>
          <a:xfrm>
            <a:off x="7589520" y="4407408"/>
            <a:ext cx="1463040" cy="274320"/>
          </a:xfrm>
          <a:prstGeom prst="rect">
            <a:avLst/>
          </a:prstGeom>
          <a:noFill/>
        </p:spPr>
        <p:txBody>
          <a:bodyPr wrap="square"/>
          <a:lstStyle/>
          <a:p>
            <a:pPr algn="ctr">
              <a:defRPr sz="1200" b="0">
                <a:solidFill>
                  <a:srgbClr val="9B7EB8"/>
                </a:solidFill>
                <a:latin typeface="Inter"/>
              </a:defRPr>
            </a:pPr>
            <a:r>
              <a:t>7</a:t>
            </a:r>
          </a:p>
        </p:txBody>
      </p:sp>
      <p:sp>
        <p:nvSpPr>
          <p:cNvPr id="58" name="TextBox 57"/>
          <p:cNvSpPr txBox="1"/>
          <p:nvPr/>
        </p:nvSpPr>
        <p:spPr>
          <a:xfrm>
            <a:off x="9235440" y="4407408"/>
            <a:ext cx="1463040" cy="274320"/>
          </a:xfrm>
          <a:prstGeom prst="rect">
            <a:avLst/>
          </a:prstGeom>
          <a:noFill/>
        </p:spPr>
        <p:txBody>
          <a:bodyPr wrap="square"/>
          <a:lstStyle/>
          <a:p>
            <a:pPr algn="ctr">
              <a:defRPr sz="1200" b="0">
                <a:solidFill>
                  <a:srgbClr val="99A0A8"/>
                </a:solidFill>
                <a:latin typeface="Inter"/>
              </a:defRPr>
            </a:pPr>
            <a:r>
              <a:t>5</a:t>
            </a:r>
          </a:p>
        </p:txBody>
      </p:sp>
      <p:sp>
        <p:nvSpPr>
          <p:cNvPr id="59" name="Rectangle 58"/>
          <p:cNvSpPr/>
          <p:nvPr/>
        </p:nvSpPr>
        <p:spPr>
          <a:xfrm>
            <a:off x="548640" y="470916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4727448"/>
            <a:ext cx="3200400" cy="274320"/>
          </a:xfrm>
          <a:prstGeom prst="rect">
            <a:avLst/>
          </a:prstGeom>
          <a:noFill/>
        </p:spPr>
        <p:txBody>
          <a:bodyPr wrap="square"/>
          <a:lstStyle/>
          <a:p>
            <a:pPr algn="l">
              <a:defRPr sz="1100" b="0">
                <a:solidFill>
                  <a:srgbClr val="1A1D21"/>
                </a:solidFill>
                <a:latin typeface="Inter"/>
              </a:defRPr>
            </a:pPr>
            <a:r>
              <a:t>Echoes (Pattern Discovery)</a:t>
            </a:r>
          </a:p>
        </p:txBody>
      </p:sp>
      <p:sp>
        <p:nvSpPr>
          <p:cNvPr id="61" name="TextBox 60"/>
          <p:cNvSpPr txBox="1"/>
          <p:nvPr/>
        </p:nvSpPr>
        <p:spPr>
          <a:xfrm>
            <a:off x="4114800" y="4727448"/>
            <a:ext cx="1645920" cy="274320"/>
          </a:xfrm>
          <a:prstGeom prst="rect">
            <a:avLst/>
          </a:prstGeom>
          <a:noFill/>
        </p:spPr>
        <p:txBody>
          <a:bodyPr wrap="square"/>
          <a:lstStyle/>
          <a:p>
            <a:pPr algn="ctr">
              <a:defRPr sz="1200" b="0">
                <a:solidFill>
                  <a:srgbClr val="5B8DB8"/>
                </a:solidFill>
                <a:latin typeface="Inter"/>
              </a:defRPr>
            </a:pPr>
            <a:r>
              <a:t>7</a:t>
            </a:r>
          </a:p>
        </p:txBody>
      </p:sp>
      <p:sp>
        <p:nvSpPr>
          <p:cNvPr id="62" name="TextBox 61"/>
          <p:cNvSpPr txBox="1"/>
          <p:nvPr/>
        </p:nvSpPr>
        <p:spPr>
          <a:xfrm>
            <a:off x="5943600" y="4727448"/>
            <a:ext cx="1463040" cy="274320"/>
          </a:xfrm>
          <a:prstGeom prst="rect">
            <a:avLst/>
          </a:prstGeom>
          <a:noFill/>
        </p:spPr>
        <p:txBody>
          <a:bodyPr wrap="square"/>
          <a:lstStyle/>
          <a:p>
            <a:pPr algn="ctr">
              <a:defRPr sz="1200" b="0">
                <a:solidFill>
                  <a:srgbClr val="6BA37E"/>
                </a:solidFill>
                <a:latin typeface="Inter"/>
              </a:defRPr>
            </a:pPr>
            <a:r>
              <a:t>8</a:t>
            </a:r>
          </a:p>
        </p:txBody>
      </p:sp>
      <p:sp>
        <p:nvSpPr>
          <p:cNvPr id="63" name="TextBox 62"/>
          <p:cNvSpPr txBox="1"/>
          <p:nvPr/>
        </p:nvSpPr>
        <p:spPr>
          <a:xfrm>
            <a:off x="7589520" y="4727448"/>
            <a:ext cx="1463040" cy="274320"/>
          </a:xfrm>
          <a:prstGeom prst="rect">
            <a:avLst/>
          </a:prstGeom>
          <a:noFill/>
        </p:spPr>
        <p:txBody>
          <a:bodyPr wrap="square"/>
          <a:lstStyle/>
          <a:p>
            <a:pPr algn="ctr">
              <a:defRPr sz="1200" b="0">
                <a:solidFill>
                  <a:srgbClr val="99A0A8"/>
                </a:solidFill>
                <a:latin typeface="Inter"/>
              </a:defRPr>
            </a:pPr>
            <a:r>
              <a:t>6</a:t>
            </a:r>
          </a:p>
        </p:txBody>
      </p:sp>
      <p:sp>
        <p:nvSpPr>
          <p:cNvPr id="64" name="TextBox 63"/>
          <p:cNvSpPr txBox="1"/>
          <p:nvPr/>
        </p:nvSpPr>
        <p:spPr>
          <a:xfrm>
            <a:off x="9235440" y="4727448"/>
            <a:ext cx="1463040" cy="274320"/>
          </a:xfrm>
          <a:prstGeom prst="rect">
            <a:avLst/>
          </a:prstGeom>
          <a:noFill/>
        </p:spPr>
        <p:txBody>
          <a:bodyPr wrap="square"/>
          <a:lstStyle/>
          <a:p>
            <a:pPr algn="ctr">
              <a:defRPr sz="1200" b="0">
                <a:solidFill>
                  <a:srgbClr val="C47A5A"/>
                </a:solidFill>
                <a:latin typeface="Inter"/>
              </a:defRPr>
            </a:pPr>
            <a:r>
              <a:t>8</a:t>
            </a:r>
          </a:p>
        </p:txBody>
      </p:sp>
      <p:sp>
        <p:nvSpPr>
          <p:cNvPr id="65" name="Rectangle 64"/>
          <p:cNvSpPr/>
          <p:nvPr/>
        </p:nvSpPr>
        <p:spPr>
          <a:xfrm>
            <a:off x="548640" y="502920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 y="5047488"/>
            <a:ext cx="3200400" cy="274320"/>
          </a:xfrm>
          <a:prstGeom prst="rect">
            <a:avLst/>
          </a:prstGeom>
          <a:noFill/>
        </p:spPr>
        <p:txBody>
          <a:bodyPr wrap="square"/>
          <a:lstStyle/>
          <a:p>
            <a:pPr algn="l">
              <a:defRPr sz="1100" b="0">
                <a:solidFill>
                  <a:srgbClr val="1A1D21"/>
                </a:solidFill>
                <a:latin typeface="Inter"/>
              </a:defRPr>
            </a:pPr>
            <a:r>
              <a:t>On-Device Privacy</a:t>
            </a:r>
          </a:p>
        </p:txBody>
      </p:sp>
      <p:sp>
        <p:nvSpPr>
          <p:cNvPr id="67" name="TextBox 66"/>
          <p:cNvSpPr txBox="1"/>
          <p:nvPr/>
        </p:nvSpPr>
        <p:spPr>
          <a:xfrm>
            <a:off x="4114800" y="5047488"/>
            <a:ext cx="1645920" cy="274320"/>
          </a:xfrm>
          <a:prstGeom prst="rect">
            <a:avLst/>
          </a:prstGeom>
          <a:noFill/>
        </p:spPr>
        <p:txBody>
          <a:bodyPr wrap="square"/>
          <a:lstStyle/>
          <a:p>
            <a:pPr algn="ctr">
              <a:defRPr sz="1200" b="0">
                <a:solidFill>
                  <a:srgbClr val="99A0A8"/>
                </a:solidFill>
                <a:latin typeface="Inter"/>
              </a:defRPr>
            </a:pPr>
            <a:r>
              <a:t>6</a:t>
            </a:r>
          </a:p>
        </p:txBody>
      </p:sp>
      <p:sp>
        <p:nvSpPr>
          <p:cNvPr id="68" name="TextBox 67"/>
          <p:cNvSpPr txBox="1"/>
          <p:nvPr/>
        </p:nvSpPr>
        <p:spPr>
          <a:xfrm>
            <a:off x="5943600" y="5047488"/>
            <a:ext cx="1463040" cy="274320"/>
          </a:xfrm>
          <a:prstGeom prst="rect">
            <a:avLst/>
          </a:prstGeom>
          <a:noFill/>
        </p:spPr>
        <p:txBody>
          <a:bodyPr wrap="square"/>
          <a:lstStyle/>
          <a:p>
            <a:pPr algn="ctr">
              <a:defRPr sz="1200" b="0">
                <a:solidFill>
                  <a:srgbClr val="6BA37E"/>
                </a:solidFill>
                <a:latin typeface="Inter"/>
              </a:defRPr>
            </a:pPr>
            <a:r>
              <a:t>7</a:t>
            </a:r>
          </a:p>
        </p:txBody>
      </p:sp>
      <p:sp>
        <p:nvSpPr>
          <p:cNvPr id="69" name="TextBox 68"/>
          <p:cNvSpPr txBox="1"/>
          <p:nvPr/>
        </p:nvSpPr>
        <p:spPr>
          <a:xfrm>
            <a:off x="7589520" y="5047488"/>
            <a:ext cx="1463040" cy="274320"/>
          </a:xfrm>
          <a:prstGeom prst="rect">
            <a:avLst/>
          </a:prstGeom>
          <a:noFill/>
        </p:spPr>
        <p:txBody>
          <a:bodyPr wrap="square"/>
          <a:lstStyle/>
          <a:p>
            <a:pPr algn="ctr">
              <a:defRPr sz="1200" b="1">
                <a:solidFill>
                  <a:srgbClr val="2D7D46"/>
                </a:solidFill>
                <a:latin typeface="Inter"/>
              </a:defRPr>
            </a:pPr>
            <a:r>
              <a:t>10</a:t>
            </a:r>
          </a:p>
        </p:txBody>
      </p:sp>
      <p:sp>
        <p:nvSpPr>
          <p:cNvPr id="70" name="TextBox 69"/>
          <p:cNvSpPr txBox="1"/>
          <p:nvPr/>
        </p:nvSpPr>
        <p:spPr>
          <a:xfrm>
            <a:off x="9235440" y="5047488"/>
            <a:ext cx="1463040" cy="274320"/>
          </a:xfrm>
          <a:prstGeom prst="rect">
            <a:avLst/>
          </a:prstGeom>
          <a:noFill/>
        </p:spPr>
        <p:txBody>
          <a:bodyPr wrap="square"/>
          <a:lstStyle/>
          <a:p>
            <a:pPr algn="ctr">
              <a:defRPr sz="1200" b="0">
                <a:solidFill>
                  <a:srgbClr val="99A0A8"/>
                </a:solidFill>
                <a:latin typeface="Inter"/>
              </a:defRPr>
            </a:pPr>
            <a:r>
              <a:t>6</a:t>
            </a:r>
          </a:p>
        </p:txBody>
      </p:sp>
      <p:sp>
        <p:nvSpPr>
          <p:cNvPr id="71" name="Rectangle 70"/>
          <p:cNvSpPr/>
          <p:nvPr/>
        </p:nvSpPr>
        <p:spPr>
          <a:xfrm>
            <a:off x="548640" y="534924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31520" y="5367528"/>
            <a:ext cx="3200400" cy="274320"/>
          </a:xfrm>
          <a:prstGeom prst="rect">
            <a:avLst/>
          </a:prstGeom>
          <a:noFill/>
        </p:spPr>
        <p:txBody>
          <a:bodyPr wrap="square"/>
          <a:lstStyle/>
          <a:p>
            <a:pPr algn="l">
              <a:defRPr sz="1100" b="0">
                <a:solidFill>
                  <a:srgbClr val="1A1D21"/>
                </a:solidFill>
                <a:latin typeface="Inter"/>
              </a:defRPr>
            </a:pPr>
            <a:r>
              <a:t>No Audio Storage</a:t>
            </a:r>
          </a:p>
        </p:txBody>
      </p:sp>
      <p:sp>
        <p:nvSpPr>
          <p:cNvPr id="73" name="TextBox 72"/>
          <p:cNvSpPr txBox="1"/>
          <p:nvPr/>
        </p:nvSpPr>
        <p:spPr>
          <a:xfrm>
            <a:off x="4114800" y="5367528"/>
            <a:ext cx="1645920" cy="274320"/>
          </a:xfrm>
          <a:prstGeom prst="rect">
            <a:avLst/>
          </a:prstGeom>
          <a:noFill/>
        </p:spPr>
        <p:txBody>
          <a:bodyPr wrap="square"/>
          <a:lstStyle/>
          <a:p>
            <a:pPr algn="ctr">
              <a:defRPr sz="1200" b="0">
                <a:solidFill>
                  <a:srgbClr val="99A0A8"/>
                </a:solidFill>
                <a:latin typeface="Inter"/>
              </a:defRPr>
            </a:pPr>
            <a:r>
              <a:t>5</a:t>
            </a:r>
          </a:p>
        </p:txBody>
      </p:sp>
      <p:sp>
        <p:nvSpPr>
          <p:cNvPr id="74" name="TextBox 73"/>
          <p:cNvSpPr txBox="1"/>
          <p:nvPr/>
        </p:nvSpPr>
        <p:spPr>
          <a:xfrm>
            <a:off x="5943600" y="5367528"/>
            <a:ext cx="1463040" cy="274320"/>
          </a:xfrm>
          <a:prstGeom prst="rect">
            <a:avLst/>
          </a:prstGeom>
          <a:noFill/>
        </p:spPr>
        <p:txBody>
          <a:bodyPr wrap="square"/>
          <a:lstStyle/>
          <a:p>
            <a:pPr algn="ctr">
              <a:defRPr sz="1200" b="0">
                <a:solidFill>
                  <a:srgbClr val="99A0A8"/>
                </a:solidFill>
                <a:latin typeface="Inter"/>
              </a:defRPr>
            </a:pPr>
            <a:r>
              <a:t>5</a:t>
            </a:r>
          </a:p>
        </p:txBody>
      </p:sp>
      <p:sp>
        <p:nvSpPr>
          <p:cNvPr id="75" name="TextBox 74"/>
          <p:cNvSpPr txBox="1"/>
          <p:nvPr/>
        </p:nvSpPr>
        <p:spPr>
          <a:xfrm>
            <a:off x="7589520" y="5367528"/>
            <a:ext cx="1463040" cy="274320"/>
          </a:xfrm>
          <a:prstGeom prst="rect">
            <a:avLst/>
          </a:prstGeom>
          <a:noFill/>
        </p:spPr>
        <p:txBody>
          <a:bodyPr wrap="square"/>
          <a:lstStyle/>
          <a:p>
            <a:pPr algn="ctr">
              <a:defRPr sz="1200" b="1">
                <a:solidFill>
                  <a:srgbClr val="2D7D46"/>
                </a:solidFill>
                <a:latin typeface="Inter"/>
              </a:defRPr>
            </a:pPr>
            <a:r>
              <a:t>10</a:t>
            </a:r>
          </a:p>
        </p:txBody>
      </p:sp>
      <p:sp>
        <p:nvSpPr>
          <p:cNvPr id="76" name="TextBox 75"/>
          <p:cNvSpPr txBox="1"/>
          <p:nvPr/>
        </p:nvSpPr>
        <p:spPr>
          <a:xfrm>
            <a:off x="9235440" y="5367528"/>
            <a:ext cx="1463040" cy="274320"/>
          </a:xfrm>
          <a:prstGeom prst="rect">
            <a:avLst/>
          </a:prstGeom>
          <a:noFill/>
        </p:spPr>
        <p:txBody>
          <a:bodyPr wrap="square"/>
          <a:lstStyle/>
          <a:p>
            <a:pPr algn="ctr">
              <a:defRPr sz="1200" b="0">
                <a:solidFill>
                  <a:srgbClr val="99A0A8"/>
                </a:solidFill>
                <a:latin typeface="Inter"/>
              </a:defRPr>
            </a:pPr>
            <a:r>
              <a:t>5</a:t>
            </a:r>
          </a:p>
        </p:txBody>
      </p:sp>
      <p:sp>
        <p:nvSpPr>
          <p:cNvPr id="77" name="Rectangle 76"/>
          <p:cNvSpPr/>
          <p:nvPr/>
        </p:nvSpPr>
        <p:spPr>
          <a:xfrm>
            <a:off x="548640" y="566928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5687568"/>
            <a:ext cx="3200400" cy="274320"/>
          </a:xfrm>
          <a:prstGeom prst="rect">
            <a:avLst/>
          </a:prstGeom>
          <a:noFill/>
        </p:spPr>
        <p:txBody>
          <a:bodyPr wrap="square"/>
          <a:lstStyle/>
          <a:p>
            <a:pPr algn="l">
              <a:defRPr sz="1100" b="0">
                <a:solidFill>
                  <a:srgbClr val="1A1D21"/>
                </a:solidFill>
                <a:latin typeface="Inter"/>
              </a:defRPr>
            </a:pPr>
            <a:r>
              <a:t>Trend Lines &amp; Trajectories</a:t>
            </a:r>
          </a:p>
        </p:txBody>
      </p:sp>
      <p:sp>
        <p:nvSpPr>
          <p:cNvPr id="79" name="TextBox 78"/>
          <p:cNvSpPr txBox="1"/>
          <p:nvPr/>
        </p:nvSpPr>
        <p:spPr>
          <a:xfrm>
            <a:off x="4114800" y="5687568"/>
            <a:ext cx="1645920" cy="274320"/>
          </a:xfrm>
          <a:prstGeom prst="rect">
            <a:avLst/>
          </a:prstGeom>
          <a:noFill/>
        </p:spPr>
        <p:txBody>
          <a:bodyPr wrap="square"/>
          <a:lstStyle/>
          <a:p>
            <a:pPr algn="ctr">
              <a:defRPr sz="1200" b="0">
                <a:solidFill>
                  <a:srgbClr val="5B8DB8"/>
                </a:solidFill>
                <a:latin typeface="Inter"/>
              </a:defRPr>
            </a:pPr>
            <a:r>
              <a:t>8</a:t>
            </a:r>
          </a:p>
        </p:txBody>
      </p:sp>
      <p:sp>
        <p:nvSpPr>
          <p:cNvPr id="80" name="TextBox 79"/>
          <p:cNvSpPr txBox="1"/>
          <p:nvPr/>
        </p:nvSpPr>
        <p:spPr>
          <a:xfrm>
            <a:off x="5943600" y="5687568"/>
            <a:ext cx="1463040" cy="274320"/>
          </a:xfrm>
          <a:prstGeom prst="rect">
            <a:avLst/>
          </a:prstGeom>
          <a:noFill/>
        </p:spPr>
        <p:txBody>
          <a:bodyPr wrap="square"/>
          <a:lstStyle/>
          <a:p>
            <a:pPr algn="ctr">
              <a:defRPr sz="1200" b="1">
                <a:solidFill>
                  <a:srgbClr val="2D7D46"/>
                </a:solidFill>
                <a:latin typeface="Inter"/>
              </a:defRPr>
            </a:pPr>
            <a:r>
              <a:t>9</a:t>
            </a:r>
          </a:p>
        </p:txBody>
      </p:sp>
      <p:sp>
        <p:nvSpPr>
          <p:cNvPr id="81" name="TextBox 80"/>
          <p:cNvSpPr txBox="1"/>
          <p:nvPr/>
        </p:nvSpPr>
        <p:spPr>
          <a:xfrm>
            <a:off x="7589520" y="5687568"/>
            <a:ext cx="1463040" cy="274320"/>
          </a:xfrm>
          <a:prstGeom prst="rect">
            <a:avLst/>
          </a:prstGeom>
          <a:noFill/>
        </p:spPr>
        <p:txBody>
          <a:bodyPr wrap="square"/>
          <a:lstStyle/>
          <a:p>
            <a:pPr algn="ctr">
              <a:defRPr sz="1200" b="0">
                <a:solidFill>
                  <a:srgbClr val="9B7EB8"/>
                </a:solidFill>
                <a:latin typeface="Inter"/>
              </a:defRPr>
            </a:pPr>
            <a:r>
              <a:t>8</a:t>
            </a:r>
          </a:p>
        </p:txBody>
      </p:sp>
      <p:sp>
        <p:nvSpPr>
          <p:cNvPr id="82" name="TextBox 81"/>
          <p:cNvSpPr txBox="1"/>
          <p:nvPr/>
        </p:nvSpPr>
        <p:spPr>
          <a:xfrm>
            <a:off x="9235440" y="5687568"/>
            <a:ext cx="1463040" cy="274320"/>
          </a:xfrm>
          <a:prstGeom prst="rect">
            <a:avLst/>
          </a:prstGeom>
          <a:noFill/>
        </p:spPr>
        <p:txBody>
          <a:bodyPr wrap="square"/>
          <a:lstStyle/>
          <a:p>
            <a:pPr algn="ctr">
              <a:defRPr sz="1200" b="1">
                <a:solidFill>
                  <a:srgbClr val="2D7D46"/>
                </a:solidFill>
                <a:latin typeface="Inter"/>
              </a:defRPr>
            </a:pPr>
            <a:r>
              <a:t>9</a:t>
            </a:r>
          </a:p>
        </p:txBody>
      </p:sp>
      <p:sp>
        <p:nvSpPr>
          <p:cNvPr id="83" name="Rectangle 82"/>
          <p:cNvSpPr/>
          <p:nvPr/>
        </p:nvSpPr>
        <p:spPr>
          <a:xfrm>
            <a:off x="548640" y="5989320"/>
            <a:ext cx="10972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1520" y="6007608"/>
            <a:ext cx="3200400" cy="274320"/>
          </a:xfrm>
          <a:prstGeom prst="rect">
            <a:avLst/>
          </a:prstGeom>
          <a:noFill/>
        </p:spPr>
        <p:txBody>
          <a:bodyPr wrap="square"/>
          <a:lstStyle/>
          <a:p>
            <a:pPr algn="l">
              <a:defRPr sz="1100" b="0">
                <a:solidFill>
                  <a:srgbClr val="1A1D21"/>
                </a:solidFill>
                <a:latin typeface="Inter"/>
              </a:defRPr>
            </a:pPr>
            <a:r>
              <a:t>API Access</a:t>
            </a:r>
          </a:p>
        </p:txBody>
      </p:sp>
      <p:sp>
        <p:nvSpPr>
          <p:cNvPr id="85" name="TextBox 84"/>
          <p:cNvSpPr txBox="1"/>
          <p:nvPr/>
        </p:nvSpPr>
        <p:spPr>
          <a:xfrm>
            <a:off x="4114800" y="6007608"/>
            <a:ext cx="1645920" cy="274320"/>
          </a:xfrm>
          <a:prstGeom prst="rect">
            <a:avLst/>
          </a:prstGeom>
          <a:noFill/>
        </p:spPr>
        <p:txBody>
          <a:bodyPr wrap="square"/>
          <a:lstStyle/>
          <a:p>
            <a:pPr algn="ctr">
              <a:defRPr sz="1200" b="0">
                <a:solidFill>
                  <a:srgbClr val="99A0A8"/>
                </a:solidFill>
                <a:latin typeface="Inter"/>
              </a:defRPr>
            </a:pPr>
            <a:r>
              <a:t>5</a:t>
            </a:r>
          </a:p>
        </p:txBody>
      </p:sp>
      <p:sp>
        <p:nvSpPr>
          <p:cNvPr id="86" name="TextBox 85"/>
          <p:cNvSpPr txBox="1"/>
          <p:nvPr/>
        </p:nvSpPr>
        <p:spPr>
          <a:xfrm>
            <a:off x="5943600" y="6007608"/>
            <a:ext cx="1463040" cy="274320"/>
          </a:xfrm>
          <a:prstGeom prst="rect">
            <a:avLst/>
          </a:prstGeom>
          <a:noFill/>
        </p:spPr>
        <p:txBody>
          <a:bodyPr wrap="square"/>
          <a:lstStyle/>
          <a:p>
            <a:pPr algn="ctr">
              <a:defRPr sz="1200" b="0">
                <a:solidFill>
                  <a:srgbClr val="6BA37E"/>
                </a:solidFill>
                <a:latin typeface="Inter"/>
              </a:defRPr>
            </a:pPr>
            <a:r>
              <a:t>8</a:t>
            </a:r>
          </a:p>
        </p:txBody>
      </p:sp>
      <p:sp>
        <p:nvSpPr>
          <p:cNvPr id="87" name="TextBox 86"/>
          <p:cNvSpPr txBox="1"/>
          <p:nvPr/>
        </p:nvSpPr>
        <p:spPr>
          <a:xfrm>
            <a:off x="7589520" y="6007608"/>
            <a:ext cx="1463040" cy="274320"/>
          </a:xfrm>
          <a:prstGeom prst="rect">
            <a:avLst/>
          </a:prstGeom>
          <a:noFill/>
        </p:spPr>
        <p:txBody>
          <a:bodyPr wrap="square"/>
          <a:lstStyle/>
          <a:p>
            <a:pPr algn="ctr">
              <a:defRPr sz="1200" b="0">
                <a:solidFill>
                  <a:srgbClr val="9B7EB8"/>
                </a:solidFill>
                <a:latin typeface="Inter"/>
              </a:defRPr>
            </a:pPr>
            <a:r>
              <a:t>8</a:t>
            </a:r>
          </a:p>
        </p:txBody>
      </p:sp>
      <p:sp>
        <p:nvSpPr>
          <p:cNvPr id="88" name="TextBox 87"/>
          <p:cNvSpPr txBox="1"/>
          <p:nvPr/>
        </p:nvSpPr>
        <p:spPr>
          <a:xfrm>
            <a:off x="9235440" y="6007608"/>
            <a:ext cx="1463040" cy="274320"/>
          </a:xfrm>
          <a:prstGeom prst="rect">
            <a:avLst/>
          </a:prstGeom>
          <a:noFill/>
        </p:spPr>
        <p:txBody>
          <a:bodyPr wrap="square"/>
          <a:lstStyle/>
          <a:p>
            <a:pPr algn="ctr">
              <a:defRPr sz="1200" b="0">
                <a:solidFill>
                  <a:srgbClr val="99A0A8"/>
                </a:solidFill>
                <a:latin typeface="Inter"/>
              </a:defRPr>
            </a:pPr>
            <a:r>
              <a:t>6</a:t>
            </a:r>
          </a:p>
        </p:txBody>
      </p:sp>
      <p:sp>
        <p:nvSpPr>
          <p:cNvPr id="89" name="Rectangle 88"/>
          <p:cNvSpPr/>
          <p:nvPr/>
        </p:nvSpPr>
        <p:spPr>
          <a:xfrm>
            <a:off x="548640" y="6309360"/>
            <a:ext cx="10972800" cy="32004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31520" y="6327648"/>
            <a:ext cx="3200400" cy="274320"/>
          </a:xfrm>
          <a:prstGeom prst="rect">
            <a:avLst/>
          </a:prstGeom>
          <a:noFill/>
        </p:spPr>
        <p:txBody>
          <a:bodyPr wrap="square"/>
          <a:lstStyle/>
          <a:p>
            <a:pPr algn="l">
              <a:defRPr sz="1100" b="0">
                <a:solidFill>
                  <a:srgbClr val="1A1D21"/>
                </a:solidFill>
                <a:latin typeface="Inter"/>
              </a:defRPr>
            </a:pPr>
            <a:r>
              <a:t>Data Export (CSV/JSON)</a:t>
            </a:r>
          </a:p>
        </p:txBody>
      </p:sp>
      <p:sp>
        <p:nvSpPr>
          <p:cNvPr id="91" name="TextBox 90"/>
          <p:cNvSpPr txBox="1"/>
          <p:nvPr/>
        </p:nvSpPr>
        <p:spPr>
          <a:xfrm>
            <a:off x="4114800" y="6327648"/>
            <a:ext cx="1645920" cy="274320"/>
          </a:xfrm>
          <a:prstGeom prst="rect">
            <a:avLst/>
          </a:prstGeom>
          <a:noFill/>
        </p:spPr>
        <p:txBody>
          <a:bodyPr wrap="square"/>
          <a:lstStyle/>
          <a:p>
            <a:pPr algn="ctr">
              <a:defRPr sz="1200" b="0">
                <a:solidFill>
                  <a:srgbClr val="99A0A8"/>
                </a:solidFill>
                <a:latin typeface="Inter"/>
              </a:defRPr>
            </a:pPr>
            <a:r>
              <a:t>5</a:t>
            </a:r>
          </a:p>
        </p:txBody>
      </p:sp>
      <p:sp>
        <p:nvSpPr>
          <p:cNvPr id="92" name="TextBox 91"/>
          <p:cNvSpPr txBox="1"/>
          <p:nvPr/>
        </p:nvSpPr>
        <p:spPr>
          <a:xfrm>
            <a:off x="5943600" y="6327648"/>
            <a:ext cx="1463040" cy="274320"/>
          </a:xfrm>
          <a:prstGeom prst="rect">
            <a:avLst/>
          </a:prstGeom>
          <a:noFill/>
        </p:spPr>
        <p:txBody>
          <a:bodyPr wrap="square"/>
          <a:lstStyle/>
          <a:p>
            <a:pPr algn="ctr">
              <a:defRPr sz="1200" b="0">
                <a:solidFill>
                  <a:srgbClr val="6BA37E"/>
                </a:solidFill>
                <a:latin typeface="Inter"/>
              </a:defRPr>
            </a:pPr>
            <a:r>
              <a:t>8</a:t>
            </a:r>
          </a:p>
        </p:txBody>
      </p:sp>
      <p:sp>
        <p:nvSpPr>
          <p:cNvPr id="93" name="TextBox 92"/>
          <p:cNvSpPr txBox="1"/>
          <p:nvPr/>
        </p:nvSpPr>
        <p:spPr>
          <a:xfrm>
            <a:off x="7589520" y="6327648"/>
            <a:ext cx="1463040" cy="274320"/>
          </a:xfrm>
          <a:prstGeom prst="rect">
            <a:avLst/>
          </a:prstGeom>
          <a:noFill/>
        </p:spPr>
        <p:txBody>
          <a:bodyPr wrap="square"/>
          <a:lstStyle/>
          <a:p>
            <a:pPr algn="ctr">
              <a:defRPr sz="1200" b="0">
                <a:solidFill>
                  <a:srgbClr val="9B7EB8"/>
                </a:solidFill>
                <a:latin typeface="Inter"/>
              </a:defRPr>
            </a:pPr>
            <a:r>
              <a:t>8</a:t>
            </a:r>
          </a:p>
        </p:txBody>
      </p:sp>
      <p:sp>
        <p:nvSpPr>
          <p:cNvPr id="94" name="TextBox 93"/>
          <p:cNvSpPr txBox="1"/>
          <p:nvPr/>
        </p:nvSpPr>
        <p:spPr>
          <a:xfrm>
            <a:off x="9235440" y="6327648"/>
            <a:ext cx="1463040" cy="274320"/>
          </a:xfrm>
          <a:prstGeom prst="rect">
            <a:avLst/>
          </a:prstGeom>
          <a:noFill/>
        </p:spPr>
        <p:txBody>
          <a:bodyPr wrap="square"/>
          <a:lstStyle/>
          <a:p>
            <a:pPr algn="ctr">
              <a:defRPr sz="1200" b="0">
                <a:solidFill>
                  <a:srgbClr val="99A0A8"/>
                </a:solidFill>
                <a:latin typeface="Inter"/>
              </a:defRPr>
            </a:pPr>
            <a:r>
              <a:t>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315200" cy="457200"/>
          </a:xfrm>
          <a:prstGeom prst="rect">
            <a:avLst/>
          </a:prstGeom>
          <a:noFill/>
        </p:spPr>
        <p:txBody>
          <a:bodyPr wrap="square"/>
          <a:lstStyle/>
          <a:p>
            <a:pPr algn="l">
              <a:defRPr sz="2800" b="1">
                <a:solidFill>
                  <a:srgbClr val="1A1D21"/>
                </a:solidFill>
                <a:latin typeface="Playfair Display"/>
              </a:defRPr>
            </a:pPr>
            <a:r>
              <a:t>Messaging Framework by Persona</a:t>
            </a:r>
          </a:p>
        </p:txBody>
      </p:sp>
      <p:sp>
        <p:nvSpPr>
          <p:cNvPr id="3" name="Rectangle 2"/>
          <p:cNvSpPr/>
          <p:nvPr/>
        </p:nvSpPr>
        <p:spPr>
          <a:xfrm>
            <a:off x="731520" y="91440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2651760" cy="53035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88720"/>
            <a:ext cx="2651760" cy="635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71600"/>
            <a:ext cx="2377440" cy="365760"/>
          </a:xfrm>
          <a:prstGeom prst="rect">
            <a:avLst/>
          </a:prstGeom>
          <a:noFill/>
        </p:spPr>
        <p:txBody>
          <a:bodyPr wrap="square"/>
          <a:lstStyle/>
          <a:p>
            <a:pPr algn="l">
              <a:defRPr sz="1400" b="1">
                <a:solidFill>
                  <a:srgbClr val="1A1D21"/>
                </a:solidFill>
                <a:latin typeface="Playfair Display"/>
              </a:defRPr>
            </a:pPr>
            <a:r>
              <a:t>The Burned-Out Builder</a:t>
            </a:r>
          </a:p>
        </p:txBody>
      </p:sp>
      <p:sp>
        <p:nvSpPr>
          <p:cNvPr id="7" name="TextBox 6"/>
          <p:cNvSpPr txBox="1"/>
          <p:nvPr/>
        </p:nvSpPr>
        <p:spPr>
          <a:xfrm>
            <a:off x="868680" y="1737360"/>
            <a:ext cx="2377440" cy="228600"/>
          </a:xfrm>
          <a:prstGeom prst="rect">
            <a:avLst/>
          </a:prstGeom>
          <a:noFill/>
        </p:spPr>
        <p:txBody>
          <a:bodyPr wrap="square"/>
          <a:lstStyle/>
          <a:p>
            <a:pPr algn="l">
              <a:defRPr sz="1000" b="1">
                <a:solidFill>
                  <a:srgbClr val="5B8DB8"/>
                </a:solidFill>
                <a:latin typeface="Inter"/>
              </a:defRPr>
            </a:pPr>
            <a:r>
              <a:t>Lead With:</a:t>
            </a:r>
          </a:p>
        </p:txBody>
      </p:sp>
      <p:sp>
        <p:nvSpPr>
          <p:cNvPr id="8" name="TextBox 7"/>
          <p:cNvSpPr txBox="1"/>
          <p:nvPr/>
        </p:nvSpPr>
        <p:spPr>
          <a:xfrm>
            <a:off x="868680" y="1938528"/>
            <a:ext cx="2377440" cy="548640"/>
          </a:xfrm>
          <a:prstGeom prst="rect">
            <a:avLst/>
          </a:prstGeom>
          <a:noFill/>
        </p:spPr>
        <p:txBody>
          <a:bodyPr wrap="square"/>
          <a:lstStyle/>
          <a:p>
            <a:pPr algn="l">
              <a:defRPr sz="1000" b="0">
                <a:solidFill>
                  <a:srgbClr val="5A6270"/>
                </a:solidFill>
                <a:latin typeface="Inter"/>
              </a:defRPr>
            </a:pPr>
            <a:r>
              <a:t>Productivity impact — stress data as a work optimization tool</a:t>
            </a:r>
          </a:p>
        </p:txBody>
      </p:sp>
      <p:sp>
        <p:nvSpPr>
          <p:cNvPr id="9" name="TextBox 8"/>
          <p:cNvSpPr txBox="1"/>
          <p:nvPr/>
        </p:nvSpPr>
        <p:spPr>
          <a:xfrm>
            <a:off x="868680" y="2514600"/>
            <a:ext cx="2377440" cy="228600"/>
          </a:xfrm>
          <a:prstGeom prst="rect">
            <a:avLst/>
          </a:prstGeom>
          <a:noFill/>
        </p:spPr>
        <p:txBody>
          <a:bodyPr wrap="square"/>
          <a:lstStyle/>
          <a:p>
            <a:pPr algn="l">
              <a:defRPr sz="1000" b="1">
                <a:solidFill>
                  <a:srgbClr val="5B8DB8"/>
                </a:solidFill>
                <a:latin typeface="Inter"/>
              </a:defRPr>
            </a:pPr>
            <a:r>
              <a:t>Tone:</a:t>
            </a:r>
          </a:p>
        </p:txBody>
      </p:sp>
      <p:sp>
        <p:nvSpPr>
          <p:cNvPr id="10" name="TextBox 9"/>
          <p:cNvSpPr txBox="1"/>
          <p:nvPr/>
        </p:nvSpPr>
        <p:spPr>
          <a:xfrm>
            <a:off x="868680" y="2715768"/>
            <a:ext cx="2377440" cy="548640"/>
          </a:xfrm>
          <a:prstGeom prst="rect">
            <a:avLst/>
          </a:prstGeom>
          <a:noFill/>
        </p:spPr>
        <p:txBody>
          <a:bodyPr wrap="square"/>
          <a:lstStyle/>
          <a:p>
            <a:pPr algn="l">
              <a:defRPr sz="1000" b="0">
                <a:solidFill>
                  <a:srgbClr val="5A6270"/>
                </a:solidFill>
                <a:latin typeface="Inter"/>
              </a:defRPr>
            </a:pPr>
            <a:r>
              <a:t>Direct, data-driven, no-nonsense. Think: Notion, Linear, Arc.</a:t>
            </a:r>
          </a:p>
        </p:txBody>
      </p:sp>
      <p:sp>
        <p:nvSpPr>
          <p:cNvPr id="11" name="TextBox 10"/>
          <p:cNvSpPr txBox="1"/>
          <p:nvPr/>
        </p:nvSpPr>
        <p:spPr>
          <a:xfrm>
            <a:off x="868680" y="3291840"/>
            <a:ext cx="2377440" cy="228600"/>
          </a:xfrm>
          <a:prstGeom prst="rect">
            <a:avLst/>
          </a:prstGeom>
          <a:noFill/>
        </p:spPr>
        <p:txBody>
          <a:bodyPr wrap="square"/>
          <a:lstStyle/>
          <a:p>
            <a:pPr algn="l">
              <a:defRPr sz="1000" b="1">
                <a:solidFill>
                  <a:srgbClr val="5B8DB8"/>
                </a:solidFill>
                <a:latin typeface="Inter"/>
              </a:defRPr>
            </a:pPr>
            <a:r>
              <a:t>Avoid:</a:t>
            </a:r>
          </a:p>
        </p:txBody>
      </p:sp>
      <p:sp>
        <p:nvSpPr>
          <p:cNvPr id="12" name="TextBox 11"/>
          <p:cNvSpPr txBox="1"/>
          <p:nvPr/>
        </p:nvSpPr>
        <p:spPr>
          <a:xfrm>
            <a:off x="868680" y="3493008"/>
            <a:ext cx="2377440" cy="548640"/>
          </a:xfrm>
          <a:prstGeom prst="rect">
            <a:avLst/>
          </a:prstGeom>
          <a:noFill/>
        </p:spPr>
        <p:txBody>
          <a:bodyPr wrap="square"/>
          <a:lstStyle/>
          <a:p>
            <a:pPr algn="l">
              <a:defRPr sz="1000" b="0">
                <a:solidFill>
                  <a:srgbClr val="5A6270"/>
                </a:solidFill>
                <a:latin typeface="Inter"/>
              </a:defRPr>
            </a:pPr>
            <a:r>
              <a:t>Therapy language, vulnerability messaging, self-care framing</a:t>
            </a:r>
          </a:p>
        </p:txBody>
      </p:sp>
      <p:sp>
        <p:nvSpPr>
          <p:cNvPr id="13" name="TextBox 12"/>
          <p:cNvSpPr txBox="1"/>
          <p:nvPr/>
        </p:nvSpPr>
        <p:spPr>
          <a:xfrm>
            <a:off x="868680" y="4069080"/>
            <a:ext cx="2377440" cy="228600"/>
          </a:xfrm>
          <a:prstGeom prst="rect">
            <a:avLst/>
          </a:prstGeom>
          <a:noFill/>
        </p:spPr>
        <p:txBody>
          <a:bodyPr wrap="square"/>
          <a:lstStyle/>
          <a:p>
            <a:pPr algn="l">
              <a:defRPr sz="1000" b="1">
                <a:solidFill>
                  <a:srgbClr val="5B8DB8"/>
                </a:solidFill>
                <a:latin typeface="Inter"/>
              </a:defRPr>
            </a:pPr>
            <a:r>
              <a:t>Hero Stat:</a:t>
            </a:r>
          </a:p>
        </p:txBody>
      </p:sp>
      <p:sp>
        <p:nvSpPr>
          <p:cNvPr id="14" name="TextBox 13"/>
          <p:cNvSpPr txBox="1"/>
          <p:nvPr/>
        </p:nvSpPr>
        <p:spPr>
          <a:xfrm>
            <a:off x="868680" y="4270248"/>
            <a:ext cx="2377440" cy="548640"/>
          </a:xfrm>
          <a:prstGeom prst="rect">
            <a:avLst/>
          </a:prstGeom>
          <a:noFill/>
        </p:spPr>
        <p:txBody>
          <a:bodyPr wrap="square"/>
          <a:lstStyle/>
          <a:p>
            <a:pPr algn="l">
              <a:defRPr sz="1000" b="0">
                <a:solidFill>
                  <a:srgbClr val="5A6270"/>
                </a:solidFill>
                <a:latin typeface="Inter"/>
              </a:defRPr>
            </a:pPr>
            <a:r>
              <a:t>"23 meetings. 4 stress spikes. 1 that matters."</a:t>
            </a:r>
          </a:p>
        </p:txBody>
      </p:sp>
      <p:sp>
        <p:nvSpPr>
          <p:cNvPr id="15" name="TextBox 14"/>
          <p:cNvSpPr txBox="1"/>
          <p:nvPr/>
        </p:nvSpPr>
        <p:spPr>
          <a:xfrm>
            <a:off x="868680" y="4846320"/>
            <a:ext cx="2377440" cy="228600"/>
          </a:xfrm>
          <a:prstGeom prst="rect">
            <a:avLst/>
          </a:prstGeom>
          <a:noFill/>
        </p:spPr>
        <p:txBody>
          <a:bodyPr wrap="square"/>
          <a:lstStyle/>
          <a:p>
            <a:pPr algn="l">
              <a:defRPr sz="1000" b="1">
                <a:solidFill>
                  <a:srgbClr val="5B8DB8"/>
                </a:solidFill>
                <a:latin typeface="Inter"/>
              </a:defRPr>
            </a:pPr>
            <a:r>
              <a:t>CTA:</a:t>
            </a:r>
          </a:p>
        </p:txBody>
      </p:sp>
      <p:sp>
        <p:nvSpPr>
          <p:cNvPr id="16" name="TextBox 15"/>
          <p:cNvSpPr txBox="1"/>
          <p:nvPr/>
        </p:nvSpPr>
        <p:spPr>
          <a:xfrm>
            <a:off x="868680" y="5047488"/>
            <a:ext cx="2377440" cy="548640"/>
          </a:xfrm>
          <a:prstGeom prst="rect">
            <a:avLst/>
          </a:prstGeom>
          <a:noFill/>
        </p:spPr>
        <p:txBody>
          <a:bodyPr wrap="square"/>
          <a:lstStyle/>
          <a:p>
            <a:pPr algn="l">
              <a:defRPr sz="1000" b="0">
                <a:solidFill>
                  <a:srgbClr val="5A6270"/>
                </a:solidFill>
                <a:latin typeface="Inter"/>
              </a:defRPr>
            </a:pPr>
            <a:r>
              <a:t>"See Your Stress Patterns"</a:t>
            </a:r>
          </a:p>
        </p:txBody>
      </p:sp>
      <p:sp>
        <p:nvSpPr>
          <p:cNvPr id="17" name="Rounded Rectangle 16"/>
          <p:cNvSpPr/>
          <p:nvPr/>
        </p:nvSpPr>
        <p:spPr>
          <a:xfrm>
            <a:off x="3566160" y="1188720"/>
            <a:ext cx="2651760" cy="53035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66160" y="1188720"/>
            <a:ext cx="2651760" cy="635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03320" y="1371600"/>
            <a:ext cx="2377440" cy="365760"/>
          </a:xfrm>
          <a:prstGeom prst="rect">
            <a:avLst/>
          </a:prstGeom>
          <a:noFill/>
        </p:spPr>
        <p:txBody>
          <a:bodyPr wrap="square"/>
          <a:lstStyle/>
          <a:p>
            <a:pPr algn="l">
              <a:defRPr sz="1400" b="1">
                <a:solidFill>
                  <a:srgbClr val="1A1D21"/>
                </a:solidFill>
                <a:latin typeface="Playfair Display"/>
              </a:defRPr>
            </a:pPr>
            <a:r>
              <a:t>The Optimization Architect</a:t>
            </a:r>
          </a:p>
        </p:txBody>
      </p:sp>
      <p:sp>
        <p:nvSpPr>
          <p:cNvPr id="20" name="TextBox 19"/>
          <p:cNvSpPr txBox="1"/>
          <p:nvPr/>
        </p:nvSpPr>
        <p:spPr>
          <a:xfrm>
            <a:off x="3703320" y="1737360"/>
            <a:ext cx="2377440" cy="228600"/>
          </a:xfrm>
          <a:prstGeom prst="rect">
            <a:avLst/>
          </a:prstGeom>
          <a:noFill/>
        </p:spPr>
        <p:txBody>
          <a:bodyPr wrap="square"/>
          <a:lstStyle/>
          <a:p>
            <a:pPr algn="l">
              <a:defRPr sz="1000" b="1">
                <a:solidFill>
                  <a:srgbClr val="6BA37E"/>
                </a:solidFill>
                <a:latin typeface="Inter"/>
              </a:defRPr>
            </a:pPr>
            <a:r>
              <a:t>Lead With:</a:t>
            </a:r>
          </a:p>
        </p:txBody>
      </p:sp>
      <p:sp>
        <p:nvSpPr>
          <p:cNvPr id="21" name="TextBox 20"/>
          <p:cNvSpPr txBox="1"/>
          <p:nvPr/>
        </p:nvSpPr>
        <p:spPr>
          <a:xfrm>
            <a:off x="3703320" y="1938528"/>
            <a:ext cx="2377440" cy="548640"/>
          </a:xfrm>
          <a:prstGeom prst="rect">
            <a:avLst/>
          </a:prstGeom>
          <a:noFill/>
        </p:spPr>
        <p:txBody>
          <a:bodyPr wrap="square"/>
          <a:lstStyle/>
          <a:p>
            <a:pPr algn="l">
              <a:defRPr sz="1000" b="0">
                <a:solidFill>
                  <a:srgbClr val="5A6270"/>
                </a:solidFill>
                <a:latin typeface="Inter"/>
              </a:defRPr>
            </a:pPr>
            <a:r>
              <a:t>Data gap — the missing layer in their health stack</a:t>
            </a:r>
          </a:p>
        </p:txBody>
      </p:sp>
      <p:sp>
        <p:nvSpPr>
          <p:cNvPr id="22" name="TextBox 21"/>
          <p:cNvSpPr txBox="1"/>
          <p:nvPr/>
        </p:nvSpPr>
        <p:spPr>
          <a:xfrm>
            <a:off x="3703320" y="2514600"/>
            <a:ext cx="2377440" cy="228600"/>
          </a:xfrm>
          <a:prstGeom prst="rect">
            <a:avLst/>
          </a:prstGeom>
          <a:noFill/>
        </p:spPr>
        <p:txBody>
          <a:bodyPr wrap="square"/>
          <a:lstStyle/>
          <a:p>
            <a:pPr algn="l">
              <a:defRPr sz="1000" b="1">
                <a:solidFill>
                  <a:srgbClr val="6BA37E"/>
                </a:solidFill>
                <a:latin typeface="Inter"/>
              </a:defRPr>
            </a:pPr>
            <a:r>
              <a:t>Tone:</a:t>
            </a:r>
          </a:p>
        </p:txBody>
      </p:sp>
      <p:sp>
        <p:nvSpPr>
          <p:cNvPr id="23" name="TextBox 22"/>
          <p:cNvSpPr txBox="1"/>
          <p:nvPr/>
        </p:nvSpPr>
        <p:spPr>
          <a:xfrm>
            <a:off x="3703320" y="2715768"/>
            <a:ext cx="2377440" cy="548640"/>
          </a:xfrm>
          <a:prstGeom prst="rect">
            <a:avLst/>
          </a:prstGeom>
          <a:noFill/>
        </p:spPr>
        <p:txBody>
          <a:bodyPr wrap="square"/>
          <a:lstStyle/>
          <a:p>
            <a:pPr algn="l">
              <a:defRPr sz="1000" b="0">
                <a:solidFill>
                  <a:srgbClr val="5A6270"/>
                </a:solidFill>
                <a:latin typeface="Inter"/>
              </a:defRPr>
            </a:pPr>
            <a:r>
              <a:t>Scientific, quantified, precise. Think: Oura, WHOOP, Levels.</a:t>
            </a:r>
          </a:p>
        </p:txBody>
      </p:sp>
      <p:sp>
        <p:nvSpPr>
          <p:cNvPr id="24" name="TextBox 23"/>
          <p:cNvSpPr txBox="1"/>
          <p:nvPr/>
        </p:nvSpPr>
        <p:spPr>
          <a:xfrm>
            <a:off x="3703320" y="3291840"/>
            <a:ext cx="2377440" cy="228600"/>
          </a:xfrm>
          <a:prstGeom prst="rect">
            <a:avLst/>
          </a:prstGeom>
          <a:noFill/>
        </p:spPr>
        <p:txBody>
          <a:bodyPr wrap="square"/>
          <a:lstStyle/>
          <a:p>
            <a:pPr algn="l">
              <a:defRPr sz="1000" b="1">
                <a:solidFill>
                  <a:srgbClr val="6BA37E"/>
                </a:solidFill>
                <a:latin typeface="Inter"/>
              </a:defRPr>
            </a:pPr>
            <a:r>
              <a:t>Avoid:</a:t>
            </a:r>
          </a:p>
        </p:txBody>
      </p:sp>
      <p:sp>
        <p:nvSpPr>
          <p:cNvPr id="25" name="TextBox 24"/>
          <p:cNvSpPr txBox="1"/>
          <p:nvPr/>
        </p:nvSpPr>
        <p:spPr>
          <a:xfrm>
            <a:off x="3703320" y="3493008"/>
            <a:ext cx="2377440" cy="548640"/>
          </a:xfrm>
          <a:prstGeom prst="rect">
            <a:avLst/>
          </a:prstGeom>
          <a:noFill/>
        </p:spPr>
        <p:txBody>
          <a:bodyPr wrap="square"/>
          <a:lstStyle/>
          <a:p>
            <a:pPr algn="l">
              <a:defRPr sz="1000" b="0">
                <a:solidFill>
                  <a:srgbClr val="5A6270"/>
                </a:solidFill>
                <a:latin typeface="Inter"/>
              </a:defRPr>
            </a:pPr>
            <a:r>
              <a:t>Emotional language, therapy comparisons, clinical framing</a:t>
            </a:r>
          </a:p>
        </p:txBody>
      </p:sp>
      <p:sp>
        <p:nvSpPr>
          <p:cNvPr id="26" name="TextBox 25"/>
          <p:cNvSpPr txBox="1"/>
          <p:nvPr/>
        </p:nvSpPr>
        <p:spPr>
          <a:xfrm>
            <a:off x="3703320" y="4069080"/>
            <a:ext cx="2377440" cy="228600"/>
          </a:xfrm>
          <a:prstGeom prst="rect">
            <a:avLst/>
          </a:prstGeom>
          <a:noFill/>
        </p:spPr>
        <p:txBody>
          <a:bodyPr wrap="square"/>
          <a:lstStyle/>
          <a:p>
            <a:pPr algn="l">
              <a:defRPr sz="1000" b="1">
                <a:solidFill>
                  <a:srgbClr val="6BA37E"/>
                </a:solidFill>
                <a:latin typeface="Inter"/>
              </a:defRPr>
            </a:pPr>
            <a:r>
              <a:t>Hero Stat:</a:t>
            </a:r>
          </a:p>
        </p:txBody>
      </p:sp>
      <p:sp>
        <p:nvSpPr>
          <p:cNvPr id="27" name="TextBox 26"/>
          <p:cNvSpPr txBox="1"/>
          <p:nvPr/>
        </p:nvSpPr>
        <p:spPr>
          <a:xfrm>
            <a:off x="3703320" y="4270248"/>
            <a:ext cx="2377440" cy="548640"/>
          </a:xfrm>
          <a:prstGeom prst="rect">
            <a:avLst/>
          </a:prstGeom>
          <a:noFill/>
        </p:spPr>
        <p:txBody>
          <a:bodyPr wrap="square"/>
          <a:lstStyle/>
          <a:p>
            <a:pPr algn="l">
              <a:defRPr sz="1000" b="0">
                <a:solidFill>
                  <a:srgbClr val="5A6270"/>
                </a:solidFill>
                <a:latin typeface="Inter"/>
              </a:defRPr>
            </a:pPr>
            <a:r>
              <a:t>"9.8 years. That's how far your mind is behind your body."</a:t>
            </a:r>
          </a:p>
        </p:txBody>
      </p:sp>
      <p:sp>
        <p:nvSpPr>
          <p:cNvPr id="28" name="TextBox 27"/>
          <p:cNvSpPr txBox="1"/>
          <p:nvPr/>
        </p:nvSpPr>
        <p:spPr>
          <a:xfrm>
            <a:off x="3703320" y="4846320"/>
            <a:ext cx="2377440" cy="228600"/>
          </a:xfrm>
          <a:prstGeom prst="rect">
            <a:avLst/>
          </a:prstGeom>
          <a:noFill/>
        </p:spPr>
        <p:txBody>
          <a:bodyPr wrap="square"/>
          <a:lstStyle/>
          <a:p>
            <a:pPr algn="l">
              <a:defRPr sz="1000" b="1">
                <a:solidFill>
                  <a:srgbClr val="6BA37E"/>
                </a:solidFill>
                <a:latin typeface="Inter"/>
              </a:defRPr>
            </a:pPr>
            <a:r>
              <a:t>CTA:</a:t>
            </a:r>
          </a:p>
        </p:txBody>
      </p:sp>
      <p:sp>
        <p:nvSpPr>
          <p:cNvPr id="29" name="TextBox 28"/>
          <p:cNvSpPr txBox="1"/>
          <p:nvPr/>
        </p:nvSpPr>
        <p:spPr>
          <a:xfrm>
            <a:off x="3703320" y="5047488"/>
            <a:ext cx="2377440" cy="548640"/>
          </a:xfrm>
          <a:prstGeom prst="rect">
            <a:avLst/>
          </a:prstGeom>
          <a:noFill/>
        </p:spPr>
        <p:txBody>
          <a:bodyPr wrap="square"/>
          <a:lstStyle/>
          <a:p>
            <a:pPr algn="l">
              <a:defRPr sz="1000" b="0">
                <a:solidFill>
                  <a:srgbClr val="5A6270"/>
                </a:solidFill>
                <a:latin typeface="Inter"/>
              </a:defRPr>
            </a:pPr>
            <a:r>
              <a:t>"Complete Your Health Stack"</a:t>
            </a:r>
          </a:p>
        </p:txBody>
      </p:sp>
      <p:sp>
        <p:nvSpPr>
          <p:cNvPr id="30" name="Rounded Rectangle 29"/>
          <p:cNvSpPr/>
          <p:nvPr/>
        </p:nvSpPr>
        <p:spPr>
          <a:xfrm>
            <a:off x="6400800" y="1188720"/>
            <a:ext cx="2651760" cy="53035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1188720"/>
            <a:ext cx="2651760" cy="635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1371600"/>
            <a:ext cx="2377440" cy="365760"/>
          </a:xfrm>
          <a:prstGeom prst="rect">
            <a:avLst/>
          </a:prstGeom>
          <a:noFill/>
        </p:spPr>
        <p:txBody>
          <a:bodyPr wrap="square"/>
          <a:lstStyle/>
          <a:p>
            <a:pPr algn="l">
              <a:defRPr sz="1400" b="1">
                <a:solidFill>
                  <a:srgbClr val="1A1D21"/>
                </a:solidFill>
                <a:latin typeface="Playfair Display"/>
              </a:defRPr>
            </a:pPr>
            <a:r>
              <a:t>The System Skeptic</a:t>
            </a:r>
          </a:p>
        </p:txBody>
      </p:sp>
      <p:sp>
        <p:nvSpPr>
          <p:cNvPr id="33" name="TextBox 32"/>
          <p:cNvSpPr txBox="1"/>
          <p:nvPr/>
        </p:nvSpPr>
        <p:spPr>
          <a:xfrm>
            <a:off x="6537960" y="1737360"/>
            <a:ext cx="2377440" cy="228600"/>
          </a:xfrm>
          <a:prstGeom prst="rect">
            <a:avLst/>
          </a:prstGeom>
          <a:noFill/>
        </p:spPr>
        <p:txBody>
          <a:bodyPr wrap="square"/>
          <a:lstStyle/>
          <a:p>
            <a:pPr algn="l">
              <a:defRPr sz="1000" b="1">
                <a:solidFill>
                  <a:srgbClr val="9B7EB8"/>
                </a:solidFill>
                <a:latin typeface="Inter"/>
              </a:defRPr>
            </a:pPr>
            <a:r>
              <a:t>Lead With:</a:t>
            </a:r>
          </a:p>
        </p:txBody>
      </p:sp>
      <p:sp>
        <p:nvSpPr>
          <p:cNvPr id="34" name="TextBox 33"/>
          <p:cNvSpPr txBox="1"/>
          <p:nvPr/>
        </p:nvSpPr>
        <p:spPr>
          <a:xfrm>
            <a:off x="6537960" y="1938528"/>
            <a:ext cx="2377440" cy="548640"/>
          </a:xfrm>
          <a:prstGeom prst="rect">
            <a:avLst/>
          </a:prstGeom>
          <a:noFill/>
        </p:spPr>
        <p:txBody>
          <a:bodyPr wrap="square"/>
          <a:lstStyle/>
          <a:p>
            <a:pPr algn="l">
              <a:defRPr sz="1000" b="0">
                <a:solidFill>
                  <a:srgbClr val="5A6270"/>
                </a:solidFill>
                <a:latin typeface="Inter"/>
              </a:defRPr>
            </a:pPr>
            <a:r>
              <a:t>Privacy &amp; sovereignty — your data, your machine, your rules</a:t>
            </a:r>
          </a:p>
        </p:txBody>
      </p:sp>
      <p:sp>
        <p:nvSpPr>
          <p:cNvPr id="35" name="TextBox 34"/>
          <p:cNvSpPr txBox="1"/>
          <p:nvPr/>
        </p:nvSpPr>
        <p:spPr>
          <a:xfrm>
            <a:off x="6537960" y="2514600"/>
            <a:ext cx="2377440" cy="228600"/>
          </a:xfrm>
          <a:prstGeom prst="rect">
            <a:avLst/>
          </a:prstGeom>
          <a:noFill/>
        </p:spPr>
        <p:txBody>
          <a:bodyPr wrap="square"/>
          <a:lstStyle/>
          <a:p>
            <a:pPr algn="l">
              <a:defRPr sz="1000" b="1">
                <a:solidFill>
                  <a:srgbClr val="9B7EB8"/>
                </a:solidFill>
                <a:latin typeface="Inter"/>
              </a:defRPr>
            </a:pPr>
            <a:r>
              <a:t>Tone:</a:t>
            </a:r>
          </a:p>
        </p:txBody>
      </p:sp>
      <p:sp>
        <p:nvSpPr>
          <p:cNvPr id="36" name="TextBox 35"/>
          <p:cNvSpPr txBox="1"/>
          <p:nvPr/>
        </p:nvSpPr>
        <p:spPr>
          <a:xfrm>
            <a:off x="6537960" y="2715768"/>
            <a:ext cx="2377440" cy="548640"/>
          </a:xfrm>
          <a:prstGeom prst="rect">
            <a:avLst/>
          </a:prstGeom>
          <a:noFill/>
        </p:spPr>
        <p:txBody>
          <a:bodyPr wrap="square"/>
          <a:lstStyle/>
          <a:p>
            <a:pPr algn="l">
              <a:defRPr sz="1000" b="0">
                <a:solidFill>
                  <a:srgbClr val="5A6270"/>
                </a:solidFill>
                <a:latin typeface="Inter"/>
              </a:defRPr>
            </a:pPr>
            <a:r>
              <a:t>Transparent, anti-establishment, empowering. Think: Signal, Proton.</a:t>
            </a:r>
          </a:p>
        </p:txBody>
      </p:sp>
      <p:sp>
        <p:nvSpPr>
          <p:cNvPr id="37" name="TextBox 36"/>
          <p:cNvSpPr txBox="1"/>
          <p:nvPr/>
        </p:nvSpPr>
        <p:spPr>
          <a:xfrm>
            <a:off x="6537960" y="3291840"/>
            <a:ext cx="2377440" cy="228600"/>
          </a:xfrm>
          <a:prstGeom prst="rect">
            <a:avLst/>
          </a:prstGeom>
          <a:noFill/>
        </p:spPr>
        <p:txBody>
          <a:bodyPr wrap="square"/>
          <a:lstStyle/>
          <a:p>
            <a:pPr algn="l">
              <a:defRPr sz="1000" b="1">
                <a:solidFill>
                  <a:srgbClr val="9B7EB8"/>
                </a:solidFill>
                <a:latin typeface="Inter"/>
              </a:defRPr>
            </a:pPr>
            <a:r>
              <a:t>Avoid:</a:t>
            </a:r>
          </a:p>
        </p:txBody>
      </p:sp>
      <p:sp>
        <p:nvSpPr>
          <p:cNvPr id="38" name="TextBox 37"/>
          <p:cNvSpPr txBox="1"/>
          <p:nvPr/>
        </p:nvSpPr>
        <p:spPr>
          <a:xfrm>
            <a:off x="6537960" y="3493008"/>
            <a:ext cx="2377440" cy="548640"/>
          </a:xfrm>
          <a:prstGeom prst="rect">
            <a:avLst/>
          </a:prstGeom>
          <a:noFill/>
        </p:spPr>
        <p:txBody>
          <a:bodyPr wrap="square"/>
          <a:lstStyle/>
          <a:p>
            <a:pPr algn="l">
              <a:defRPr sz="1000" b="0">
                <a:solidFill>
                  <a:srgbClr val="5A6270"/>
                </a:solidFill>
                <a:latin typeface="Inter"/>
              </a:defRPr>
            </a:pPr>
            <a:r>
              <a:t>Clinical claims, institutional partnerships, corporate language</a:t>
            </a:r>
          </a:p>
        </p:txBody>
      </p:sp>
      <p:sp>
        <p:nvSpPr>
          <p:cNvPr id="39" name="TextBox 38"/>
          <p:cNvSpPr txBox="1"/>
          <p:nvPr/>
        </p:nvSpPr>
        <p:spPr>
          <a:xfrm>
            <a:off x="6537960" y="4069080"/>
            <a:ext cx="2377440" cy="228600"/>
          </a:xfrm>
          <a:prstGeom prst="rect">
            <a:avLst/>
          </a:prstGeom>
          <a:noFill/>
        </p:spPr>
        <p:txBody>
          <a:bodyPr wrap="square"/>
          <a:lstStyle/>
          <a:p>
            <a:pPr algn="l">
              <a:defRPr sz="1000" b="1">
                <a:solidFill>
                  <a:srgbClr val="9B7EB8"/>
                </a:solidFill>
                <a:latin typeface="Inter"/>
              </a:defRPr>
            </a:pPr>
            <a:r>
              <a:t>Hero Stat:</a:t>
            </a:r>
          </a:p>
        </p:txBody>
      </p:sp>
      <p:sp>
        <p:nvSpPr>
          <p:cNvPr id="40" name="TextBox 39"/>
          <p:cNvSpPr txBox="1"/>
          <p:nvPr/>
        </p:nvSpPr>
        <p:spPr>
          <a:xfrm>
            <a:off x="6537960" y="4270248"/>
            <a:ext cx="2377440" cy="548640"/>
          </a:xfrm>
          <a:prstGeom prst="rect">
            <a:avLst/>
          </a:prstGeom>
          <a:noFill/>
        </p:spPr>
        <p:txBody>
          <a:bodyPr wrap="square"/>
          <a:lstStyle/>
          <a:p>
            <a:pPr algn="l">
              <a:defRPr sz="1000" b="0">
                <a:solidFill>
                  <a:srgbClr val="5A6270"/>
                </a:solidFill>
                <a:latin typeface="Inter"/>
              </a:defRPr>
            </a:pPr>
            <a:r>
              <a:t>"100% on-device. Zero cloud. Zero compromise."</a:t>
            </a:r>
          </a:p>
        </p:txBody>
      </p:sp>
      <p:sp>
        <p:nvSpPr>
          <p:cNvPr id="41" name="TextBox 40"/>
          <p:cNvSpPr txBox="1"/>
          <p:nvPr/>
        </p:nvSpPr>
        <p:spPr>
          <a:xfrm>
            <a:off x="6537960" y="4846320"/>
            <a:ext cx="2377440" cy="228600"/>
          </a:xfrm>
          <a:prstGeom prst="rect">
            <a:avLst/>
          </a:prstGeom>
          <a:noFill/>
        </p:spPr>
        <p:txBody>
          <a:bodyPr wrap="square"/>
          <a:lstStyle/>
          <a:p>
            <a:pPr algn="l">
              <a:defRPr sz="1000" b="1">
                <a:solidFill>
                  <a:srgbClr val="9B7EB8"/>
                </a:solidFill>
                <a:latin typeface="Inter"/>
              </a:defRPr>
            </a:pPr>
            <a:r>
              <a:t>CTA:</a:t>
            </a:r>
          </a:p>
        </p:txBody>
      </p:sp>
      <p:sp>
        <p:nvSpPr>
          <p:cNvPr id="42" name="TextBox 41"/>
          <p:cNvSpPr txBox="1"/>
          <p:nvPr/>
        </p:nvSpPr>
        <p:spPr>
          <a:xfrm>
            <a:off x="6537960" y="5047488"/>
            <a:ext cx="2377440" cy="548640"/>
          </a:xfrm>
          <a:prstGeom prst="rect">
            <a:avLst/>
          </a:prstGeom>
          <a:noFill/>
        </p:spPr>
        <p:txBody>
          <a:bodyPr wrap="square"/>
          <a:lstStyle/>
          <a:p>
            <a:pPr algn="l">
              <a:defRPr sz="1000" b="0">
                <a:solidFill>
                  <a:srgbClr val="5A6270"/>
                </a:solidFill>
                <a:latin typeface="Inter"/>
              </a:defRPr>
            </a:pPr>
            <a:r>
              <a:t>"Download and Start — No Account Required"</a:t>
            </a:r>
          </a:p>
        </p:txBody>
      </p:sp>
      <p:sp>
        <p:nvSpPr>
          <p:cNvPr id="43" name="Rounded Rectangle 42"/>
          <p:cNvSpPr/>
          <p:nvPr/>
        </p:nvSpPr>
        <p:spPr>
          <a:xfrm>
            <a:off x="9235440" y="1188720"/>
            <a:ext cx="2651760" cy="53035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235440" y="1188720"/>
            <a:ext cx="2651760" cy="635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72600" y="1371600"/>
            <a:ext cx="2377440" cy="365760"/>
          </a:xfrm>
          <a:prstGeom prst="rect">
            <a:avLst/>
          </a:prstGeom>
          <a:noFill/>
        </p:spPr>
        <p:txBody>
          <a:bodyPr wrap="square"/>
          <a:lstStyle/>
          <a:p>
            <a:pPr algn="l">
              <a:defRPr sz="1400" b="1">
                <a:solidFill>
                  <a:srgbClr val="1A1D21"/>
                </a:solidFill>
                <a:latin typeface="Playfair Display"/>
              </a:defRPr>
            </a:pPr>
            <a:r>
              <a:t>The Performance Athlete</a:t>
            </a:r>
          </a:p>
        </p:txBody>
      </p:sp>
      <p:sp>
        <p:nvSpPr>
          <p:cNvPr id="46" name="TextBox 45"/>
          <p:cNvSpPr txBox="1"/>
          <p:nvPr/>
        </p:nvSpPr>
        <p:spPr>
          <a:xfrm>
            <a:off x="9372600" y="1737360"/>
            <a:ext cx="2377440" cy="228600"/>
          </a:xfrm>
          <a:prstGeom prst="rect">
            <a:avLst/>
          </a:prstGeom>
          <a:noFill/>
        </p:spPr>
        <p:txBody>
          <a:bodyPr wrap="square"/>
          <a:lstStyle/>
          <a:p>
            <a:pPr algn="l">
              <a:defRPr sz="1000" b="1">
                <a:solidFill>
                  <a:srgbClr val="C47A5A"/>
                </a:solidFill>
                <a:latin typeface="Inter"/>
              </a:defRPr>
            </a:pPr>
            <a:r>
              <a:t>Lead With:</a:t>
            </a:r>
          </a:p>
        </p:txBody>
      </p:sp>
      <p:sp>
        <p:nvSpPr>
          <p:cNvPr id="47" name="TextBox 46"/>
          <p:cNvSpPr txBox="1"/>
          <p:nvPr/>
        </p:nvSpPr>
        <p:spPr>
          <a:xfrm>
            <a:off x="9372600" y="1938528"/>
            <a:ext cx="2377440" cy="548640"/>
          </a:xfrm>
          <a:prstGeom prst="rect">
            <a:avLst/>
          </a:prstGeom>
          <a:noFill/>
        </p:spPr>
        <p:txBody>
          <a:bodyPr wrap="square"/>
          <a:lstStyle/>
          <a:p>
            <a:pPr algn="l">
              <a:defRPr sz="1000" b="0">
                <a:solidFill>
                  <a:srgbClr val="5A6270"/>
                </a:solidFill>
                <a:latin typeface="Inter"/>
              </a:defRPr>
            </a:pPr>
            <a:r>
              <a:t>Mental edge — stress data as a performance optimization tool</a:t>
            </a:r>
          </a:p>
        </p:txBody>
      </p:sp>
      <p:sp>
        <p:nvSpPr>
          <p:cNvPr id="48" name="TextBox 47"/>
          <p:cNvSpPr txBox="1"/>
          <p:nvPr/>
        </p:nvSpPr>
        <p:spPr>
          <a:xfrm>
            <a:off x="9372600" y="2514600"/>
            <a:ext cx="2377440" cy="228600"/>
          </a:xfrm>
          <a:prstGeom prst="rect">
            <a:avLst/>
          </a:prstGeom>
          <a:noFill/>
        </p:spPr>
        <p:txBody>
          <a:bodyPr wrap="square"/>
          <a:lstStyle/>
          <a:p>
            <a:pPr algn="l">
              <a:defRPr sz="1000" b="1">
                <a:solidFill>
                  <a:srgbClr val="C47A5A"/>
                </a:solidFill>
                <a:latin typeface="Inter"/>
              </a:defRPr>
            </a:pPr>
            <a:r>
              <a:t>Tone:</a:t>
            </a:r>
          </a:p>
        </p:txBody>
      </p:sp>
      <p:sp>
        <p:nvSpPr>
          <p:cNvPr id="49" name="TextBox 48"/>
          <p:cNvSpPr txBox="1"/>
          <p:nvPr/>
        </p:nvSpPr>
        <p:spPr>
          <a:xfrm>
            <a:off x="9372600" y="2715768"/>
            <a:ext cx="2377440" cy="548640"/>
          </a:xfrm>
          <a:prstGeom prst="rect">
            <a:avLst/>
          </a:prstGeom>
          <a:noFill/>
        </p:spPr>
        <p:txBody>
          <a:bodyPr wrap="square"/>
          <a:lstStyle/>
          <a:p>
            <a:pPr algn="l">
              <a:defRPr sz="1000" b="0">
                <a:solidFill>
                  <a:srgbClr val="5A6270"/>
                </a:solidFill>
                <a:latin typeface="Inter"/>
              </a:defRPr>
            </a:pPr>
            <a:r>
              <a:t>Competitive, aspirational, data-driven. Think: WHOOP, Strava, TrainingPeaks.</a:t>
            </a:r>
          </a:p>
        </p:txBody>
      </p:sp>
      <p:sp>
        <p:nvSpPr>
          <p:cNvPr id="50" name="TextBox 49"/>
          <p:cNvSpPr txBox="1"/>
          <p:nvPr/>
        </p:nvSpPr>
        <p:spPr>
          <a:xfrm>
            <a:off x="9372600" y="3291840"/>
            <a:ext cx="2377440" cy="228600"/>
          </a:xfrm>
          <a:prstGeom prst="rect">
            <a:avLst/>
          </a:prstGeom>
          <a:noFill/>
        </p:spPr>
        <p:txBody>
          <a:bodyPr wrap="square"/>
          <a:lstStyle/>
          <a:p>
            <a:pPr algn="l">
              <a:defRPr sz="1000" b="1">
                <a:solidFill>
                  <a:srgbClr val="C47A5A"/>
                </a:solidFill>
                <a:latin typeface="Inter"/>
              </a:defRPr>
            </a:pPr>
            <a:r>
              <a:t>Avoid:</a:t>
            </a:r>
          </a:p>
        </p:txBody>
      </p:sp>
      <p:sp>
        <p:nvSpPr>
          <p:cNvPr id="51" name="TextBox 50"/>
          <p:cNvSpPr txBox="1"/>
          <p:nvPr/>
        </p:nvSpPr>
        <p:spPr>
          <a:xfrm>
            <a:off x="9372600" y="3493008"/>
            <a:ext cx="2377440" cy="548640"/>
          </a:xfrm>
          <a:prstGeom prst="rect">
            <a:avLst/>
          </a:prstGeom>
          <a:noFill/>
        </p:spPr>
        <p:txBody>
          <a:bodyPr wrap="square"/>
          <a:lstStyle/>
          <a:p>
            <a:pPr algn="l">
              <a:defRPr sz="1000" b="0">
                <a:solidFill>
                  <a:srgbClr val="5A6270"/>
                </a:solidFill>
                <a:latin typeface="Inter"/>
              </a:defRPr>
            </a:pPr>
            <a:r>
              <a:t>Wellness/self-care framing, therapy language, passive monitoring</a:t>
            </a:r>
          </a:p>
        </p:txBody>
      </p:sp>
      <p:sp>
        <p:nvSpPr>
          <p:cNvPr id="52" name="TextBox 51"/>
          <p:cNvSpPr txBox="1"/>
          <p:nvPr/>
        </p:nvSpPr>
        <p:spPr>
          <a:xfrm>
            <a:off x="9372600" y="4069080"/>
            <a:ext cx="2377440" cy="228600"/>
          </a:xfrm>
          <a:prstGeom prst="rect">
            <a:avLst/>
          </a:prstGeom>
          <a:noFill/>
        </p:spPr>
        <p:txBody>
          <a:bodyPr wrap="square"/>
          <a:lstStyle/>
          <a:p>
            <a:pPr algn="l">
              <a:defRPr sz="1000" b="1">
                <a:solidFill>
                  <a:srgbClr val="C47A5A"/>
                </a:solidFill>
                <a:latin typeface="Inter"/>
              </a:defRPr>
            </a:pPr>
            <a:r>
              <a:t>Hero Stat:</a:t>
            </a:r>
          </a:p>
        </p:txBody>
      </p:sp>
      <p:sp>
        <p:nvSpPr>
          <p:cNvPr id="53" name="TextBox 52"/>
          <p:cNvSpPr txBox="1"/>
          <p:nvPr/>
        </p:nvSpPr>
        <p:spPr>
          <a:xfrm>
            <a:off x="9372600" y="4270248"/>
            <a:ext cx="2377440" cy="548640"/>
          </a:xfrm>
          <a:prstGeom prst="rect">
            <a:avLst/>
          </a:prstGeom>
          <a:noFill/>
        </p:spPr>
        <p:txBody>
          <a:bodyPr wrap="square"/>
          <a:lstStyle/>
          <a:p>
            <a:pPr algn="l">
              <a:defRPr sz="1000" b="0">
                <a:solidFill>
                  <a:srgbClr val="5A6270"/>
                </a:solidFill>
                <a:latin typeface="Inter"/>
              </a:defRPr>
            </a:pPr>
            <a:r>
              <a:t>"35% of athletes hit a wall that has nothing to do with fitness."</a:t>
            </a:r>
          </a:p>
        </p:txBody>
      </p:sp>
      <p:sp>
        <p:nvSpPr>
          <p:cNvPr id="54" name="TextBox 53"/>
          <p:cNvSpPr txBox="1"/>
          <p:nvPr/>
        </p:nvSpPr>
        <p:spPr>
          <a:xfrm>
            <a:off x="9372600" y="4846320"/>
            <a:ext cx="2377440" cy="228600"/>
          </a:xfrm>
          <a:prstGeom prst="rect">
            <a:avLst/>
          </a:prstGeom>
          <a:noFill/>
        </p:spPr>
        <p:txBody>
          <a:bodyPr wrap="square"/>
          <a:lstStyle/>
          <a:p>
            <a:pPr algn="l">
              <a:defRPr sz="1000" b="1">
                <a:solidFill>
                  <a:srgbClr val="C47A5A"/>
                </a:solidFill>
                <a:latin typeface="Inter"/>
              </a:defRPr>
            </a:pPr>
            <a:r>
              <a:t>CTA:</a:t>
            </a:r>
          </a:p>
        </p:txBody>
      </p:sp>
      <p:sp>
        <p:nvSpPr>
          <p:cNvPr id="55" name="TextBox 54"/>
          <p:cNvSpPr txBox="1"/>
          <p:nvPr/>
        </p:nvSpPr>
        <p:spPr>
          <a:xfrm>
            <a:off x="9372600" y="5047488"/>
            <a:ext cx="2377440" cy="548640"/>
          </a:xfrm>
          <a:prstGeom prst="rect">
            <a:avLst/>
          </a:prstGeom>
          <a:noFill/>
        </p:spPr>
        <p:txBody>
          <a:bodyPr wrap="square"/>
          <a:lstStyle/>
          <a:p>
            <a:pPr algn="l">
              <a:defRPr sz="1000" b="0">
                <a:solidFill>
                  <a:srgbClr val="5A6270"/>
                </a:solidFill>
                <a:latin typeface="Inter"/>
              </a:defRPr>
            </a:pPr>
            <a:r>
              <a:t>"Train Your Mental Edge"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315200" cy="457200"/>
          </a:xfrm>
          <a:prstGeom prst="rect">
            <a:avLst/>
          </a:prstGeom>
          <a:noFill/>
        </p:spPr>
        <p:txBody>
          <a:bodyPr wrap="square"/>
          <a:lstStyle/>
          <a:p>
            <a:pPr algn="l">
              <a:defRPr sz="2800" b="1">
                <a:solidFill>
                  <a:srgbClr val="1A1D21"/>
                </a:solidFill>
                <a:latin typeface="Playfair Display"/>
              </a:defRPr>
            </a:pPr>
            <a:r>
              <a:t>Landing Page Strategy by Persona</a:t>
            </a:r>
          </a:p>
        </p:txBody>
      </p:sp>
      <p:sp>
        <p:nvSpPr>
          <p:cNvPr id="3" name="Rectangle 2"/>
          <p:cNvSpPr/>
          <p:nvPr/>
        </p:nvSpPr>
        <p:spPr>
          <a:xfrm>
            <a:off x="731520" y="91440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457200"/>
          </a:xfrm>
          <a:prstGeom prst="rect">
            <a:avLst/>
          </a:prstGeom>
          <a:noFill/>
        </p:spPr>
        <p:txBody>
          <a:bodyPr wrap="square"/>
          <a:lstStyle/>
          <a:p>
            <a:pPr algn="l">
              <a:defRPr sz="1300" b="0">
                <a:solidFill>
                  <a:srgbClr val="5A6270"/>
                </a:solidFill>
                <a:latin typeface="Inter"/>
              </a:defRPr>
            </a:pPr>
            <a:r>
              <a:t>Each persona gets a dedicated landing page with tailored messaging, hero copy, and feature emphasis. Two already exist.</a:t>
            </a:r>
          </a:p>
        </p:txBody>
      </p:sp>
      <p:sp>
        <p:nvSpPr>
          <p:cNvPr id="5" name="Rounded Rectangle 4"/>
          <p:cNvSpPr/>
          <p:nvPr/>
        </p:nvSpPr>
        <p:spPr>
          <a:xfrm>
            <a:off x="731520" y="1645920"/>
            <a:ext cx="2651760" cy="4846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651760" cy="635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28800"/>
            <a:ext cx="640080" cy="228600"/>
          </a:xfrm>
          <a:prstGeom prst="roundRect">
            <a:avLst>
              <a:gd name="adj" fmla="val 10000"/>
            </a:avLst>
          </a:prstGeom>
          <a:solidFill>
            <a:srgbClr val="2D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640080" cy="228600"/>
          </a:xfrm>
          <a:prstGeom prst="rect">
            <a:avLst/>
          </a:prstGeom>
          <a:noFill/>
        </p:spPr>
        <p:txBody>
          <a:bodyPr wrap="square"/>
          <a:lstStyle/>
          <a:p>
            <a:pPr algn="ctr">
              <a:defRPr sz="900" b="1">
                <a:solidFill>
                  <a:srgbClr val="FFFFFF"/>
                </a:solidFill>
                <a:latin typeface="Inter"/>
              </a:defRPr>
            </a:pPr>
            <a:r>
              <a:t>LIVE</a:t>
            </a:r>
          </a:p>
        </p:txBody>
      </p:sp>
      <p:sp>
        <p:nvSpPr>
          <p:cNvPr id="9" name="TextBox 8"/>
          <p:cNvSpPr txBox="1"/>
          <p:nvPr/>
        </p:nvSpPr>
        <p:spPr>
          <a:xfrm>
            <a:off x="1600200" y="1828800"/>
            <a:ext cx="1645920" cy="228600"/>
          </a:xfrm>
          <a:prstGeom prst="rect">
            <a:avLst/>
          </a:prstGeom>
          <a:noFill/>
        </p:spPr>
        <p:txBody>
          <a:bodyPr wrap="square"/>
          <a:lstStyle/>
          <a:p>
            <a:pPr algn="l">
              <a:defRPr sz="1000" b="0">
                <a:solidFill>
                  <a:srgbClr val="5A6270"/>
                </a:solidFill>
                <a:latin typeface="Inter"/>
              </a:defRPr>
            </a:pPr>
            <a:r>
              <a:t>burnout.html</a:t>
            </a:r>
          </a:p>
        </p:txBody>
      </p:sp>
      <p:sp>
        <p:nvSpPr>
          <p:cNvPr id="10" name="TextBox 9"/>
          <p:cNvSpPr txBox="1"/>
          <p:nvPr/>
        </p:nvSpPr>
        <p:spPr>
          <a:xfrm>
            <a:off x="868680" y="2194560"/>
            <a:ext cx="2377440" cy="274320"/>
          </a:xfrm>
          <a:prstGeom prst="rect">
            <a:avLst/>
          </a:prstGeom>
          <a:noFill/>
        </p:spPr>
        <p:txBody>
          <a:bodyPr wrap="square"/>
          <a:lstStyle/>
          <a:p>
            <a:pPr algn="l">
              <a:defRPr sz="1200" b="1">
                <a:solidFill>
                  <a:srgbClr val="1A1D21"/>
                </a:solidFill>
                <a:latin typeface="Playfair Display"/>
              </a:defRPr>
            </a:pPr>
            <a:r>
              <a:t>The Burned-Out Builder</a:t>
            </a:r>
          </a:p>
        </p:txBody>
      </p:sp>
      <p:sp>
        <p:nvSpPr>
          <p:cNvPr id="11" name="TextBox 10"/>
          <p:cNvSpPr txBox="1"/>
          <p:nvPr/>
        </p:nvSpPr>
        <p:spPr>
          <a:xfrm>
            <a:off x="868680" y="2560320"/>
            <a:ext cx="2377440" cy="1097280"/>
          </a:xfrm>
          <a:prstGeom prst="rect">
            <a:avLst/>
          </a:prstGeom>
          <a:noFill/>
        </p:spPr>
        <p:txBody>
          <a:bodyPr wrap="square"/>
          <a:lstStyle/>
          <a:p>
            <a:pPr algn="l">
              <a:defRPr sz="1100" b="1" i="1">
                <a:solidFill>
                  <a:srgbClr val="5B8DB8"/>
                </a:solidFill>
                <a:latin typeface="Playfair Display"/>
              </a:defRPr>
            </a:pPr>
            <a:r>
              <a:t>"You Had 23 Meetings Last Week.</a:t>
            </a:r>
            <a:br/>
            <a:r>
              <a:t>Which Ones Are Burning You Out?"</a:t>
            </a:r>
          </a:p>
        </p:txBody>
      </p:sp>
      <p:sp>
        <p:nvSpPr>
          <p:cNvPr id="12" name="TextBox 11"/>
          <p:cNvSpPr txBox="1"/>
          <p:nvPr/>
        </p:nvSpPr>
        <p:spPr>
          <a:xfrm>
            <a:off x="868680" y="3840480"/>
            <a:ext cx="2377440" cy="2377440"/>
          </a:xfrm>
          <a:prstGeom prst="rect">
            <a:avLst/>
          </a:prstGeom>
          <a:noFill/>
        </p:spPr>
        <p:txBody>
          <a:bodyPr wrap="square"/>
          <a:lstStyle/>
          <a:p>
            <a:pPr algn="l">
              <a:defRPr sz="1000" b="0">
                <a:solidFill>
                  <a:srgbClr val="5A6270"/>
                </a:solidFill>
                <a:latin typeface="Inter"/>
              </a:defRPr>
            </a:pPr>
            <a:r>
              <a:t>Meeting stress correlation, workday stress scores, burnout trajectory, calendar integration focus. Tabs: Stress &amp; Calm, Mood &amp; Energy, Correlations, Raw Metrics.</a:t>
            </a:r>
          </a:p>
        </p:txBody>
      </p:sp>
      <p:sp>
        <p:nvSpPr>
          <p:cNvPr id="13" name="Rounded Rectangle 12"/>
          <p:cNvSpPr/>
          <p:nvPr/>
        </p:nvSpPr>
        <p:spPr>
          <a:xfrm>
            <a:off x="3566160" y="1645920"/>
            <a:ext cx="2651760" cy="4846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645920"/>
            <a:ext cx="2651760" cy="63500"/>
          </a:xfrm>
          <a:prstGeom prst="rect">
            <a:avLst/>
          </a:prstGeom>
          <a:solidFill>
            <a:srgbClr val="6BA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703320" y="1828800"/>
            <a:ext cx="640080" cy="228600"/>
          </a:xfrm>
          <a:prstGeom prst="roundRect">
            <a:avLst>
              <a:gd name="adj" fmla="val 10000"/>
            </a:avLst>
          </a:prstGeom>
          <a:solidFill>
            <a:srgbClr val="2D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828800"/>
            <a:ext cx="640080" cy="228600"/>
          </a:xfrm>
          <a:prstGeom prst="rect">
            <a:avLst/>
          </a:prstGeom>
          <a:noFill/>
        </p:spPr>
        <p:txBody>
          <a:bodyPr wrap="square"/>
          <a:lstStyle/>
          <a:p>
            <a:pPr algn="ctr">
              <a:defRPr sz="900" b="1">
                <a:solidFill>
                  <a:srgbClr val="FFFFFF"/>
                </a:solidFill>
                <a:latin typeface="Inter"/>
              </a:defRPr>
            </a:pPr>
            <a:r>
              <a:t>LIVE</a:t>
            </a:r>
          </a:p>
        </p:txBody>
      </p:sp>
      <p:sp>
        <p:nvSpPr>
          <p:cNvPr id="17" name="TextBox 16"/>
          <p:cNvSpPr txBox="1"/>
          <p:nvPr/>
        </p:nvSpPr>
        <p:spPr>
          <a:xfrm>
            <a:off x="4434840" y="1828800"/>
            <a:ext cx="1645920" cy="228600"/>
          </a:xfrm>
          <a:prstGeom prst="rect">
            <a:avLst/>
          </a:prstGeom>
          <a:noFill/>
        </p:spPr>
        <p:txBody>
          <a:bodyPr wrap="square"/>
          <a:lstStyle/>
          <a:p>
            <a:pPr algn="l">
              <a:defRPr sz="1000" b="0">
                <a:solidFill>
                  <a:srgbClr val="5A6270"/>
                </a:solidFill>
                <a:latin typeface="Inter"/>
              </a:defRPr>
            </a:pPr>
            <a:r>
              <a:t>quantified-self.html</a:t>
            </a:r>
          </a:p>
        </p:txBody>
      </p:sp>
      <p:sp>
        <p:nvSpPr>
          <p:cNvPr id="18" name="TextBox 17"/>
          <p:cNvSpPr txBox="1"/>
          <p:nvPr/>
        </p:nvSpPr>
        <p:spPr>
          <a:xfrm>
            <a:off x="3703320" y="2194560"/>
            <a:ext cx="2377440" cy="274320"/>
          </a:xfrm>
          <a:prstGeom prst="rect">
            <a:avLst/>
          </a:prstGeom>
          <a:noFill/>
        </p:spPr>
        <p:txBody>
          <a:bodyPr wrap="square"/>
          <a:lstStyle/>
          <a:p>
            <a:pPr algn="l">
              <a:defRPr sz="1200" b="1">
                <a:solidFill>
                  <a:srgbClr val="1A1D21"/>
                </a:solidFill>
                <a:latin typeface="Playfair Display"/>
              </a:defRPr>
            </a:pPr>
            <a:r>
              <a:t>The Optimization Architect</a:t>
            </a:r>
          </a:p>
        </p:txBody>
      </p:sp>
      <p:sp>
        <p:nvSpPr>
          <p:cNvPr id="19" name="TextBox 18"/>
          <p:cNvSpPr txBox="1"/>
          <p:nvPr/>
        </p:nvSpPr>
        <p:spPr>
          <a:xfrm>
            <a:off x="3703320" y="2560320"/>
            <a:ext cx="2377440" cy="1097280"/>
          </a:xfrm>
          <a:prstGeom prst="rect">
            <a:avLst/>
          </a:prstGeom>
          <a:noFill/>
        </p:spPr>
        <p:txBody>
          <a:bodyPr wrap="square"/>
          <a:lstStyle/>
          <a:p>
            <a:pPr algn="l">
              <a:defRPr sz="1100" b="1" i="1">
                <a:solidFill>
                  <a:srgbClr val="6BA37E"/>
                </a:solidFill>
                <a:latin typeface="Playfair Display"/>
              </a:defRPr>
            </a:pPr>
            <a:r>
              <a:t>"You Compare Sleep Scores.</a:t>
            </a:r>
            <a:br/>
            <a:r>
              <a:t>Imagine Comparing Stress Resilience."</a:t>
            </a:r>
          </a:p>
        </p:txBody>
      </p:sp>
      <p:sp>
        <p:nvSpPr>
          <p:cNvPr id="20" name="TextBox 19"/>
          <p:cNvSpPr txBox="1"/>
          <p:nvPr/>
        </p:nvSpPr>
        <p:spPr>
          <a:xfrm>
            <a:off x="3703320" y="3840480"/>
            <a:ext cx="2377440" cy="2377440"/>
          </a:xfrm>
          <a:prstGeom prst="rect">
            <a:avLst/>
          </a:prstGeom>
          <a:noFill/>
        </p:spPr>
        <p:txBody>
          <a:bodyPr wrap="square"/>
          <a:lstStyle/>
          <a:p>
            <a:pPr algn="l">
              <a:defRPr sz="1000" b="0">
                <a:solidFill>
                  <a:srgbClr val="5A6270"/>
                </a:solidFill>
                <a:latin typeface="Inter"/>
              </a:defRPr>
            </a:pPr>
            <a:r>
              <a:t>Health stack completion, Oura/WHOOP cross-correlation, raw data export, API access. 'Your Body Has Data. Your Mind Deserves It Too.' Physical vs Mental stack comparison.</a:t>
            </a:r>
          </a:p>
        </p:txBody>
      </p:sp>
      <p:sp>
        <p:nvSpPr>
          <p:cNvPr id="21" name="Rounded Rectangle 20"/>
          <p:cNvSpPr/>
          <p:nvPr/>
        </p:nvSpPr>
        <p:spPr>
          <a:xfrm>
            <a:off x="6400800" y="1645920"/>
            <a:ext cx="2651760" cy="4846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1645920"/>
            <a:ext cx="2651760" cy="63500"/>
          </a:xfrm>
          <a:prstGeom prst="rect">
            <a:avLst/>
          </a:prstGeom>
          <a:solidFill>
            <a:srgbClr val="9B7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37960" y="1828800"/>
            <a:ext cx="640080" cy="228600"/>
          </a:xfrm>
          <a:prstGeom prst="roundRect">
            <a:avLst>
              <a:gd name="adj" fmla="val 10000"/>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1828800"/>
            <a:ext cx="640080" cy="228600"/>
          </a:xfrm>
          <a:prstGeom prst="rect">
            <a:avLst/>
          </a:prstGeom>
          <a:noFill/>
        </p:spPr>
        <p:txBody>
          <a:bodyPr wrap="square"/>
          <a:lstStyle/>
          <a:p>
            <a:pPr algn="ctr">
              <a:defRPr sz="900" b="1">
                <a:solidFill>
                  <a:srgbClr val="FFFFFF"/>
                </a:solidFill>
                <a:latin typeface="Inter"/>
              </a:defRPr>
            </a:pPr>
            <a:r>
              <a:t>PLANNED</a:t>
            </a:r>
          </a:p>
        </p:txBody>
      </p:sp>
      <p:sp>
        <p:nvSpPr>
          <p:cNvPr id="25" name="TextBox 24"/>
          <p:cNvSpPr txBox="1"/>
          <p:nvPr/>
        </p:nvSpPr>
        <p:spPr>
          <a:xfrm>
            <a:off x="7269480" y="1828800"/>
            <a:ext cx="1645920" cy="228600"/>
          </a:xfrm>
          <a:prstGeom prst="rect">
            <a:avLst/>
          </a:prstGeom>
          <a:noFill/>
        </p:spPr>
        <p:txBody>
          <a:bodyPr wrap="square"/>
          <a:lstStyle/>
          <a:p>
            <a:pPr algn="l">
              <a:defRPr sz="1000" b="0">
                <a:solidFill>
                  <a:srgbClr val="5A6270"/>
                </a:solidFill>
                <a:latin typeface="Inter"/>
              </a:defRPr>
            </a:pPr>
            <a:r>
              <a:t>privacy.html</a:t>
            </a:r>
          </a:p>
        </p:txBody>
      </p:sp>
      <p:sp>
        <p:nvSpPr>
          <p:cNvPr id="26" name="TextBox 25"/>
          <p:cNvSpPr txBox="1"/>
          <p:nvPr/>
        </p:nvSpPr>
        <p:spPr>
          <a:xfrm>
            <a:off x="6537960" y="2194560"/>
            <a:ext cx="2377440" cy="274320"/>
          </a:xfrm>
          <a:prstGeom prst="rect">
            <a:avLst/>
          </a:prstGeom>
          <a:noFill/>
        </p:spPr>
        <p:txBody>
          <a:bodyPr wrap="square"/>
          <a:lstStyle/>
          <a:p>
            <a:pPr algn="l">
              <a:defRPr sz="1200" b="1">
                <a:solidFill>
                  <a:srgbClr val="1A1D21"/>
                </a:solidFill>
                <a:latin typeface="Playfair Display"/>
              </a:defRPr>
            </a:pPr>
            <a:r>
              <a:t>The System Skeptic</a:t>
            </a:r>
          </a:p>
        </p:txBody>
      </p:sp>
      <p:sp>
        <p:nvSpPr>
          <p:cNvPr id="27" name="TextBox 26"/>
          <p:cNvSpPr txBox="1"/>
          <p:nvPr/>
        </p:nvSpPr>
        <p:spPr>
          <a:xfrm>
            <a:off x="6537960" y="2560320"/>
            <a:ext cx="2377440" cy="1097280"/>
          </a:xfrm>
          <a:prstGeom prst="rect">
            <a:avLst/>
          </a:prstGeom>
          <a:noFill/>
        </p:spPr>
        <p:txBody>
          <a:bodyPr wrap="square"/>
          <a:lstStyle/>
          <a:p>
            <a:pPr algn="l">
              <a:defRPr sz="1100" b="1" i="1">
                <a:solidFill>
                  <a:srgbClr val="9B7EB8"/>
                </a:solidFill>
                <a:latin typeface="Playfair Display"/>
              </a:defRPr>
            </a:pPr>
            <a:r>
              <a:t>"Your Data. Your Machine.</a:t>
            </a:r>
            <a:br/>
            <a:r>
              <a:t>Your Rules. No Exceptions."</a:t>
            </a:r>
          </a:p>
        </p:txBody>
      </p:sp>
      <p:sp>
        <p:nvSpPr>
          <p:cNvPr id="28" name="TextBox 27"/>
          <p:cNvSpPr txBox="1"/>
          <p:nvPr/>
        </p:nvSpPr>
        <p:spPr>
          <a:xfrm>
            <a:off x="6537960" y="3840480"/>
            <a:ext cx="2377440" cy="2377440"/>
          </a:xfrm>
          <a:prstGeom prst="rect">
            <a:avLst/>
          </a:prstGeom>
          <a:noFill/>
        </p:spPr>
        <p:txBody>
          <a:bodyPr wrap="square"/>
          <a:lstStyle/>
          <a:p>
            <a:pPr algn="l">
              <a:defRPr sz="1000" b="0">
                <a:solidFill>
                  <a:srgbClr val="5A6270"/>
                </a:solidFill>
                <a:latin typeface="Inter"/>
              </a:defRPr>
            </a:pPr>
            <a:r>
              <a:t>Lead with on-device architecture, no cloud processing, no audio storage, full data ownership. Technical transparency about how processing works. Compare vs cloud-based alternatives.</a:t>
            </a:r>
          </a:p>
        </p:txBody>
      </p:sp>
      <p:sp>
        <p:nvSpPr>
          <p:cNvPr id="29" name="Rounded Rectangle 28"/>
          <p:cNvSpPr/>
          <p:nvPr/>
        </p:nvSpPr>
        <p:spPr>
          <a:xfrm>
            <a:off x="9235440" y="1645920"/>
            <a:ext cx="2651760" cy="484632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1645920"/>
            <a:ext cx="2651760" cy="63500"/>
          </a:xfrm>
          <a:prstGeom prst="rect">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372600" y="1828800"/>
            <a:ext cx="640080" cy="228600"/>
          </a:xfrm>
          <a:prstGeom prst="roundRect">
            <a:avLst>
              <a:gd name="adj" fmla="val 10000"/>
            </a:avLst>
          </a:prstGeom>
          <a:solidFill>
            <a:srgbClr val="C4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1828800"/>
            <a:ext cx="640080" cy="228600"/>
          </a:xfrm>
          <a:prstGeom prst="rect">
            <a:avLst/>
          </a:prstGeom>
          <a:noFill/>
        </p:spPr>
        <p:txBody>
          <a:bodyPr wrap="square"/>
          <a:lstStyle/>
          <a:p>
            <a:pPr algn="ctr">
              <a:defRPr sz="900" b="1">
                <a:solidFill>
                  <a:srgbClr val="FFFFFF"/>
                </a:solidFill>
                <a:latin typeface="Inter"/>
              </a:defRPr>
            </a:pPr>
            <a:r>
              <a:t>PLANNED</a:t>
            </a:r>
          </a:p>
        </p:txBody>
      </p:sp>
      <p:sp>
        <p:nvSpPr>
          <p:cNvPr id="33" name="TextBox 32"/>
          <p:cNvSpPr txBox="1"/>
          <p:nvPr/>
        </p:nvSpPr>
        <p:spPr>
          <a:xfrm>
            <a:off x="10104120" y="1828800"/>
            <a:ext cx="1645920" cy="228600"/>
          </a:xfrm>
          <a:prstGeom prst="rect">
            <a:avLst/>
          </a:prstGeom>
          <a:noFill/>
        </p:spPr>
        <p:txBody>
          <a:bodyPr wrap="square"/>
          <a:lstStyle/>
          <a:p>
            <a:pPr algn="l">
              <a:defRPr sz="1000" b="0">
                <a:solidFill>
                  <a:srgbClr val="5A6270"/>
                </a:solidFill>
                <a:latin typeface="Inter"/>
              </a:defRPr>
            </a:pPr>
            <a:r>
              <a:t>athletes.html</a:t>
            </a:r>
          </a:p>
        </p:txBody>
      </p:sp>
      <p:sp>
        <p:nvSpPr>
          <p:cNvPr id="34" name="TextBox 33"/>
          <p:cNvSpPr txBox="1"/>
          <p:nvPr/>
        </p:nvSpPr>
        <p:spPr>
          <a:xfrm>
            <a:off x="9372600" y="2194560"/>
            <a:ext cx="2377440" cy="274320"/>
          </a:xfrm>
          <a:prstGeom prst="rect">
            <a:avLst/>
          </a:prstGeom>
          <a:noFill/>
        </p:spPr>
        <p:txBody>
          <a:bodyPr wrap="square"/>
          <a:lstStyle/>
          <a:p>
            <a:pPr algn="l">
              <a:defRPr sz="1200" b="1">
                <a:solidFill>
                  <a:srgbClr val="1A1D21"/>
                </a:solidFill>
                <a:latin typeface="Playfair Display"/>
              </a:defRPr>
            </a:pPr>
            <a:r>
              <a:t>The Performance Athlete</a:t>
            </a:r>
          </a:p>
        </p:txBody>
      </p:sp>
      <p:sp>
        <p:nvSpPr>
          <p:cNvPr id="35" name="TextBox 34"/>
          <p:cNvSpPr txBox="1"/>
          <p:nvPr/>
        </p:nvSpPr>
        <p:spPr>
          <a:xfrm>
            <a:off x="9372600" y="2560320"/>
            <a:ext cx="2377440" cy="1097280"/>
          </a:xfrm>
          <a:prstGeom prst="rect">
            <a:avLst/>
          </a:prstGeom>
          <a:noFill/>
        </p:spPr>
        <p:txBody>
          <a:bodyPr wrap="square"/>
          <a:lstStyle/>
          <a:p>
            <a:pPr algn="l">
              <a:defRPr sz="1100" b="1" i="1">
                <a:solidFill>
                  <a:srgbClr val="C47A5A"/>
                </a:solidFill>
                <a:latin typeface="Playfair Display"/>
              </a:defRPr>
            </a:pPr>
            <a:r>
              <a:t>"You Train Your Body.</a:t>
            </a:r>
            <a:br/>
            <a:r>
              <a:t>Now Train Your Edge."</a:t>
            </a:r>
          </a:p>
        </p:txBody>
      </p:sp>
      <p:sp>
        <p:nvSpPr>
          <p:cNvPr id="36" name="TextBox 35"/>
          <p:cNvSpPr txBox="1"/>
          <p:nvPr/>
        </p:nvSpPr>
        <p:spPr>
          <a:xfrm>
            <a:off x="9372600" y="3840480"/>
            <a:ext cx="2377440" cy="2377440"/>
          </a:xfrm>
          <a:prstGeom prst="rect">
            <a:avLst/>
          </a:prstGeom>
          <a:noFill/>
        </p:spPr>
        <p:txBody>
          <a:bodyPr wrap="square"/>
          <a:lstStyle/>
          <a:p>
            <a:pPr algn="l">
              <a:defRPr sz="1000" b="0">
                <a:solidFill>
                  <a:srgbClr val="5A6270"/>
                </a:solidFill>
                <a:latin typeface="Inter"/>
              </a:defRPr>
            </a:pPr>
            <a:r>
              <a:t>Mental readiness scores, WHOOP/Garmin/Strava cross-correlation, training block stress tracking, race-day mental prep. Pre-workout stress checks, recovery mental load data. Performance athletes who already track everything — except their mind.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3A4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9144000" cy="457200"/>
          </a:xfrm>
          <a:prstGeom prst="rect">
            <a:avLst/>
          </a:prstGeom>
          <a:noFill/>
        </p:spPr>
        <p:txBody>
          <a:bodyPr wrap="square"/>
          <a:lstStyle/>
          <a:p>
            <a:pPr algn="l">
              <a:defRPr sz="3200" b="1">
                <a:solidFill>
                  <a:srgbClr val="FFFFFF"/>
                </a:solidFill>
                <a:latin typeface="Playfair Display"/>
              </a:defRPr>
            </a:pPr>
            <a:r>
              <a:t>The Unified Thread</a:t>
            </a:r>
          </a:p>
        </p:txBody>
      </p:sp>
      <p:sp>
        <p:nvSpPr>
          <p:cNvPr id="4" name="Rectangle 3"/>
          <p:cNvSpPr/>
          <p:nvPr/>
        </p:nvSpPr>
        <p:spPr>
          <a:xfrm>
            <a:off x="1097280" y="128016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45920"/>
            <a:ext cx="9144000" cy="914400"/>
          </a:xfrm>
          <a:prstGeom prst="rect">
            <a:avLst/>
          </a:prstGeom>
          <a:noFill/>
        </p:spPr>
        <p:txBody>
          <a:bodyPr wrap="square"/>
          <a:lstStyle/>
          <a:p>
            <a:pPr algn="l">
              <a:defRPr sz="1800" b="0">
                <a:solidFill>
                  <a:srgbClr val="D4E4F0"/>
                </a:solidFill>
                <a:latin typeface="Inter"/>
              </a:defRPr>
            </a:pPr>
            <a:r>
              <a:t>Five different personas. Five different pain points. One shared truth:</a:t>
            </a:r>
          </a:p>
        </p:txBody>
      </p:sp>
      <p:sp>
        <p:nvSpPr>
          <p:cNvPr id="6" name="TextBox 5"/>
          <p:cNvSpPr txBox="1"/>
          <p:nvPr/>
        </p:nvSpPr>
        <p:spPr>
          <a:xfrm>
            <a:off x="1097280" y="2377440"/>
            <a:ext cx="9144000" cy="1097280"/>
          </a:xfrm>
          <a:prstGeom prst="rect">
            <a:avLst/>
          </a:prstGeom>
          <a:noFill/>
        </p:spPr>
        <p:txBody>
          <a:bodyPr wrap="square"/>
          <a:lstStyle/>
          <a:p>
            <a:pPr algn="l">
              <a:defRPr sz="2800" b="1" i="1">
                <a:solidFill>
                  <a:srgbClr val="FFFFFF"/>
                </a:solidFill>
                <a:latin typeface="Playfair Display"/>
              </a:defRPr>
            </a:pPr>
            <a:r>
              <a:t>Your voice has been leaking your mental state your entire life.</a:t>
            </a:r>
            <a:br/>
            <a:r>
              <a:t>You just never had a way to listen.</a:t>
            </a:r>
          </a:p>
        </p:txBody>
      </p:sp>
      <p:sp>
        <p:nvSpPr>
          <p:cNvPr id="7" name="TextBox 6"/>
          <p:cNvSpPr txBox="1"/>
          <p:nvPr/>
        </p:nvSpPr>
        <p:spPr>
          <a:xfrm>
            <a:off x="1097280" y="3840480"/>
            <a:ext cx="4572000" cy="365760"/>
          </a:xfrm>
          <a:prstGeom prst="rect">
            <a:avLst/>
          </a:prstGeom>
          <a:noFill/>
        </p:spPr>
        <p:txBody>
          <a:bodyPr wrap="square"/>
          <a:lstStyle/>
          <a:p>
            <a:pPr algn="l">
              <a:defRPr sz="1800" b="1">
                <a:solidFill>
                  <a:srgbClr val="D4E4F0"/>
                </a:solidFill>
                <a:latin typeface="Playfair Display"/>
              </a:defRPr>
            </a:pPr>
            <a:r>
              <a:t>What Unites All Four Personas</a:t>
            </a:r>
          </a:p>
        </p:txBody>
      </p:sp>
      <p:sp>
        <p:nvSpPr>
          <p:cNvPr id="8" name="TextBox 7"/>
          <p:cNvSpPr txBox="1"/>
          <p:nvPr/>
        </p:nvSpPr>
        <p:spPr>
          <a:xfrm>
            <a:off x="1097280" y="4297680"/>
            <a:ext cx="1371600" cy="274320"/>
          </a:xfrm>
          <a:prstGeom prst="rect">
            <a:avLst/>
          </a:prstGeom>
          <a:noFill/>
        </p:spPr>
        <p:txBody>
          <a:bodyPr wrap="square"/>
          <a:lstStyle/>
          <a:p>
            <a:pPr algn="l">
              <a:defRPr sz="1400" b="1">
                <a:solidFill>
                  <a:srgbClr val="5B8DB8"/>
                </a:solidFill>
                <a:latin typeface="Inter"/>
              </a:defRPr>
            </a:pPr>
            <a:r>
              <a:t>Passive</a:t>
            </a:r>
          </a:p>
        </p:txBody>
      </p:sp>
      <p:sp>
        <p:nvSpPr>
          <p:cNvPr id="9" name="TextBox 8"/>
          <p:cNvSpPr txBox="1"/>
          <p:nvPr/>
        </p:nvSpPr>
        <p:spPr>
          <a:xfrm>
            <a:off x="2560320" y="4297680"/>
            <a:ext cx="4572000" cy="274320"/>
          </a:xfrm>
          <a:prstGeom prst="rect">
            <a:avLst/>
          </a:prstGeom>
          <a:noFill/>
        </p:spPr>
        <p:txBody>
          <a:bodyPr wrap="square"/>
          <a:lstStyle/>
          <a:p>
            <a:pPr algn="l">
              <a:defRPr sz="1300" b="0">
                <a:solidFill>
                  <a:srgbClr val="D4E4F0"/>
                </a:solidFill>
                <a:latin typeface="Inter"/>
              </a:defRPr>
            </a:pPr>
            <a:r>
              <a:t>No habit change required. Lucid works in the background.</a:t>
            </a:r>
          </a:p>
        </p:txBody>
      </p:sp>
      <p:sp>
        <p:nvSpPr>
          <p:cNvPr id="10" name="TextBox 9"/>
          <p:cNvSpPr txBox="1"/>
          <p:nvPr/>
        </p:nvSpPr>
        <p:spPr>
          <a:xfrm>
            <a:off x="1097280" y="4681728"/>
            <a:ext cx="1371600" cy="274320"/>
          </a:xfrm>
          <a:prstGeom prst="rect">
            <a:avLst/>
          </a:prstGeom>
          <a:noFill/>
        </p:spPr>
        <p:txBody>
          <a:bodyPr wrap="square"/>
          <a:lstStyle/>
          <a:p>
            <a:pPr algn="l">
              <a:defRPr sz="1400" b="1">
                <a:solidFill>
                  <a:srgbClr val="5B8DB8"/>
                </a:solidFill>
                <a:latin typeface="Inter"/>
              </a:defRPr>
            </a:pPr>
            <a:r>
              <a:t>Private</a:t>
            </a:r>
          </a:p>
        </p:txBody>
      </p:sp>
      <p:sp>
        <p:nvSpPr>
          <p:cNvPr id="11" name="TextBox 10"/>
          <p:cNvSpPr txBox="1"/>
          <p:nvPr/>
        </p:nvSpPr>
        <p:spPr>
          <a:xfrm>
            <a:off x="2560320" y="4681728"/>
            <a:ext cx="4572000" cy="274320"/>
          </a:xfrm>
          <a:prstGeom prst="rect">
            <a:avLst/>
          </a:prstGeom>
          <a:noFill/>
        </p:spPr>
        <p:txBody>
          <a:bodyPr wrap="square"/>
          <a:lstStyle/>
          <a:p>
            <a:pPr algn="l">
              <a:defRPr sz="1300" b="0">
                <a:solidFill>
                  <a:srgbClr val="D4E4F0"/>
                </a:solidFill>
                <a:latin typeface="Inter"/>
              </a:defRPr>
            </a:pPr>
            <a:r>
              <a:t>100% on-device processing. No cloud, no server, no compromise.</a:t>
            </a:r>
          </a:p>
        </p:txBody>
      </p:sp>
      <p:sp>
        <p:nvSpPr>
          <p:cNvPr id="12" name="TextBox 11"/>
          <p:cNvSpPr txBox="1"/>
          <p:nvPr/>
        </p:nvSpPr>
        <p:spPr>
          <a:xfrm>
            <a:off x="1097280" y="5065776"/>
            <a:ext cx="1371600" cy="274320"/>
          </a:xfrm>
          <a:prstGeom prst="rect">
            <a:avLst/>
          </a:prstGeom>
          <a:noFill/>
        </p:spPr>
        <p:txBody>
          <a:bodyPr wrap="square"/>
          <a:lstStyle/>
          <a:p>
            <a:pPr algn="l">
              <a:defRPr sz="1400" b="1">
                <a:solidFill>
                  <a:srgbClr val="5B8DB8"/>
                </a:solidFill>
                <a:latin typeface="Inter"/>
              </a:defRPr>
            </a:pPr>
            <a:r>
              <a:t>Objective</a:t>
            </a:r>
          </a:p>
        </p:txBody>
      </p:sp>
      <p:sp>
        <p:nvSpPr>
          <p:cNvPr id="13" name="TextBox 12"/>
          <p:cNvSpPr txBox="1"/>
          <p:nvPr/>
        </p:nvSpPr>
        <p:spPr>
          <a:xfrm>
            <a:off x="2560320" y="5065776"/>
            <a:ext cx="4572000" cy="274320"/>
          </a:xfrm>
          <a:prstGeom prst="rect">
            <a:avLst/>
          </a:prstGeom>
          <a:noFill/>
        </p:spPr>
        <p:txBody>
          <a:bodyPr wrap="square"/>
          <a:lstStyle/>
          <a:p>
            <a:pPr algn="l">
              <a:defRPr sz="1300" b="0">
                <a:solidFill>
                  <a:srgbClr val="D4E4F0"/>
                </a:solidFill>
                <a:latin typeface="Inter"/>
              </a:defRPr>
            </a:pPr>
            <a:r>
              <a:t>Involuntary biomarkers — can't be faked, can't be suppressed.</a:t>
            </a:r>
          </a:p>
        </p:txBody>
      </p:sp>
      <p:sp>
        <p:nvSpPr>
          <p:cNvPr id="14" name="TextBox 13"/>
          <p:cNvSpPr txBox="1"/>
          <p:nvPr/>
        </p:nvSpPr>
        <p:spPr>
          <a:xfrm>
            <a:off x="1097280" y="5449824"/>
            <a:ext cx="1371600" cy="274320"/>
          </a:xfrm>
          <a:prstGeom prst="rect">
            <a:avLst/>
          </a:prstGeom>
          <a:noFill/>
        </p:spPr>
        <p:txBody>
          <a:bodyPr wrap="square"/>
          <a:lstStyle/>
          <a:p>
            <a:pPr algn="l">
              <a:defRPr sz="1400" b="1">
                <a:solidFill>
                  <a:srgbClr val="5B8DB8"/>
                </a:solidFill>
                <a:latin typeface="Inter"/>
              </a:defRPr>
            </a:pPr>
            <a:r>
              <a:t>Continuous</a:t>
            </a:r>
          </a:p>
        </p:txBody>
      </p:sp>
      <p:sp>
        <p:nvSpPr>
          <p:cNvPr id="15" name="TextBox 14"/>
          <p:cNvSpPr txBox="1"/>
          <p:nvPr/>
        </p:nvSpPr>
        <p:spPr>
          <a:xfrm>
            <a:off x="2560320" y="5449824"/>
            <a:ext cx="4572000" cy="274320"/>
          </a:xfrm>
          <a:prstGeom prst="rect">
            <a:avLst/>
          </a:prstGeom>
          <a:noFill/>
        </p:spPr>
        <p:txBody>
          <a:bodyPr wrap="square"/>
          <a:lstStyle/>
          <a:p>
            <a:pPr algn="l">
              <a:defRPr sz="1300" b="0">
                <a:solidFill>
                  <a:srgbClr val="D4E4F0"/>
                </a:solidFill>
                <a:latin typeface="Inter"/>
              </a:defRPr>
            </a:pPr>
            <a:r>
              <a:t>Every conversation is a data point. Not 1x/year screening.</a:t>
            </a:r>
          </a:p>
        </p:txBody>
      </p:sp>
      <p:sp>
        <p:nvSpPr>
          <p:cNvPr id="16" name="TextBox 15"/>
          <p:cNvSpPr txBox="1"/>
          <p:nvPr/>
        </p:nvSpPr>
        <p:spPr>
          <a:xfrm>
            <a:off x="1097280" y="5833872"/>
            <a:ext cx="1371600" cy="274320"/>
          </a:xfrm>
          <a:prstGeom prst="rect">
            <a:avLst/>
          </a:prstGeom>
          <a:noFill/>
        </p:spPr>
        <p:txBody>
          <a:bodyPr wrap="square"/>
          <a:lstStyle/>
          <a:p>
            <a:pPr algn="l">
              <a:defRPr sz="1400" b="1">
                <a:solidFill>
                  <a:srgbClr val="5B8DB8"/>
                </a:solidFill>
                <a:latin typeface="Inter"/>
              </a:defRPr>
            </a:pPr>
            <a:r>
              <a:t>Affordable</a:t>
            </a:r>
          </a:p>
        </p:txBody>
      </p:sp>
      <p:sp>
        <p:nvSpPr>
          <p:cNvPr id="17" name="TextBox 16"/>
          <p:cNvSpPr txBox="1"/>
          <p:nvPr/>
        </p:nvSpPr>
        <p:spPr>
          <a:xfrm>
            <a:off x="2560320" y="5833872"/>
            <a:ext cx="4572000" cy="274320"/>
          </a:xfrm>
          <a:prstGeom prst="rect">
            <a:avLst/>
          </a:prstGeom>
          <a:noFill/>
        </p:spPr>
        <p:txBody>
          <a:bodyPr wrap="square"/>
          <a:lstStyle/>
          <a:p>
            <a:pPr algn="l">
              <a:defRPr sz="1300" b="0">
                <a:solidFill>
                  <a:srgbClr val="D4E4F0"/>
                </a:solidFill>
                <a:latin typeface="Inter"/>
              </a:defRPr>
            </a:pPr>
            <a:r>
              <a:t>$14.99/month — a fraction of one therapy session.</a:t>
            </a:r>
          </a:p>
        </p:txBody>
      </p:sp>
      <p:sp>
        <p:nvSpPr>
          <p:cNvPr id="18" name="Rounded Rectangle 17"/>
          <p:cNvSpPr/>
          <p:nvPr/>
        </p:nvSpPr>
        <p:spPr>
          <a:xfrm>
            <a:off x="6858000" y="3657600"/>
            <a:ext cx="4572000" cy="2743200"/>
          </a:xfrm>
          <a:prstGeom prst="roundRect">
            <a:avLst>
              <a:gd name="adj" fmla="val 2000"/>
            </a:avLst>
          </a:prstGeom>
          <a:solidFill>
            <a:srgbClr val="22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0" y="3657600"/>
            <a:ext cx="4572000" cy="508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3931920"/>
            <a:ext cx="4114800" cy="365760"/>
          </a:xfrm>
          <a:prstGeom prst="rect">
            <a:avLst/>
          </a:prstGeom>
          <a:noFill/>
        </p:spPr>
        <p:txBody>
          <a:bodyPr wrap="square"/>
          <a:lstStyle/>
          <a:p>
            <a:pPr algn="l">
              <a:defRPr sz="1800" b="1">
                <a:solidFill>
                  <a:srgbClr val="FFFFFF"/>
                </a:solidFill>
                <a:latin typeface="Playfair Display"/>
              </a:defRPr>
            </a:pPr>
            <a:r>
              <a:t>The Promise</a:t>
            </a:r>
          </a:p>
        </p:txBody>
      </p:sp>
      <p:sp>
        <p:nvSpPr>
          <p:cNvPr id="21" name="TextBox 20"/>
          <p:cNvSpPr txBox="1"/>
          <p:nvPr/>
        </p:nvSpPr>
        <p:spPr>
          <a:xfrm>
            <a:off x="7132320" y="4389120"/>
            <a:ext cx="4114800" cy="1645920"/>
          </a:xfrm>
          <a:prstGeom prst="rect">
            <a:avLst/>
          </a:prstGeom>
          <a:noFill/>
        </p:spPr>
        <p:txBody>
          <a:bodyPr wrap="square"/>
          <a:lstStyle/>
          <a:p>
            <a:pPr algn="l">
              <a:defRPr sz="1300" b="0">
                <a:solidFill>
                  <a:srgbClr val="D4E4F0"/>
                </a:solidFill>
                <a:latin typeface="Inter"/>
              </a:defRPr>
            </a:pPr>
            <a:r>
              <a:t>Lucid doesn't replace therapy, coaches, or wearables.</a:t>
            </a:r>
            <a:br/>
            <a:br/>
            <a:r>
              <a:t>It fills the gap none of them can — continuous, passive, private insight into the one thing that connects every aspect of your performance and wellbeing:</a:t>
            </a:r>
            <a:br/>
            <a:br/>
            <a:r>
              <a:t>Your state of mind.</a:t>
            </a:r>
          </a:p>
        </p:txBody>
      </p:sp>
      <p:sp>
        <p:nvSpPr>
          <p:cNvPr id="22" name="TextBox 21"/>
          <p:cNvSpPr txBox="1"/>
          <p:nvPr/>
        </p:nvSpPr>
        <p:spPr>
          <a:xfrm>
            <a:off x="1097280" y="6217920"/>
            <a:ext cx="9144000" cy="457200"/>
          </a:xfrm>
          <a:prstGeom prst="rect">
            <a:avLst/>
          </a:prstGeom>
          <a:noFill/>
        </p:spPr>
        <p:txBody>
          <a:bodyPr wrap="square"/>
          <a:lstStyle/>
          <a:p>
            <a:pPr algn="l">
              <a:defRPr sz="2000" b="0" i="1">
                <a:solidFill>
                  <a:srgbClr val="5B8DB8"/>
                </a:solidFill>
                <a:latin typeface="Playfair Display"/>
              </a:defRPr>
            </a:pPr>
            <a:r>
              <a:t>Clarity through voice.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0E1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81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0800"/>
          </a:xfrm>
          <a:prstGeom prst="rect">
            <a:avLst/>
          </a:prstGeom>
          <a:solidFill>
            <a:srgbClr val="57F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3657600" cy="365760"/>
          </a:xfrm>
          <a:prstGeom prst="rect">
            <a:avLst/>
          </a:prstGeom>
          <a:noFill/>
        </p:spPr>
        <p:txBody>
          <a:bodyPr wrap="square"/>
          <a:lstStyle/>
          <a:p>
            <a:pPr algn="l">
              <a:defRPr sz="1200" b="1">
                <a:solidFill>
                  <a:srgbClr val="57F287"/>
                </a:solidFill>
                <a:latin typeface="Inter"/>
              </a:defRPr>
            </a:pPr>
            <a:r>
              <a:t>PERSONA 5</a:t>
            </a:r>
          </a:p>
        </p:txBody>
      </p:sp>
      <p:sp>
        <p:nvSpPr>
          <p:cNvPr id="5" name="TextBox 4"/>
          <p:cNvSpPr txBox="1"/>
          <p:nvPr/>
        </p:nvSpPr>
        <p:spPr>
          <a:xfrm>
            <a:off x="731520" y="411480"/>
            <a:ext cx="7315200" cy="548640"/>
          </a:xfrm>
          <a:prstGeom prst="rect">
            <a:avLst/>
          </a:prstGeom>
          <a:noFill/>
        </p:spPr>
        <p:txBody>
          <a:bodyPr wrap="square"/>
          <a:lstStyle/>
          <a:p>
            <a:pPr algn="l">
              <a:defRPr sz="3000" b="1">
                <a:solidFill>
                  <a:srgbClr val="FFFFFF"/>
                </a:solidFill>
                <a:latin typeface="Inter"/>
              </a:defRPr>
            </a:pPr>
            <a:r>
              <a:t>The Disconnected Dude</a:t>
            </a:r>
          </a:p>
        </p:txBody>
      </p:sp>
      <p:sp>
        <p:nvSpPr>
          <p:cNvPr id="6" name="TextBox 5"/>
          <p:cNvSpPr txBox="1"/>
          <p:nvPr/>
        </p:nvSpPr>
        <p:spPr>
          <a:xfrm>
            <a:off x="731520" y="1463040"/>
            <a:ext cx="5029200" cy="365760"/>
          </a:xfrm>
          <a:prstGeom prst="rect">
            <a:avLst/>
          </a:prstGeom>
          <a:noFill/>
        </p:spPr>
        <p:txBody>
          <a:bodyPr wrap="square"/>
          <a:lstStyle/>
          <a:p>
            <a:pPr algn="l">
              <a:defRPr sz="2000" b="1">
                <a:solidFill>
                  <a:srgbClr val="FFFFFF"/>
                </a:solidFill>
                <a:latin typeface="Inter"/>
              </a:defRPr>
            </a:pPr>
            <a:r>
              <a:t>Who They Are</a:t>
            </a:r>
          </a:p>
        </p:txBody>
      </p:sp>
      <p:sp>
        <p:nvSpPr>
          <p:cNvPr id="7" name="TextBox 6"/>
          <p:cNvSpPr txBox="1"/>
          <p:nvPr/>
        </p:nvSpPr>
        <p:spPr>
          <a:xfrm>
            <a:off x="731520" y="1920240"/>
            <a:ext cx="1645920" cy="274320"/>
          </a:xfrm>
          <a:prstGeom prst="rect">
            <a:avLst/>
          </a:prstGeom>
          <a:noFill/>
        </p:spPr>
        <p:txBody>
          <a:bodyPr wrap="square"/>
          <a:lstStyle/>
          <a:p>
            <a:pPr algn="l">
              <a:defRPr sz="1100" b="1">
                <a:solidFill>
                  <a:srgbClr val="57F287"/>
                </a:solidFill>
                <a:latin typeface="Inter"/>
              </a:defRPr>
            </a:pPr>
            <a:r>
              <a:t>Demographics</a:t>
            </a:r>
          </a:p>
        </p:txBody>
      </p:sp>
      <p:sp>
        <p:nvSpPr>
          <p:cNvPr id="8" name="TextBox 7"/>
          <p:cNvSpPr txBox="1"/>
          <p:nvPr/>
        </p:nvSpPr>
        <p:spPr>
          <a:xfrm>
            <a:off x="2560320" y="1920240"/>
            <a:ext cx="3657600" cy="914400"/>
          </a:xfrm>
          <a:prstGeom prst="rect">
            <a:avLst/>
          </a:prstGeom>
          <a:noFill/>
        </p:spPr>
        <p:txBody>
          <a:bodyPr wrap="square"/>
          <a:lstStyle/>
          <a:p>
            <a:pPr algn="l">
              <a:defRPr sz="1100" b="0">
                <a:solidFill>
                  <a:srgbClr val="B5BAC1"/>
                </a:solidFill>
                <a:latin typeface="Inter"/>
              </a:defRPr>
            </a:pPr>
            <a:r>
              <a:t>18-30 years old  |  $30K-$90K income  |  Urban/suburban</a:t>
            </a:r>
            <a:br/>
            <a:r>
              <a:t>Gamers, Discord users, remote workers, trades, service industry, students</a:t>
            </a:r>
          </a:p>
        </p:txBody>
      </p:sp>
      <p:sp>
        <p:nvSpPr>
          <p:cNvPr id="9" name="TextBox 8"/>
          <p:cNvSpPr txBox="1"/>
          <p:nvPr/>
        </p:nvSpPr>
        <p:spPr>
          <a:xfrm>
            <a:off x="731520" y="3017520"/>
            <a:ext cx="1645920" cy="274320"/>
          </a:xfrm>
          <a:prstGeom prst="rect">
            <a:avLst/>
          </a:prstGeom>
          <a:noFill/>
        </p:spPr>
        <p:txBody>
          <a:bodyPr wrap="square"/>
          <a:lstStyle/>
          <a:p>
            <a:pPr algn="l">
              <a:defRPr sz="1100" b="1">
                <a:solidFill>
                  <a:srgbClr val="57F287"/>
                </a:solidFill>
                <a:latin typeface="Inter"/>
              </a:defRPr>
            </a:pPr>
            <a:r>
              <a:t>Psychographics</a:t>
            </a:r>
          </a:p>
        </p:txBody>
      </p:sp>
      <p:sp>
        <p:nvSpPr>
          <p:cNvPr id="10" name="TextBox 9"/>
          <p:cNvSpPr txBox="1"/>
          <p:nvPr/>
        </p:nvSpPr>
        <p:spPr>
          <a:xfrm>
            <a:off x="2560320" y="3017520"/>
            <a:ext cx="3657600" cy="914400"/>
          </a:xfrm>
          <a:prstGeom prst="rect">
            <a:avLst/>
          </a:prstGeom>
          <a:noFill/>
        </p:spPr>
        <p:txBody>
          <a:bodyPr wrap="square"/>
          <a:lstStyle/>
          <a:p>
            <a:pPr algn="l">
              <a:defRPr sz="1100" b="0">
                <a:solidFill>
                  <a:srgbClr val="B5BAC1"/>
                </a:solidFill>
                <a:latin typeface="Inter"/>
              </a:defRPr>
            </a:pPr>
            <a:r>
              <a:t>Deeply alienated from how mental health is discussed.</a:t>
            </a:r>
            <a:br/>
            <a:r>
              <a:t>Won't touch therapy apps. Distrusts institutions. Values privacy, autonomy.</a:t>
            </a:r>
            <a:br/>
            <a:r>
              <a:t>Identity: 'I'm fine' (is not fine).</a:t>
            </a:r>
          </a:p>
        </p:txBody>
      </p:sp>
      <p:sp>
        <p:nvSpPr>
          <p:cNvPr id="11" name="TextBox 10"/>
          <p:cNvSpPr txBox="1"/>
          <p:nvPr/>
        </p:nvSpPr>
        <p:spPr>
          <a:xfrm>
            <a:off x="731520" y="4114800"/>
            <a:ext cx="1645920" cy="274320"/>
          </a:xfrm>
          <a:prstGeom prst="rect">
            <a:avLst/>
          </a:prstGeom>
          <a:noFill/>
        </p:spPr>
        <p:txBody>
          <a:bodyPr wrap="square"/>
          <a:lstStyle/>
          <a:p>
            <a:pPr algn="l">
              <a:defRPr sz="1100" b="1">
                <a:solidFill>
                  <a:srgbClr val="57F287"/>
                </a:solidFill>
                <a:latin typeface="Inter"/>
              </a:defRPr>
            </a:pPr>
            <a:r>
              <a:t>Current Tools</a:t>
            </a:r>
          </a:p>
        </p:txBody>
      </p:sp>
      <p:sp>
        <p:nvSpPr>
          <p:cNvPr id="12" name="TextBox 11"/>
          <p:cNvSpPr txBox="1"/>
          <p:nvPr/>
        </p:nvSpPr>
        <p:spPr>
          <a:xfrm>
            <a:off x="2560320" y="4114800"/>
            <a:ext cx="3657600" cy="914400"/>
          </a:xfrm>
          <a:prstGeom prst="rect">
            <a:avLst/>
          </a:prstGeom>
          <a:noFill/>
        </p:spPr>
        <p:txBody>
          <a:bodyPr wrap="square"/>
          <a:lstStyle/>
          <a:p>
            <a:pPr algn="l">
              <a:defRPr sz="1100" b="0">
                <a:solidFill>
                  <a:srgbClr val="B5BAC1"/>
                </a:solidFill>
                <a:latin typeface="Inter"/>
              </a:defRPr>
            </a:pPr>
            <a:r>
              <a:t>Discord, Steam, Reddit, YouTube, Twitch</a:t>
            </a:r>
            <a:br/>
            <a:r>
              <a:t>No health tracking. Maybe a Fitbit they stopped wearing.</a:t>
            </a:r>
            <a:br/>
            <a:r>
              <a:t>Tried Headspace once. Deleted after 2 sessions.</a:t>
            </a:r>
          </a:p>
        </p:txBody>
      </p:sp>
      <p:sp>
        <p:nvSpPr>
          <p:cNvPr id="13" name="TextBox 12"/>
          <p:cNvSpPr txBox="1"/>
          <p:nvPr/>
        </p:nvSpPr>
        <p:spPr>
          <a:xfrm>
            <a:off x="731520" y="5212080"/>
            <a:ext cx="1645920" cy="274320"/>
          </a:xfrm>
          <a:prstGeom prst="rect">
            <a:avLst/>
          </a:prstGeom>
          <a:noFill/>
        </p:spPr>
        <p:txBody>
          <a:bodyPr wrap="square"/>
          <a:lstStyle/>
          <a:p>
            <a:pPr algn="l">
              <a:defRPr sz="1100" b="1">
                <a:solidFill>
                  <a:srgbClr val="57F287"/>
                </a:solidFill>
                <a:latin typeface="Inter"/>
              </a:defRPr>
            </a:pPr>
            <a:r>
              <a:t>Spending</a:t>
            </a:r>
          </a:p>
        </p:txBody>
      </p:sp>
      <p:sp>
        <p:nvSpPr>
          <p:cNvPr id="14" name="TextBox 13"/>
          <p:cNvSpPr txBox="1"/>
          <p:nvPr/>
        </p:nvSpPr>
        <p:spPr>
          <a:xfrm>
            <a:off x="2560320" y="5212080"/>
            <a:ext cx="3657600" cy="914400"/>
          </a:xfrm>
          <a:prstGeom prst="rect">
            <a:avLst/>
          </a:prstGeom>
          <a:noFill/>
        </p:spPr>
        <p:txBody>
          <a:bodyPr wrap="square"/>
          <a:lstStyle/>
          <a:p>
            <a:pPr algn="l">
              <a:defRPr sz="1100" b="0">
                <a:solidFill>
                  <a:srgbClr val="B5BAC1"/>
                </a:solidFill>
                <a:latin typeface="Inter"/>
              </a:defRPr>
            </a:pPr>
            <a:r>
              <a:t>$20-50/mo on game skins, subscriptions, energy drinks</a:t>
            </a:r>
            <a:br/>
            <a:r>
              <a:t>Willing to pay for tools, not 'wellness experiences.'</a:t>
            </a:r>
          </a:p>
        </p:txBody>
      </p:sp>
      <p:sp>
        <p:nvSpPr>
          <p:cNvPr id="15" name="Rounded Rectangle 14"/>
          <p:cNvSpPr/>
          <p:nvPr/>
        </p:nvSpPr>
        <p:spPr>
          <a:xfrm>
            <a:off x="6858000" y="1463040"/>
            <a:ext cx="4572000" cy="5029200"/>
          </a:xfrm>
          <a:prstGeom prst="roundRect">
            <a:avLst>
              <a:gd name="adj" fmla="val 2000"/>
            </a:avLst>
          </a:prstGeom>
          <a:solidFill>
            <a:srgbClr val="2626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463040"/>
            <a:ext cx="4572000" cy="50800"/>
          </a:xfrm>
          <a:prstGeom prst="rect">
            <a:avLst/>
          </a:prstGeom>
          <a:solidFill>
            <a:srgbClr val="57F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645920"/>
            <a:ext cx="4114800" cy="365760"/>
          </a:xfrm>
          <a:prstGeom prst="rect">
            <a:avLst/>
          </a:prstGeom>
          <a:noFill/>
        </p:spPr>
        <p:txBody>
          <a:bodyPr wrap="square"/>
          <a:lstStyle/>
          <a:p>
            <a:pPr algn="l">
              <a:defRPr sz="1800" b="1">
                <a:solidFill>
                  <a:srgbClr val="FFFFFF"/>
                </a:solidFill>
                <a:latin typeface="Inter"/>
              </a:defRPr>
            </a:pPr>
            <a:r>
              <a:t>The Crisis Nobody's Solving</a:t>
            </a:r>
          </a:p>
        </p:txBody>
      </p:sp>
      <p:sp>
        <p:nvSpPr>
          <p:cNvPr id="18" name="TextBox 17"/>
          <p:cNvSpPr txBox="1"/>
          <p:nvPr/>
        </p:nvSpPr>
        <p:spPr>
          <a:xfrm>
            <a:off x="7132320" y="2148840"/>
            <a:ext cx="1097280" cy="320040"/>
          </a:xfrm>
          <a:prstGeom prst="rect">
            <a:avLst/>
          </a:prstGeom>
          <a:noFill/>
        </p:spPr>
        <p:txBody>
          <a:bodyPr wrap="square"/>
          <a:lstStyle/>
          <a:p>
            <a:pPr algn="l">
              <a:defRPr sz="1800" b="1">
                <a:solidFill>
                  <a:srgbClr val="57F287"/>
                </a:solidFill>
                <a:latin typeface="Inter"/>
              </a:defRPr>
            </a:pPr>
            <a:r>
              <a:t>4x</a:t>
            </a:r>
          </a:p>
        </p:txBody>
      </p:sp>
      <p:sp>
        <p:nvSpPr>
          <p:cNvPr id="19" name="TextBox 18"/>
          <p:cNvSpPr txBox="1"/>
          <p:nvPr/>
        </p:nvSpPr>
        <p:spPr>
          <a:xfrm>
            <a:off x="8321040" y="2176272"/>
            <a:ext cx="2926080" cy="320040"/>
          </a:xfrm>
          <a:prstGeom prst="rect">
            <a:avLst/>
          </a:prstGeom>
          <a:noFill/>
        </p:spPr>
        <p:txBody>
          <a:bodyPr wrap="square"/>
          <a:lstStyle/>
          <a:p>
            <a:pPr algn="l">
              <a:defRPr sz="1100" b="0">
                <a:solidFill>
                  <a:srgbClr val="B5BAC1"/>
                </a:solidFill>
                <a:latin typeface="Inter"/>
              </a:defRPr>
            </a:pPr>
            <a:r>
              <a:t>Men die by suicide at nearly 4x the rate of women</a:t>
            </a:r>
          </a:p>
        </p:txBody>
      </p:sp>
      <p:sp>
        <p:nvSpPr>
          <p:cNvPr id="20" name="TextBox 19"/>
          <p:cNvSpPr txBox="1"/>
          <p:nvPr/>
        </p:nvSpPr>
        <p:spPr>
          <a:xfrm>
            <a:off x="7132320" y="2651760"/>
            <a:ext cx="1097280" cy="320040"/>
          </a:xfrm>
          <a:prstGeom prst="rect">
            <a:avLst/>
          </a:prstGeom>
          <a:noFill/>
        </p:spPr>
        <p:txBody>
          <a:bodyPr wrap="square"/>
          <a:lstStyle/>
          <a:p>
            <a:pPr algn="l">
              <a:defRPr sz="1800" b="1">
                <a:solidFill>
                  <a:srgbClr val="57F287"/>
                </a:solidFill>
                <a:latin typeface="Inter"/>
              </a:defRPr>
            </a:pPr>
            <a:r>
              <a:t>60%</a:t>
            </a:r>
          </a:p>
        </p:txBody>
      </p:sp>
      <p:sp>
        <p:nvSpPr>
          <p:cNvPr id="21" name="TextBox 20"/>
          <p:cNvSpPr txBox="1"/>
          <p:nvPr/>
        </p:nvSpPr>
        <p:spPr>
          <a:xfrm>
            <a:off x="8321040" y="2679192"/>
            <a:ext cx="2926080" cy="320040"/>
          </a:xfrm>
          <a:prstGeom prst="rect">
            <a:avLst/>
          </a:prstGeom>
          <a:noFill/>
        </p:spPr>
        <p:txBody>
          <a:bodyPr wrap="square"/>
          <a:lstStyle/>
          <a:p>
            <a:pPr algn="l">
              <a:defRPr sz="1100" b="0">
                <a:solidFill>
                  <a:srgbClr val="B5BAC1"/>
                </a:solidFill>
                <a:latin typeface="Inter"/>
              </a:defRPr>
            </a:pPr>
            <a:r>
              <a:t>Of men with mental health symptoms never seek help</a:t>
            </a:r>
          </a:p>
        </p:txBody>
      </p:sp>
      <p:sp>
        <p:nvSpPr>
          <p:cNvPr id="22" name="TextBox 21"/>
          <p:cNvSpPr txBox="1"/>
          <p:nvPr/>
        </p:nvSpPr>
        <p:spPr>
          <a:xfrm>
            <a:off x="7132320" y="3154680"/>
            <a:ext cx="1097280" cy="320040"/>
          </a:xfrm>
          <a:prstGeom prst="rect">
            <a:avLst/>
          </a:prstGeom>
          <a:noFill/>
        </p:spPr>
        <p:txBody>
          <a:bodyPr wrap="square"/>
          <a:lstStyle/>
          <a:p>
            <a:pPr algn="l">
              <a:defRPr sz="1800" b="1">
                <a:solidFill>
                  <a:srgbClr val="57F287"/>
                </a:solidFill>
                <a:latin typeface="Inter"/>
              </a:defRPr>
            </a:pPr>
            <a:r>
              <a:t>48 days</a:t>
            </a:r>
          </a:p>
        </p:txBody>
      </p:sp>
      <p:sp>
        <p:nvSpPr>
          <p:cNvPr id="23" name="TextBox 22"/>
          <p:cNvSpPr txBox="1"/>
          <p:nvPr/>
        </p:nvSpPr>
        <p:spPr>
          <a:xfrm>
            <a:off x="8321040" y="3182112"/>
            <a:ext cx="2926080" cy="320040"/>
          </a:xfrm>
          <a:prstGeom prst="rect">
            <a:avLst/>
          </a:prstGeom>
          <a:noFill/>
        </p:spPr>
        <p:txBody>
          <a:bodyPr wrap="square"/>
          <a:lstStyle/>
          <a:p>
            <a:pPr algn="l">
              <a:defRPr sz="1100" b="0">
                <a:solidFill>
                  <a:srgbClr val="B5BAC1"/>
                </a:solidFill>
                <a:latin typeface="Inter"/>
              </a:defRPr>
            </a:pPr>
            <a:r>
              <a:t>Average wait to see a new therapist in the US</a:t>
            </a:r>
          </a:p>
        </p:txBody>
      </p:sp>
      <p:sp>
        <p:nvSpPr>
          <p:cNvPr id="24" name="TextBox 23"/>
          <p:cNvSpPr txBox="1"/>
          <p:nvPr/>
        </p:nvSpPr>
        <p:spPr>
          <a:xfrm>
            <a:off x="7132320" y="3657600"/>
            <a:ext cx="1097280" cy="320040"/>
          </a:xfrm>
          <a:prstGeom prst="rect">
            <a:avLst/>
          </a:prstGeom>
          <a:noFill/>
        </p:spPr>
        <p:txBody>
          <a:bodyPr wrap="square"/>
          <a:lstStyle/>
          <a:p>
            <a:pPr algn="l">
              <a:defRPr sz="1800" b="1">
                <a:solidFill>
                  <a:srgbClr val="57F287"/>
                </a:solidFill>
                <a:latin typeface="Inter"/>
              </a:defRPr>
            </a:pPr>
            <a:r>
              <a:t>$250+</a:t>
            </a:r>
          </a:p>
        </p:txBody>
      </p:sp>
      <p:sp>
        <p:nvSpPr>
          <p:cNvPr id="25" name="TextBox 24"/>
          <p:cNvSpPr txBox="1"/>
          <p:nvPr/>
        </p:nvSpPr>
        <p:spPr>
          <a:xfrm>
            <a:off x="8321040" y="3685032"/>
            <a:ext cx="2926080" cy="320040"/>
          </a:xfrm>
          <a:prstGeom prst="rect">
            <a:avLst/>
          </a:prstGeom>
          <a:noFill/>
        </p:spPr>
        <p:txBody>
          <a:bodyPr wrap="square"/>
          <a:lstStyle/>
          <a:p>
            <a:pPr algn="l">
              <a:defRPr sz="1100" b="0">
                <a:solidFill>
                  <a:srgbClr val="B5BAC1"/>
                </a:solidFill>
                <a:latin typeface="Inter"/>
              </a:defRPr>
            </a:pPr>
            <a:r>
              <a:t>Average therapy session cost without insurance</a:t>
            </a:r>
          </a:p>
        </p:txBody>
      </p:sp>
      <p:sp>
        <p:nvSpPr>
          <p:cNvPr id="26" name="TextBox 25"/>
          <p:cNvSpPr txBox="1"/>
          <p:nvPr/>
        </p:nvSpPr>
        <p:spPr>
          <a:xfrm>
            <a:off x="7132320" y="4160520"/>
            <a:ext cx="1097280" cy="320040"/>
          </a:xfrm>
          <a:prstGeom prst="rect">
            <a:avLst/>
          </a:prstGeom>
          <a:noFill/>
        </p:spPr>
        <p:txBody>
          <a:bodyPr wrap="square"/>
          <a:lstStyle/>
          <a:p>
            <a:pPr algn="l">
              <a:defRPr sz="1800" b="1">
                <a:solidFill>
                  <a:srgbClr val="57F287"/>
                </a:solidFill>
                <a:latin typeface="Inter"/>
              </a:defRPr>
            </a:pPr>
            <a:r>
              <a:t>36%</a:t>
            </a:r>
          </a:p>
        </p:txBody>
      </p:sp>
      <p:sp>
        <p:nvSpPr>
          <p:cNvPr id="27" name="TextBox 26"/>
          <p:cNvSpPr txBox="1"/>
          <p:nvPr/>
        </p:nvSpPr>
        <p:spPr>
          <a:xfrm>
            <a:off x="8321040" y="4187952"/>
            <a:ext cx="2926080" cy="320040"/>
          </a:xfrm>
          <a:prstGeom prst="rect">
            <a:avLst/>
          </a:prstGeom>
          <a:noFill/>
        </p:spPr>
        <p:txBody>
          <a:bodyPr wrap="square"/>
          <a:lstStyle/>
          <a:p>
            <a:pPr algn="l">
              <a:defRPr sz="1100" b="0">
                <a:solidFill>
                  <a:srgbClr val="B5BAC1"/>
                </a:solidFill>
                <a:latin typeface="Inter"/>
              </a:defRPr>
            </a:pPr>
            <a:r>
              <a:t>Of therapy patients are male — despite equal prevalence</a:t>
            </a:r>
          </a:p>
        </p:txBody>
      </p:sp>
      <p:sp>
        <p:nvSpPr>
          <p:cNvPr id="28" name="TextBox 27"/>
          <p:cNvSpPr txBox="1"/>
          <p:nvPr/>
        </p:nvSpPr>
        <p:spPr>
          <a:xfrm>
            <a:off x="7132320" y="4663440"/>
            <a:ext cx="1097280" cy="320040"/>
          </a:xfrm>
          <a:prstGeom prst="rect">
            <a:avLst/>
          </a:prstGeom>
          <a:noFill/>
        </p:spPr>
        <p:txBody>
          <a:bodyPr wrap="square"/>
          <a:lstStyle/>
          <a:p>
            <a:pPr algn="l">
              <a:defRPr sz="1800" b="1">
                <a:solidFill>
                  <a:srgbClr val="57F287"/>
                </a:solidFill>
                <a:latin typeface="Inter"/>
              </a:defRPr>
            </a:pPr>
            <a:r>
              <a:t>50%</a:t>
            </a:r>
          </a:p>
        </p:txBody>
      </p:sp>
      <p:sp>
        <p:nvSpPr>
          <p:cNvPr id="29" name="TextBox 28"/>
          <p:cNvSpPr txBox="1"/>
          <p:nvPr/>
        </p:nvSpPr>
        <p:spPr>
          <a:xfrm>
            <a:off x="8321040" y="4690872"/>
            <a:ext cx="2926080" cy="320040"/>
          </a:xfrm>
          <a:prstGeom prst="rect">
            <a:avLst/>
          </a:prstGeom>
          <a:noFill/>
        </p:spPr>
        <p:txBody>
          <a:bodyPr wrap="square"/>
          <a:lstStyle/>
          <a:p>
            <a:pPr algn="l">
              <a:defRPr sz="1100" b="0">
                <a:solidFill>
                  <a:srgbClr val="B5BAC1"/>
                </a:solidFill>
                <a:latin typeface="Inter"/>
              </a:defRPr>
            </a:pPr>
            <a:r>
              <a:t>Of US counties have zero practicing psychiatrists</a:t>
            </a:r>
          </a:p>
        </p:txBody>
      </p:sp>
      <p:sp>
        <p:nvSpPr>
          <p:cNvPr id="30" name="TextBox 29"/>
          <p:cNvSpPr txBox="1"/>
          <p:nvPr/>
        </p:nvSpPr>
        <p:spPr>
          <a:xfrm>
            <a:off x="7132320" y="5166360"/>
            <a:ext cx="1097280" cy="320040"/>
          </a:xfrm>
          <a:prstGeom prst="rect">
            <a:avLst/>
          </a:prstGeom>
          <a:noFill/>
        </p:spPr>
        <p:txBody>
          <a:bodyPr wrap="square"/>
          <a:lstStyle/>
          <a:p>
            <a:pPr algn="l">
              <a:defRPr sz="1800" b="1">
                <a:solidFill>
                  <a:srgbClr val="57F287"/>
                </a:solidFill>
                <a:latin typeface="Inter"/>
              </a:defRPr>
            </a:pPr>
            <a:r>
              <a:t>73%</a:t>
            </a:r>
          </a:p>
        </p:txBody>
      </p:sp>
      <p:sp>
        <p:nvSpPr>
          <p:cNvPr id="31" name="TextBox 30"/>
          <p:cNvSpPr txBox="1"/>
          <p:nvPr/>
        </p:nvSpPr>
        <p:spPr>
          <a:xfrm>
            <a:off x="8321040" y="5193792"/>
            <a:ext cx="2926080" cy="320040"/>
          </a:xfrm>
          <a:prstGeom prst="rect">
            <a:avLst/>
          </a:prstGeom>
          <a:noFill/>
        </p:spPr>
        <p:txBody>
          <a:bodyPr wrap="square"/>
          <a:lstStyle/>
          <a:p>
            <a:pPr algn="l">
              <a:defRPr sz="1100" b="0">
                <a:solidFill>
                  <a:srgbClr val="B5BAC1"/>
                </a:solidFill>
                <a:latin typeface="Inter"/>
              </a:defRPr>
            </a:pPr>
            <a:r>
              <a:t>Of 18-29 year-olds report significant stress (APA)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0E10"/>
        </a:solidFill>
        <a:effectLst/>
      </p:bgPr>
    </p:bg>
    <p:spTree>
      <p:nvGrpSpPr>
        <p:cNvPr id="1" name=""/>
        <p:cNvGrpSpPr/>
        <p:nvPr/>
      </p:nvGrpSpPr>
      <p:grpSpPr/>
      <p:sp>
        <p:nvSpPr>
          <p:cNvPr id="2" name="Rectangle 1"/>
          <p:cNvSpPr/>
          <p:nvPr/>
        </p:nvSpPr>
        <p:spPr>
          <a:xfrm>
            <a:off x="0" y="0"/>
            <a:ext cx="76200" cy="6858000"/>
          </a:xfrm>
          <a:prstGeom prst="rect">
            <a:avLst/>
          </a:prstGeom>
          <a:solidFill>
            <a:srgbClr val="57F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lstStyle/>
          <a:p>
            <a:pPr algn="l">
              <a:defRPr sz="1100" b="1">
                <a:solidFill>
                  <a:srgbClr val="57F287"/>
                </a:solidFill>
                <a:latin typeface="Inter"/>
              </a:defRPr>
            </a:pPr>
            <a:r>
              <a:t>PERSONA 5  |  THE DISCONNECTED DUDE</a:t>
            </a:r>
          </a:p>
        </p:txBody>
      </p:sp>
      <p:sp>
        <p:nvSpPr>
          <p:cNvPr id="4" name="TextBox 3"/>
          <p:cNvSpPr txBox="1"/>
          <p:nvPr/>
        </p:nvSpPr>
        <p:spPr>
          <a:xfrm>
            <a:off x="731520" y="640080"/>
            <a:ext cx="9144000" cy="457200"/>
          </a:xfrm>
          <a:prstGeom prst="rect">
            <a:avLst/>
          </a:prstGeom>
          <a:noFill/>
        </p:spPr>
        <p:txBody>
          <a:bodyPr wrap="square"/>
          <a:lstStyle/>
          <a:p>
            <a:pPr algn="l">
              <a:defRPr sz="2600" b="1">
                <a:solidFill>
                  <a:srgbClr val="FFFFFF"/>
                </a:solidFill>
                <a:latin typeface="Inter"/>
              </a:defRPr>
            </a:pPr>
            <a:r>
              <a:t>Ranking Against Existing Personas</a:t>
            </a:r>
          </a:p>
        </p:txBody>
      </p:sp>
      <p:sp>
        <p:nvSpPr>
          <p:cNvPr id="5" name="Rectangle 4"/>
          <p:cNvSpPr/>
          <p:nvPr/>
        </p:nvSpPr>
        <p:spPr>
          <a:xfrm>
            <a:off x="731520" y="1371600"/>
            <a:ext cx="10789920" cy="548640"/>
          </a:xfrm>
          <a:prstGeom prst="rect">
            <a:avLst/>
          </a:prstGeom>
          <a:solidFill>
            <a:srgbClr val="181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2560320" cy="457200"/>
          </a:xfrm>
          <a:prstGeom prst="rect">
            <a:avLst/>
          </a:prstGeom>
          <a:noFill/>
        </p:spPr>
        <p:txBody>
          <a:bodyPr wrap="square"/>
          <a:lstStyle/>
          <a:p>
            <a:pPr algn="l">
              <a:defRPr sz="1000" b="1">
                <a:solidFill>
                  <a:srgbClr val="57F287"/>
                </a:solidFill>
                <a:latin typeface="Inter"/>
              </a:defRPr>
            </a:pPr>
            <a:r>
              <a:t>Persona</a:t>
            </a:r>
          </a:p>
        </p:txBody>
      </p:sp>
      <p:sp>
        <p:nvSpPr>
          <p:cNvPr id="7" name="TextBox 6"/>
          <p:cNvSpPr txBox="1"/>
          <p:nvPr/>
        </p:nvSpPr>
        <p:spPr>
          <a:xfrm>
            <a:off x="3474720" y="1417320"/>
            <a:ext cx="1554480" cy="457200"/>
          </a:xfrm>
          <a:prstGeom prst="rect">
            <a:avLst/>
          </a:prstGeom>
          <a:noFill/>
        </p:spPr>
        <p:txBody>
          <a:bodyPr wrap="square"/>
          <a:lstStyle/>
          <a:p>
            <a:pPr algn="ctr">
              <a:defRPr sz="1000" b="1">
                <a:solidFill>
                  <a:srgbClr val="57F287"/>
                </a:solidFill>
                <a:latin typeface="Inter"/>
              </a:defRPr>
            </a:pPr>
            <a:r>
              <a:t>TAM</a:t>
            </a:r>
            <a:br/>
            <a:r>
              <a:t>Potential</a:t>
            </a:r>
          </a:p>
        </p:txBody>
      </p:sp>
      <p:sp>
        <p:nvSpPr>
          <p:cNvPr id="8" name="TextBox 7"/>
          <p:cNvSpPr txBox="1"/>
          <p:nvPr/>
        </p:nvSpPr>
        <p:spPr>
          <a:xfrm>
            <a:off x="5120640" y="1417320"/>
            <a:ext cx="1554480" cy="457200"/>
          </a:xfrm>
          <a:prstGeom prst="rect">
            <a:avLst/>
          </a:prstGeom>
          <a:noFill/>
        </p:spPr>
        <p:txBody>
          <a:bodyPr wrap="square"/>
          <a:lstStyle/>
          <a:p>
            <a:pPr algn="ctr">
              <a:defRPr sz="1000" b="1">
                <a:solidFill>
                  <a:srgbClr val="57F287"/>
                </a:solidFill>
                <a:latin typeface="Inter"/>
              </a:defRPr>
            </a:pPr>
            <a:r>
              <a:t>Acquisition</a:t>
            </a:r>
            <a:br/>
            <a:r>
              <a:t>Difficulty</a:t>
            </a:r>
          </a:p>
        </p:txBody>
      </p:sp>
      <p:sp>
        <p:nvSpPr>
          <p:cNvPr id="9" name="TextBox 8"/>
          <p:cNvSpPr txBox="1"/>
          <p:nvPr/>
        </p:nvSpPr>
        <p:spPr>
          <a:xfrm>
            <a:off x="6766560" y="1417320"/>
            <a:ext cx="1554480" cy="457200"/>
          </a:xfrm>
          <a:prstGeom prst="rect">
            <a:avLst/>
          </a:prstGeom>
          <a:noFill/>
        </p:spPr>
        <p:txBody>
          <a:bodyPr wrap="square"/>
          <a:lstStyle/>
          <a:p>
            <a:pPr algn="ctr">
              <a:defRPr sz="1000" b="1">
                <a:solidFill>
                  <a:srgbClr val="57F287"/>
                </a:solidFill>
                <a:latin typeface="Inter"/>
              </a:defRPr>
            </a:pPr>
            <a:r>
              <a:t>Retention</a:t>
            </a:r>
            <a:br/>
            <a:r>
              <a:t>Potential</a:t>
            </a:r>
          </a:p>
        </p:txBody>
      </p:sp>
      <p:sp>
        <p:nvSpPr>
          <p:cNvPr id="10" name="TextBox 9"/>
          <p:cNvSpPr txBox="1"/>
          <p:nvPr/>
        </p:nvSpPr>
        <p:spPr>
          <a:xfrm>
            <a:off x="8412480" y="1417320"/>
            <a:ext cx="1554480" cy="457200"/>
          </a:xfrm>
          <a:prstGeom prst="rect">
            <a:avLst/>
          </a:prstGeom>
          <a:noFill/>
        </p:spPr>
        <p:txBody>
          <a:bodyPr wrap="square"/>
          <a:lstStyle/>
          <a:p>
            <a:pPr algn="ctr">
              <a:defRPr sz="1000" b="1">
                <a:solidFill>
                  <a:srgbClr val="57F287"/>
                </a:solidFill>
                <a:latin typeface="Inter"/>
              </a:defRPr>
            </a:pPr>
            <a:r>
              <a:t>Messaging</a:t>
            </a:r>
            <a:br/>
            <a:r>
              <a:t>Clarity</a:t>
            </a:r>
          </a:p>
        </p:txBody>
      </p:sp>
      <p:sp>
        <p:nvSpPr>
          <p:cNvPr id="11" name="TextBox 10"/>
          <p:cNvSpPr txBox="1"/>
          <p:nvPr/>
        </p:nvSpPr>
        <p:spPr>
          <a:xfrm>
            <a:off x="10058400" y="1417320"/>
            <a:ext cx="1554480" cy="457200"/>
          </a:xfrm>
          <a:prstGeom prst="rect">
            <a:avLst/>
          </a:prstGeom>
          <a:noFill/>
        </p:spPr>
        <p:txBody>
          <a:bodyPr wrap="square"/>
          <a:lstStyle/>
          <a:p>
            <a:pPr algn="ctr">
              <a:defRPr sz="1000" b="1">
                <a:solidFill>
                  <a:srgbClr val="57F287"/>
                </a:solidFill>
                <a:latin typeface="Inter"/>
              </a:defRPr>
            </a:pPr>
            <a:r>
              <a:t>Product-</a:t>
            </a:r>
            <a:br/>
            <a:r>
              <a:t>Market Fit</a:t>
            </a:r>
          </a:p>
        </p:txBody>
      </p:sp>
      <p:sp>
        <p:nvSpPr>
          <p:cNvPr id="12" name="Rectangle 11"/>
          <p:cNvSpPr/>
          <p:nvPr/>
        </p:nvSpPr>
        <p:spPr>
          <a:xfrm>
            <a:off x="731520" y="1965960"/>
            <a:ext cx="10789920" cy="457200"/>
          </a:xfrm>
          <a:prstGeom prst="rect">
            <a:avLst/>
          </a:prstGeom>
          <a:solidFill>
            <a:srgbClr val="1F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57400"/>
            <a:ext cx="2560320" cy="274320"/>
          </a:xfrm>
          <a:prstGeom prst="rect">
            <a:avLst/>
          </a:prstGeom>
          <a:noFill/>
        </p:spPr>
        <p:txBody>
          <a:bodyPr wrap="square"/>
          <a:lstStyle/>
          <a:p>
            <a:pPr algn="l">
              <a:defRPr sz="1200" b="0">
                <a:solidFill>
                  <a:srgbClr val="FFFFFF"/>
                </a:solidFill>
                <a:latin typeface="Inter"/>
              </a:defRPr>
            </a:pPr>
            <a:r>
              <a:t>1. The Burned-Out Builder</a:t>
            </a:r>
          </a:p>
        </p:txBody>
      </p:sp>
      <p:sp>
        <p:nvSpPr>
          <p:cNvPr id="14" name="TextBox 13"/>
          <p:cNvSpPr txBox="1"/>
          <p:nvPr/>
        </p:nvSpPr>
        <p:spPr>
          <a:xfrm>
            <a:off x="3474720" y="2057400"/>
            <a:ext cx="1554480" cy="274320"/>
          </a:xfrm>
          <a:prstGeom prst="rect">
            <a:avLst/>
          </a:prstGeom>
          <a:noFill/>
        </p:spPr>
        <p:txBody>
          <a:bodyPr wrap="square"/>
          <a:lstStyle/>
          <a:p>
            <a:pPr algn="ctr">
              <a:defRPr sz="1200" b="1">
                <a:solidFill>
                  <a:srgbClr val="57F287"/>
                </a:solidFill>
                <a:latin typeface="Inter"/>
              </a:defRPr>
            </a:pPr>
            <a:r>
              <a:t>9/10</a:t>
            </a:r>
          </a:p>
        </p:txBody>
      </p:sp>
      <p:sp>
        <p:nvSpPr>
          <p:cNvPr id="15" name="TextBox 14"/>
          <p:cNvSpPr txBox="1"/>
          <p:nvPr/>
        </p:nvSpPr>
        <p:spPr>
          <a:xfrm>
            <a:off x="5120640" y="2057400"/>
            <a:ext cx="1554480" cy="274320"/>
          </a:xfrm>
          <a:prstGeom prst="rect">
            <a:avLst/>
          </a:prstGeom>
          <a:noFill/>
        </p:spPr>
        <p:txBody>
          <a:bodyPr wrap="square"/>
          <a:lstStyle/>
          <a:p>
            <a:pPr algn="ctr">
              <a:defRPr sz="1200" b="1">
                <a:solidFill>
                  <a:srgbClr val="B5BAC1"/>
                </a:solidFill>
                <a:latin typeface="Inter"/>
              </a:defRPr>
            </a:pPr>
            <a:r>
              <a:t>6/10</a:t>
            </a:r>
          </a:p>
        </p:txBody>
      </p:sp>
      <p:sp>
        <p:nvSpPr>
          <p:cNvPr id="16" name="TextBox 15"/>
          <p:cNvSpPr txBox="1"/>
          <p:nvPr/>
        </p:nvSpPr>
        <p:spPr>
          <a:xfrm>
            <a:off x="6766560" y="2057400"/>
            <a:ext cx="1554480" cy="274320"/>
          </a:xfrm>
          <a:prstGeom prst="rect">
            <a:avLst/>
          </a:prstGeom>
          <a:noFill/>
        </p:spPr>
        <p:txBody>
          <a:bodyPr wrap="square"/>
          <a:lstStyle/>
          <a:p>
            <a:pPr algn="ctr">
              <a:defRPr sz="1200" b="1">
                <a:solidFill>
                  <a:srgbClr val="57F287"/>
                </a:solidFill>
                <a:latin typeface="Inter"/>
              </a:defRPr>
            </a:pPr>
            <a:r>
              <a:t>9/10</a:t>
            </a:r>
          </a:p>
        </p:txBody>
      </p:sp>
      <p:sp>
        <p:nvSpPr>
          <p:cNvPr id="17" name="TextBox 16"/>
          <p:cNvSpPr txBox="1"/>
          <p:nvPr/>
        </p:nvSpPr>
        <p:spPr>
          <a:xfrm>
            <a:off x="8412480" y="2057400"/>
            <a:ext cx="1554480" cy="274320"/>
          </a:xfrm>
          <a:prstGeom prst="rect">
            <a:avLst/>
          </a:prstGeom>
          <a:noFill/>
        </p:spPr>
        <p:txBody>
          <a:bodyPr wrap="square"/>
          <a:lstStyle/>
          <a:p>
            <a:pPr algn="ctr">
              <a:defRPr sz="1200" b="1">
                <a:solidFill>
                  <a:srgbClr val="57F287"/>
                </a:solidFill>
                <a:latin typeface="Inter"/>
              </a:defRPr>
            </a:pPr>
            <a:r>
              <a:t>9/10</a:t>
            </a:r>
          </a:p>
        </p:txBody>
      </p:sp>
      <p:sp>
        <p:nvSpPr>
          <p:cNvPr id="18" name="TextBox 17"/>
          <p:cNvSpPr txBox="1"/>
          <p:nvPr/>
        </p:nvSpPr>
        <p:spPr>
          <a:xfrm>
            <a:off x="10058400" y="2057400"/>
            <a:ext cx="1554480" cy="274320"/>
          </a:xfrm>
          <a:prstGeom prst="rect">
            <a:avLst/>
          </a:prstGeom>
          <a:noFill/>
        </p:spPr>
        <p:txBody>
          <a:bodyPr wrap="square"/>
          <a:lstStyle/>
          <a:p>
            <a:pPr algn="ctr">
              <a:defRPr sz="1200" b="1">
                <a:solidFill>
                  <a:srgbClr val="57F287"/>
                </a:solidFill>
                <a:latin typeface="Inter"/>
              </a:defRPr>
            </a:pPr>
            <a:r>
              <a:t>10/10</a:t>
            </a:r>
          </a:p>
        </p:txBody>
      </p:sp>
      <p:sp>
        <p:nvSpPr>
          <p:cNvPr id="19" name="Rectangle 18"/>
          <p:cNvSpPr/>
          <p:nvPr/>
        </p:nvSpPr>
        <p:spPr>
          <a:xfrm>
            <a:off x="731520" y="2423160"/>
            <a:ext cx="10789920" cy="457200"/>
          </a:xfrm>
          <a:prstGeom prst="rect">
            <a:avLst/>
          </a:prstGeom>
          <a:solidFill>
            <a:srgbClr val="181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14600"/>
            <a:ext cx="2560320" cy="274320"/>
          </a:xfrm>
          <a:prstGeom prst="rect">
            <a:avLst/>
          </a:prstGeom>
          <a:noFill/>
        </p:spPr>
        <p:txBody>
          <a:bodyPr wrap="square"/>
          <a:lstStyle/>
          <a:p>
            <a:pPr algn="l">
              <a:defRPr sz="1200" b="1">
                <a:solidFill>
                  <a:srgbClr val="57F287"/>
                </a:solidFill>
                <a:latin typeface="Inter"/>
              </a:defRPr>
            </a:pPr>
            <a:r>
              <a:t>2. The Disconnected Dude</a:t>
            </a:r>
          </a:p>
        </p:txBody>
      </p:sp>
      <p:sp>
        <p:nvSpPr>
          <p:cNvPr id="21" name="TextBox 20"/>
          <p:cNvSpPr txBox="1"/>
          <p:nvPr/>
        </p:nvSpPr>
        <p:spPr>
          <a:xfrm>
            <a:off x="3474720" y="2514600"/>
            <a:ext cx="1554480" cy="274320"/>
          </a:xfrm>
          <a:prstGeom prst="rect">
            <a:avLst/>
          </a:prstGeom>
          <a:noFill/>
        </p:spPr>
        <p:txBody>
          <a:bodyPr wrap="square"/>
          <a:lstStyle/>
          <a:p>
            <a:pPr algn="ctr">
              <a:defRPr sz="1200" b="1">
                <a:solidFill>
                  <a:srgbClr val="FEE75C"/>
                </a:solidFill>
                <a:latin typeface="Inter"/>
              </a:defRPr>
            </a:pPr>
            <a:r>
              <a:t>8/10</a:t>
            </a:r>
          </a:p>
        </p:txBody>
      </p:sp>
      <p:sp>
        <p:nvSpPr>
          <p:cNvPr id="22" name="TextBox 21"/>
          <p:cNvSpPr txBox="1"/>
          <p:nvPr/>
        </p:nvSpPr>
        <p:spPr>
          <a:xfrm>
            <a:off x="5120640" y="2514600"/>
            <a:ext cx="1554480" cy="274320"/>
          </a:xfrm>
          <a:prstGeom prst="rect">
            <a:avLst/>
          </a:prstGeom>
          <a:noFill/>
        </p:spPr>
        <p:txBody>
          <a:bodyPr wrap="square"/>
          <a:lstStyle/>
          <a:p>
            <a:pPr algn="ctr">
              <a:defRPr sz="1200" b="1">
                <a:solidFill>
                  <a:srgbClr val="FEE75C"/>
                </a:solidFill>
                <a:latin typeface="Inter"/>
              </a:defRPr>
            </a:pPr>
            <a:r>
              <a:t>8/10</a:t>
            </a:r>
          </a:p>
        </p:txBody>
      </p:sp>
      <p:sp>
        <p:nvSpPr>
          <p:cNvPr id="23" name="TextBox 22"/>
          <p:cNvSpPr txBox="1"/>
          <p:nvPr/>
        </p:nvSpPr>
        <p:spPr>
          <a:xfrm>
            <a:off x="6766560" y="2514600"/>
            <a:ext cx="1554480" cy="274320"/>
          </a:xfrm>
          <a:prstGeom prst="rect">
            <a:avLst/>
          </a:prstGeom>
          <a:noFill/>
        </p:spPr>
        <p:txBody>
          <a:bodyPr wrap="square"/>
          <a:lstStyle/>
          <a:p>
            <a:pPr algn="ctr">
              <a:defRPr sz="1200" b="1">
                <a:solidFill>
                  <a:srgbClr val="FEE75C"/>
                </a:solidFill>
                <a:latin typeface="Inter"/>
              </a:defRPr>
            </a:pPr>
            <a:r>
              <a:t>7/10</a:t>
            </a:r>
          </a:p>
        </p:txBody>
      </p:sp>
      <p:sp>
        <p:nvSpPr>
          <p:cNvPr id="24" name="TextBox 23"/>
          <p:cNvSpPr txBox="1"/>
          <p:nvPr/>
        </p:nvSpPr>
        <p:spPr>
          <a:xfrm>
            <a:off x="8412480" y="2514600"/>
            <a:ext cx="1554480" cy="274320"/>
          </a:xfrm>
          <a:prstGeom prst="rect">
            <a:avLst/>
          </a:prstGeom>
          <a:noFill/>
        </p:spPr>
        <p:txBody>
          <a:bodyPr wrap="square"/>
          <a:lstStyle/>
          <a:p>
            <a:pPr algn="ctr">
              <a:defRPr sz="1200" b="1">
                <a:solidFill>
                  <a:srgbClr val="57F287"/>
                </a:solidFill>
                <a:latin typeface="Inter"/>
              </a:defRPr>
            </a:pPr>
            <a:r>
              <a:t>9/10</a:t>
            </a:r>
          </a:p>
        </p:txBody>
      </p:sp>
      <p:sp>
        <p:nvSpPr>
          <p:cNvPr id="25" name="TextBox 24"/>
          <p:cNvSpPr txBox="1"/>
          <p:nvPr/>
        </p:nvSpPr>
        <p:spPr>
          <a:xfrm>
            <a:off x="10058400" y="2514600"/>
            <a:ext cx="1554480" cy="274320"/>
          </a:xfrm>
          <a:prstGeom prst="rect">
            <a:avLst/>
          </a:prstGeom>
          <a:noFill/>
        </p:spPr>
        <p:txBody>
          <a:bodyPr wrap="square"/>
          <a:lstStyle/>
          <a:p>
            <a:pPr algn="ctr">
              <a:defRPr sz="1200" b="1">
                <a:solidFill>
                  <a:srgbClr val="FEE75C"/>
                </a:solidFill>
                <a:latin typeface="Inter"/>
              </a:defRPr>
            </a:pPr>
            <a:r>
              <a:t>8/10</a:t>
            </a:r>
          </a:p>
        </p:txBody>
      </p:sp>
      <p:sp>
        <p:nvSpPr>
          <p:cNvPr id="26" name="Rectangle 25"/>
          <p:cNvSpPr/>
          <p:nvPr/>
        </p:nvSpPr>
        <p:spPr>
          <a:xfrm>
            <a:off x="731520" y="2880360"/>
            <a:ext cx="10789920" cy="457200"/>
          </a:xfrm>
          <a:prstGeom prst="rect">
            <a:avLst/>
          </a:prstGeom>
          <a:solidFill>
            <a:srgbClr val="1F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971800"/>
            <a:ext cx="2560320" cy="274320"/>
          </a:xfrm>
          <a:prstGeom prst="rect">
            <a:avLst/>
          </a:prstGeom>
          <a:noFill/>
        </p:spPr>
        <p:txBody>
          <a:bodyPr wrap="square"/>
          <a:lstStyle/>
          <a:p>
            <a:pPr algn="l">
              <a:defRPr sz="1200" b="0">
                <a:solidFill>
                  <a:srgbClr val="FFFFFF"/>
                </a:solidFill>
                <a:latin typeface="Inter"/>
              </a:defRPr>
            </a:pPr>
            <a:r>
              <a:t>3. The Optimization Architect</a:t>
            </a:r>
          </a:p>
        </p:txBody>
      </p:sp>
      <p:sp>
        <p:nvSpPr>
          <p:cNvPr id="28" name="TextBox 27"/>
          <p:cNvSpPr txBox="1"/>
          <p:nvPr/>
        </p:nvSpPr>
        <p:spPr>
          <a:xfrm>
            <a:off x="3474720" y="2971800"/>
            <a:ext cx="1554480" cy="274320"/>
          </a:xfrm>
          <a:prstGeom prst="rect">
            <a:avLst/>
          </a:prstGeom>
          <a:noFill/>
        </p:spPr>
        <p:txBody>
          <a:bodyPr wrap="square"/>
          <a:lstStyle/>
          <a:p>
            <a:pPr algn="ctr">
              <a:defRPr sz="1200" b="1">
                <a:solidFill>
                  <a:srgbClr val="FEE75C"/>
                </a:solidFill>
                <a:latin typeface="Inter"/>
              </a:defRPr>
            </a:pPr>
            <a:r>
              <a:t>7/10</a:t>
            </a:r>
          </a:p>
        </p:txBody>
      </p:sp>
      <p:sp>
        <p:nvSpPr>
          <p:cNvPr id="29" name="TextBox 28"/>
          <p:cNvSpPr txBox="1"/>
          <p:nvPr/>
        </p:nvSpPr>
        <p:spPr>
          <a:xfrm>
            <a:off x="5120640" y="2971800"/>
            <a:ext cx="1554480" cy="274320"/>
          </a:xfrm>
          <a:prstGeom prst="rect">
            <a:avLst/>
          </a:prstGeom>
          <a:noFill/>
        </p:spPr>
        <p:txBody>
          <a:bodyPr wrap="square"/>
          <a:lstStyle/>
          <a:p>
            <a:pPr algn="ctr">
              <a:defRPr sz="1200" b="1">
                <a:solidFill>
                  <a:srgbClr val="B5BAC1"/>
                </a:solidFill>
                <a:latin typeface="Inter"/>
              </a:defRPr>
            </a:pPr>
            <a:r>
              <a:t>5/10</a:t>
            </a:r>
          </a:p>
        </p:txBody>
      </p:sp>
      <p:sp>
        <p:nvSpPr>
          <p:cNvPr id="30" name="TextBox 29"/>
          <p:cNvSpPr txBox="1"/>
          <p:nvPr/>
        </p:nvSpPr>
        <p:spPr>
          <a:xfrm>
            <a:off x="6766560" y="2971800"/>
            <a:ext cx="1554480" cy="274320"/>
          </a:xfrm>
          <a:prstGeom prst="rect">
            <a:avLst/>
          </a:prstGeom>
          <a:noFill/>
        </p:spPr>
        <p:txBody>
          <a:bodyPr wrap="square"/>
          <a:lstStyle/>
          <a:p>
            <a:pPr algn="ctr">
              <a:defRPr sz="1200" b="1">
                <a:solidFill>
                  <a:srgbClr val="FEE75C"/>
                </a:solidFill>
                <a:latin typeface="Inter"/>
              </a:defRPr>
            </a:pPr>
            <a:r>
              <a:t>8/10</a:t>
            </a:r>
          </a:p>
        </p:txBody>
      </p:sp>
      <p:sp>
        <p:nvSpPr>
          <p:cNvPr id="31" name="TextBox 30"/>
          <p:cNvSpPr txBox="1"/>
          <p:nvPr/>
        </p:nvSpPr>
        <p:spPr>
          <a:xfrm>
            <a:off x="8412480" y="2971800"/>
            <a:ext cx="1554480" cy="274320"/>
          </a:xfrm>
          <a:prstGeom prst="rect">
            <a:avLst/>
          </a:prstGeom>
          <a:noFill/>
        </p:spPr>
        <p:txBody>
          <a:bodyPr wrap="square"/>
          <a:lstStyle/>
          <a:p>
            <a:pPr algn="ctr">
              <a:defRPr sz="1200" b="1">
                <a:solidFill>
                  <a:srgbClr val="FEE75C"/>
                </a:solidFill>
                <a:latin typeface="Inter"/>
              </a:defRPr>
            </a:pPr>
            <a:r>
              <a:t>7/10</a:t>
            </a:r>
          </a:p>
        </p:txBody>
      </p:sp>
      <p:sp>
        <p:nvSpPr>
          <p:cNvPr id="32" name="TextBox 31"/>
          <p:cNvSpPr txBox="1"/>
          <p:nvPr/>
        </p:nvSpPr>
        <p:spPr>
          <a:xfrm>
            <a:off x="10058400" y="2971800"/>
            <a:ext cx="1554480" cy="274320"/>
          </a:xfrm>
          <a:prstGeom prst="rect">
            <a:avLst/>
          </a:prstGeom>
          <a:noFill/>
        </p:spPr>
        <p:txBody>
          <a:bodyPr wrap="square"/>
          <a:lstStyle/>
          <a:p>
            <a:pPr algn="ctr">
              <a:defRPr sz="1200" b="1">
                <a:solidFill>
                  <a:srgbClr val="FEE75C"/>
                </a:solidFill>
                <a:latin typeface="Inter"/>
              </a:defRPr>
            </a:pPr>
            <a:r>
              <a:t>8/10</a:t>
            </a:r>
          </a:p>
        </p:txBody>
      </p:sp>
      <p:sp>
        <p:nvSpPr>
          <p:cNvPr id="33" name="Rectangle 32"/>
          <p:cNvSpPr/>
          <p:nvPr/>
        </p:nvSpPr>
        <p:spPr>
          <a:xfrm>
            <a:off x="731520" y="3337560"/>
            <a:ext cx="10789920" cy="457200"/>
          </a:xfrm>
          <a:prstGeom prst="rect">
            <a:avLst/>
          </a:prstGeom>
          <a:solidFill>
            <a:srgbClr val="181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429000"/>
            <a:ext cx="2560320" cy="274320"/>
          </a:xfrm>
          <a:prstGeom prst="rect">
            <a:avLst/>
          </a:prstGeom>
          <a:noFill/>
        </p:spPr>
        <p:txBody>
          <a:bodyPr wrap="square"/>
          <a:lstStyle/>
          <a:p>
            <a:pPr algn="l">
              <a:defRPr sz="1200" b="0">
                <a:solidFill>
                  <a:srgbClr val="FFFFFF"/>
                </a:solidFill>
                <a:latin typeface="Inter"/>
              </a:defRPr>
            </a:pPr>
            <a:r>
              <a:t>4. The System Skeptic</a:t>
            </a:r>
          </a:p>
        </p:txBody>
      </p:sp>
      <p:sp>
        <p:nvSpPr>
          <p:cNvPr id="35" name="TextBox 34"/>
          <p:cNvSpPr txBox="1"/>
          <p:nvPr/>
        </p:nvSpPr>
        <p:spPr>
          <a:xfrm>
            <a:off x="3474720" y="3429000"/>
            <a:ext cx="1554480" cy="274320"/>
          </a:xfrm>
          <a:prstGeom prst="rect">
            <a:avLst/>
          </a:prstGeom>
          <a:noFill/>
        </p:spPr>
        <p:txBody>
          <a:bodyPr wrap="square"/>
          <a:lstStyle/>
          <a:p>
            <a:pPr algn="ctr">
              <a:defRPr sz="1200" b="1">
                <a:solidFill>
                  <a:srgbClr val="B5BAC1"/>
                </a:solidFill>
                <a:latin typeface="Inter"/>
              </a:defRPr>
            </a:pPr>
            <a:r>
              <a:t>6/10</a:t>
            </a:r>
          </a:p>
        </p:txBody>
      </p:sp>
      <p:sp>
        <p:nvSpPr>
          <p:cNvPr id="36" name="TextBox 35"/>
          <p:cNvSpPr txBox="1"/>
          <p:nvPr/>
        </p:nvSpPr>
        <p:spPr>
          <a:xfrm>
            <a:off x="5120640" y="3429000"/>
            <a:ext cx="1554480" cy="274320"/>
          </a:xfrm>
          <a:prstGeom prst="rect">
            <a:avLst/>
          </a:prstGeom>
          <a:noFill/>
        </p:spPr>
        <p:txBody>
          <a:bodyPr wrap="square"/>
          <a:lstStyle/>
          <a:p>
            <a:pPr algn="ctr">
              <a:defRPr sz="1200" b="1">
                <a:solidFill>
                  <a:srgbClr val="FEE75C"/>
                </a:solidFill>
                <a:latin typeface="Inter"/>
              </a:defRPr>
            </a:pPr>
            <a:r>
              <a:t>7/10</a:t>
            </a:r>
          </a:p>
        </p:txBody>
      </p:sp>
      <p:sp>
        <p:nvSpPr>
          <p:cNvPr id="37" name="TextBox 36"/>
          <p:cNvSpPr txBox="1"/>
          <p:nvPr/>
        </p:nvSpPr>
        <p:spPr>
          <a:xfrm>
            <a:off x="6766560" y="3429000"/>
            <a:ext cx="1554480" cy="274320"/>
          </a:xfrm>
          <a:prstGeom prst="rect">
            <a:avLst/>
          </a:prstGeom>
          <a:noFill/>
        </p:spPr>
        <p:txBody>
          <a:bodyPr wrap="square"/>
          <a:lstStyle/>
          <a:p>
            <a:pPr algn="ctr">
              <a:defRPr sz="1200" b="1">
                <a:solidFill>
                  <a:srgbClr val="FEE75C"/>
                </a:solidFill>
                <a:latin typeface="Inter"/>
              </a:defRPr>
            </a:pPr>
            <a:r>
              <a:t>8/10</a:t>
            </a:r>
          </a:p>
        </p:txBody>
      </p:sp>
      <p:sp>
        <p:nvSpPr>
          <p:cNvPr id="38" name="TextBox 37"/>
          <p:cNvSpPr txBox="1"/>
          <p:nvPr/>
        </p:nvSpPr>
        <p:spPr>
          <a:xfrm>
            <a:off x="8412480" y="3429000"/>
            <a:ext cx="1554480" cy="274320"/>
          </a:xfrm>
          <a:prstGeom prst="rect">
            <a:avLst/>
          </a:prstGeom>
          <a:noFill/>
        </p:spPr>
        <p:txBody>
          <a:bodyPr wrap="square"/>
          <a:lstStyle/>
          <a:p>
            <a:pPr algn="ctr">
              <a:defRPr sz="1200" b="1">
                <a:solidFill>
                  <a:srgbClr val="FEE75C"/>
                </a:solidFill>
                <a:latin typeface="Inter"/>
              </a:defRPr>
            </a:pPr>
            <a:r>
              <a:t>8/10</a:t>
            </a:r>
          </a:p>
        </p:txBody>
      </p:sp>
      <p:sp>
        <p:nvSpPr>
          <p:cNvPr id="39" name="TextBox 38"/>
          <p:cNvSpPr txBox="1"/>
          <p:nvPr/>
        </p:nvSpPr>
        <p:spPr>
          <a:xfrm>
            <a:off x="10058400" y="3429000"/>
            <a:ext cx="1554480" cy="274320"/>
          </a:xfrm>
          <a:prstGeom prst="rect">
            <a:avLst/>
          </a:prstGeom>
          <a:noFill/>
        </p:spPr>
        <p:txBody>
          <a:bodyPr wrap="square"/>
          <a:lstStyle/>
          <a:p>
            <a:pPr algn="ctr">
              <a:defRPr sz="1200" b="1">
                <a:solidFill>
                  <a:srgbClr val="FEE75C"/>
                </a:solidFill>
                <a:latin typeface="Inter"/>
              </a:defRPr>
            </a:pPr>
            <a:r>
              <a:t>7/10</a:t>
            </a:r>
          </a:p>
        </p:txBody>
      </p:sp>
      <p:sp>
        <p:nvSpPr>
          <p:cNvPr id="40" name="Rectangle 39"/>
          <p:cNvSpPr/>
          <p:nvPr/>
        </p:nvSpPr>
        <p:spPr>
          <a:xfrm>
            <a:off x="731520" y="3794760"/>
            <a:ext cx="10789920" cy="457200"/>
          </a:xfrm>
          <a:prstGeom prst="rect">
            <a:avLst/>
          </a:prstGeom>
          <a:solidFill>
            <a:srgbClr val="1F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886200"/>
            <a:ext cx="2560320" cy="274320"/>
          </a:xfrm>
          <a:prstGeom prst="rect">
            <a:avLst/>
          </a:prstGeom>
          <a:noFill/>
        </p:spPr>
        <p:txBody>
          <a:bodyPr wrap="square"/>
          <a:lstStyle/>
          <a:p>
            <a:pPr algn="l">
              <a:defRPr sz="1200" b="0">
                <a:solidFill>
                  <a:srgbClr val="FFFFFF"/>
                </a:solidFill>
                <a:latin typeface="Inter"/>
              </a:defRPr>
            </a:pPr>
            <a:r>
              <a:t>5. The Performance Athlete</a:t>
            </a:r>
          </a:p>
        </p:txBody>
      </p:sp>
      <p:sp>
        <p:nvSpPr>
          <p:cNvPr id="42" name="TextBox 41"/>
          <p:cNvSpPr txBox="1"/>
          <p:nvPr/>
        </p:nvSpPr>
        <p:spPr>
          <a:xfrm>
            <a:off x="3474720" y="3886200"/>
            <a:ext cx="1554480" cy="274320"/>
          </a:xfrm>
          <a:prstGeom prst="rect">
            <a:avLst/>
          </a:prstGeom>
          <a:noFill/>
        </p:spPr>
        <p:txBody>
          <a:bodyPr wrap="square"/>
          <a:lstStyle/>
          <a:p>
            <a:pPr algn="ctr">
              <a:defRPr sz="1200" b="1">
                <a:solidFill>
                  <a:srgbClr val="B5BAC1"/>
                </a:solidFill>
                <a:latin typeface="Inter"/>
              </a:defRPr>
            </a:pPr>
            <a:r>
              <a:t>5/10</a:t>
            </a:r>
          </a:p>
        </p:txBody>
      </p:sp>
      <p:sp>
        <p:nvSpPr>
          <p:cNvPr id="43" name="TextBox 42"/>
          <p:cNvSpPr txBox="1"/>
          <p:nvPr/>
        </p:nvSpPr>
        <p:spPr>
          <a:xfrm>
            <a:off x="5120640" y="3886200"/>
            <a:ext cx="1554480" cy="274320"/>
          </a:xfrm>
          <a:prstGeom prst="rect">
            <a:avLst/>
          </a:prstGeom>
          <a:noFill/>
        </p:spPr>
        <p:txBody>
          <a:bodyPr wrap="square"/>
          <a:lstStyle/>
          <a:p>
            <a:pPr algn="ctr">
              <a:defRPr sz="1200" b="1">
                <a:solidFill>
                  <a:srgbClr val="B5BAC1"/>
                </a:solidFill>
                <a:latin typeface="Inter"/>
              </a:defRPr>
            </a:pPr>
            <a:r>
              <a:t>5/10</a:t>
            </a:r>
          </a:p>
        </p:txBody>
      </p:sp>
      <p:sp>
        <p:nvSpPr>
          <p:cNvPr id="44" name="TextBox 43"/>
          <p:cNvSpPr txBox="1"/>
          <p:nvPr/>
        </p:nvSpPr>
        <p:spPr>
          <a:xfrm>
            <a:off x="6766560" y="3886200"/>
            <a:ext cx="1554480" cy="274320"/>
          </a:xfrm>
          <a:prstGeom prst="rect">
            <a:avLst/>
          </a:prstGeom>
          <a:noFill/>
        </p:spPr>
        <p:txBody>
          <a:bodyPr wrap="square"/>
          <a:lstStyle/>
          <a:p>
            <a:pPr algn="ctr">
              <a:defRPr sz="1200" b="1">
                <a:solidFill>
                  <a:srgbClr val="FEE75C"/>
                </a:solidFill>
                <a:latin typeface="Inter"/>
              </a:defRPr>
            </a:pPr>
            <a:r>
              <a:t>7/10</a:t>
            </a:r>
          </a:p>
        </p:txBody>
      </p:sp>
      <p:sp>
        <p:nvSpPr>
          <p:cNvPr id="45" name="TextBox 44"/>
          <p:cNvSpPr txBox="1"/>
          <p:nvPr/>
        </p:nvSpPr>
        <p:spPr>
          <a:xfrm>
            <a:off x="8412480" y="3886200"/>
            <a:ext cx="1554480" cy="274320"/>
          </a:xfrm>
          <a:prstGeom prst="rect">
            <a:avLst/>
          </a:prstGeom>
          <a:noFill/>
        </p:spPr>
        <p:txBody>
          <a:bodyPr wrap="square"/>
          <a:lstStyle/>
          <a:p>
            <a:pPr algn="ctr">
              <a:defRPr sz="1200" b="1">
                <a:solidFill>
                  <a:srgbClr val="B5BAC1"/>
                </a:solidFill>
                <a:latin typeface="Inter"/>
              </a:defRPr>
            </a:pPr>
            <a:r>
              <a:t>6/10</a:t>
            </a:r>
          </a:p>
        </p:txBody>
      </p:sp>
      <p:sp>
        <p:nvSpPr>
          <p:cNvPr id="46" name="TextBox 45"/>
          <p:cNvSpPr txBox="1"/>
          <p:nvPr/>
        </p:nvSpPr>
        <p:spPr>
          <a:xfrm>
            <a:off x="10058400" y="3886200"/>
            <a:ext cx="1554480" cy="274320"/>
          </a:xfrm>
          <a:prstGeom prst="rect">
            <a:avLst/>
          </a:prstGeom>
          <a:noFill/>
        </p:spPr>
        <p:txBody>
          <a:bodyPr wrap="square"/>
          <a:lstStyle/>
          <a:p>
            <a:pPr algn="ctr">
              <a:defRPr sz="1200" b="1">
                <a:solidFill>
                  <a:srgbClr val="B5BAC1"/>
                </a:solidFill>
                <a:latin typeface="Inter"/>
              </a:defRPr>
            </a:pPr>
            <a:r>
              <a:t>6/10</a:t>
            </a:r>
          </a:p>
        </p:txBody>
      </p:sp>
      <p:sp>
        <p:nvSpPr>
          <p:cNvPr id="47" name="Rounded Rectangle 46"/>
          <p:cNvSpPr/>
          <p:nvPr/>
        </p:nvSpPr>
        <p:spPr>
          <a:xfrm>
            <a:off x="731520" y="4709160"/>
            <a:ext cx="10789920" cy="2560320"/>
          </a:xfrm>
          <a:prstGeom prst="roundRect">
            <a:avLst>
              <a:gd name="adj" fmla="val 2000"/>
            </a:avLst>
          </a:prstGeom>
          <a:solidFill>
            <a:srgbClr val="1A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31520" y="4709160"/>
            <a:ext cx="10789920" cy="50800"/>
          </a:xfrm>
          <a:prstGeom prst="rect">
            <a:avLst/>
          </a:prstGeom>
          <a:solidFill>
            <a:srgbClr val="57F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4937760"/>
            <a:ext cx="4572000" cy="365760"/>
          </a:xfrm>
          <a:prstGeom prst="rect">
            <a:avLst/>
          </a:prstGeom>
          <a:noFill/>
        </p:spPr>
        <p:txBody>
          <a:bodyPr wrap="square"/>
          <a:lstStyle/>
          <a:p>
            <a:pPr algn="l">
              <a:defRPr sz="1800" b="1">
                <a:solidFill>
                  <a:srgbClr val="FFFFFF"/>
                </a:solidFill>
                <a:latin typeface="Inter"/>
              </a:defRPr>
            </a:pPr>
            <a:r>
              <a:t>Recommendation: Priority #2 Persona</a:t>
            </a:r>
          </a:p>
        </p:txBody>
      </p:sp>
      <p:sp>
        <p:nvSpPr>
          <p:cNvPr id="50" name="TextBox 49"/>
          <p:cNvSpPr txBox="1"/>
          <p:nvPr/>
        </p:nvSpPr>
        <p:spPr>
          <a:xfrm>
            <a:off x="1005840" y="5257800"/>
            <a:ext cx="10241280" cy="1828800"/>
          </a:xfrm>
          <a:prstGeom prst="rect">
            <a:avLst/>
          </a:prstGeom>
          <a:noFill/>
        </p:spPr>
        <p:txBody>
          <a:bodyPr wrap="square"/>
          <a:lstStyle/>
          <a:p>
            <a:pPr algn="l">
              <a:spcAft>
                <a:spcPts val="400"/>
              </a:spcAft>
              <a:defRPr sz="1200" b="1">
                <a:solidFill>
                  <a:srgbClr val="57F287"/>
                </a:solidFill>
                <a:latin typeface="Inter"/>
              </a:defRPr>
            </a:pPr>
            <a:r>
              <a:t>Why #2:</a:t>
            </a:r>
          </a:p>
          <a:p>
            <a:pPr algn="l">
              <a:spcAft>
                <a:spcPts val="1200"/>
              </a:spcAft>
              <a:defRPr sz="1100" b="0">
                <a:solidFill>
                  <a:srgbClr val="B5BAC1"/>
                </a:solidFill>
                <a:latin typeface="Inter"/>
              </a:defRPr>
            </a:pPr>
            <a:r>
              <a:t>Massive underserved TAM — young men are the largest demographic actively avoiding mental health tools. They won't use Calm, won't journal, won't book a therapist. But they WILL use a tool that sits in their menubar, gives them numbers, respects their privacy, and doesn't lecture them.</a:t>
            </a:r>
          </a:p>
          <a:p>
            <a:pPr algn="l">
              <a:spcAft>
                <a:spcPts val="400"/>
              </a:spcAft>
              <a:defRPr sz="1200" b="1">
                <a:solidFill>
                  <a:srgbClr val="57F287"/>
                </a:solidFill>
                <a:latin typeface="Inter"/>
              </a:defRPr>
            </a:pPr>
            <a:r>
              <a:t>Key risks:</a:t>
            </a:r>
          </a:p>
          <a:p>
            <a:pPr algn="l">
              <a:spcAft>
                <a:spcPts val="1200"/>
              </a:spcAft>
              <a:defRPr sz="1100" b="0">
                <a:solidFill>
                  <a:srgbClr val="B5BAC1"/>
                </a:solidFill>
                <a:latin typeface="Inter"/>
              </a:defRPr>
            </a:pPr>
            <a:r>
              <a:t>Higher acquisition difficulty (8/10) — this audience is ad-resistant, skeptical, and spread across fragmented platforms (Discord, Reddit, Twitch). Requires authentic, irreverent messaging that's easy to get wrong. Retention is moderate (7/10) — they may lose interest if the tool doesn't surface genuinely surprising insights.</a:t>
            </a:r>
          </a:p>
          <a:p>
            <a:pPr algn="l">
              <a:spcAft>
                <a:spcPts val="600"/>
              </a:spcAft>
              <a:defRPr sz="1100" b="0">
                <a:solidFill>
                  <a:srgbClr val="FFFFFF"/>
                </a:solidFill>
                <a:latin typeface="Inter"/>
              </a:defRPr>
            </a:pPr>
            <a:r>
              <a:t>Action: Build a dedicated landing page with dark-mode, gaming-adjacent design and no-BS copy. Test acquisition via Discord communities and Reddit before scaling.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lstStyle/>
          <a:p>
            <a:pPr algn="l">
              <a:defRPr sz="2800" b="1">
                <a:solidFill>
                  <a:srgbClr val="1A1D21"/>
                </a:solidFill>
                <a:latin typeface="Playfair Display"/>
              </a:defRPr>
            </a:pPr>
            <a:r>
              <a:t>Appendix: Personas Considered &amp; Evaluated</a:t>
            </a:r>
          </a:p>
        </p:txBody>
      </p:sp>
      <p:sp>
        <p:nvSpPr>
          <p:cNvPr id="3" name="Rectangle 2"/>
          <p:cNvSpPr/>
          <p:nvPr/>
        </p:nvSpPr>
        <p:spPr>
          <a:xfrm>
            <a:off x="731520" y="914400"/>
            <a:ext cx="13716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058400" cy="457200"/>
          </a:xfrm>
          <a:prstGeom prst="rect">
            <a:avLst/>
          </a:prstGeom>
          <a:noFill/>
        </p:spPr>
        <p:txBody>
          <a:bodyPr wrap="square"/>
          <a:lstStyle/>
          <a:p>
            <a:pPr algn="l">
              <a:defRPr sz="1200" b="0">
                <a:solidFill>
                  <a:srgbClr val="5A6270"/>
                </a:solidFill>
                <a:latin typeface="Inter"/>
              </a:defRPr>
            </a:pPr>
            <a:r>
              <a:t>We evaluated 7 additional candidate personas before finalizing the top five. Each was assessed for pain depth and Lucid product-market fit.</a:t>
            </a:r>
          </a:p>
        </p:txBody>
      </p:sp>
      <p:sp>
        <p:nvSpPr>
          <p:cNvPr id="5" name="Rectangle 4"/>
          <p:cNvSpPr/>
          <p:nvPr/>
        </p:nvSpPr>
        <p:spPr>
          <a:xfrm>
            <a:off x="548640" y="1554480"/>
            <a:ext cx="10789920" cy="36576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2103120" cy="274320"/>
          </a:xfrm>
          <a:prstGeom prst="rect">
            <a:avLst/>
          </a:prstGeom>
          <a:noFill/>
        </p:spPr>
        <p:txBody>
          <a:bodyPr wrap="square"/>
          <a:lstStyle/>
          <a:p>
            <a:pPr algn="l">
              <a:defRPr sz="1100" b="1">
                <a:solidFill>
                  <a:srgbClr val="FFFFFF"/>
                </a:solidFill>
                <a:latin typeface="Inter"/>
              </a:defRPr>
            </a:pPr>
            <a:r>
              <a:t>Candidate Persona</a:t>
            </a:r>
          </a:p>
        </p:txBody>
      </p:sp>
      <p:sp>
        <p:nvSpPr>
          <p:cNvPr id="7" name="TextBox 6"/>
          <p:cNvSpPr txBox="1"/>
          <p:nvPr/>
        </p:nvSpPr>
        <p:spPr>
          <a:xfrm>
            <a:off x="2743200" y="1600200"/>
            <a:ext cx="1371600" cy="274320"/>
          </a:xfrm>
          <a:prstGeom prst="rect">
            <a:avLst/>
          </a:prstGeom>
          <a:noFill/>
        </p:spPr>
        <p:txBody>
          <a:bodyPr wrap="square"/>
          <a:lstStyle/>
          <a:p>
            <a:pPr algn="l">
              <a:defRPr sz="1100" b="1">
                <a:solidFill>
                  <a:srgbClr val="FFFFFF"/>
                </a:solidFill>
                <a:latin typeface="Inter"/>
              </a:defRPr>
            </a:pPr>
            <a:r>
              <a:t>Pain Depth</a:t>
            </a:r>
          </a:p>
        </p:txBody>
      </p:sp>
      <p:sp>
        <p:nvSpPr>
          <p:cNvPr id="8" name="TextBox 7"/>
          <p:cNvSpPr txBox="1"/>
          <p:nvPr/>
        </p:nvSpPr>
        <p:spPr>
          <a:xfrm>
            <a:off x="4206240" y="1600200"/>
            <a:ext cx="1554480" cy="274320"/>
          </a:xfrm>
          <a:prstGeom prst="rect">
            <a:avLst/>
          </a:prstGeom>
          <a:noFill/>
        </p:spPr>
        <p:txBody>
          <a:bodyPr wrap="square"/>
          <a:lstStyle/>
          <a:p>
            <a:pPr algn="l">
              <a:defRPr sz="1100" b="1">
                <a:solidFill>
                  <a:srgbClr val="FFFFFF"/>
                </a:solidFill>
                <a:latin typeface="Inter"/>
              </a:defRPr>
            </a:pPr>
            <a:r>
              <a:t>Lucid Fit</a:t>
            </a:r>
          </a:p>
        </p:txBody>
      </p:sp>
      <p:sp>
        <p:nvSpPr>
          <p:cNvPr id="9" name="TextBox 8"/>
          <p:cNvSpPr txBox="1"/>
          <p:nvPr/>
        </p:nvSpPr>
        <p:spPr>
          <a:xfrm>
            <a:off x="5852160" y="1600200"/>
            <a:ext cx="5486400" cy="274320"/>
          </a:xfrm>
          <a:prstGeom prst="rect">
            <a:avLst/>
          </a:prstGeom>
          <a:noFill/>
        </p:spPr>
        <p:txBody>
          <a:bodyPr wrap="square"/>
          <a:lstStyle/>
          <a:p>
            <a:pPr algn="l">
              <a:defRPr sz="1100" b="1">
                <a:solidFill>
                  <a:srgbClr val="FFFFFF"/>
                </a:solidFill>
                <a:latin typeface="Inter"/>
              </a:defRPr>
            </a:pPr>
            <a:r>
              <a:t>Why Not a Top-4 Persona</a:t>
            </a:r>
          </a:p>
        </p:txBody>
      </p:sp>
      <p:sp>
        <p:nvSpPr>
          <p:cNvPr id="10" name="Rectangle 9"/>
          <p:cNvSpPr/>
          <p:nvPr/>
        </p:nvSpPr>
        <p:spPr>
          <a:xfrm>
            <a:off x="548640" y="196596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2103120" cy="411480"/>
          </a:xfrm>
          <a:prstGeom prst="rect">
            <a:avLst/>
          </a:prstGeom>
          <a:noFill/>
        </p:spPr>
        <p:txBody>
          <a:bodyPr wrap="square"/>
          <a:lstStyle/>
          <a:p>
            <a:pPr algn="l">
              <a:defRPr sz="1100" b="1">
                <a:solidFill>
                  <a:srgbClr val="1A1D21"/>
                </a:solidFill>
                <a:latin typeface="Inter"/>
              </a:defRPr>
            </a:pPr>
            <a:r>
              <a:t>Caregivers</a:t>
            </a:r>
          </a:p>
        </p:txBody>
      </p:sp>
      <p:sp>
        <p:nvSpPr>
          <p:cNvPr id="12" name="TextBox 11"/>
          <p:cNvSpPr txBox="1"/>
          <p:nvPr/>
        </p:nvSpPr>
        <p:spPr>
          <a:xfrm>
            <a:off x="2743200" y="2011680"/>
            <a:ext cx="1371600" cy="411480"/>
          </a:xfrm>
          <a:prstGeom prst="rect">
            <a:avLst/>
          </a:prstGeom>
          <a:noFill/>
        </p:spPr>
        <p:txBody>
          <a:bodyPr wrap="square"/>
          <a:lstStyle/>
          <a:p>
            <a:pPr algn="l">
              <a:defRPr sz="1100" b="1">
                <a:solidFill>
                  <a:srgbClr val="C0392B"/>
                </a:solidFill>
                <a:latin typeface="Inter"/>
              </a:defRPr>
            </a:pPr>
            <a:r>
              <a:t>Very High</a:t>
            </a:r>
          </a:p>
        </p:txBody>
      </p:sp>
      <p:sp>
        <p:nvSpPr>
          <p:cNvPr id="13" name="TextBox 12"/>
          <p:cNvSpPr txBox="1"/>
          <p:nvPr/>
        </p:nvSpPr>
        <p:spPr>
          <a:xfrm>
            <a:off x="4206240" y="2011680"/>
            <a:ext cx="1554480" cy="411480"/>
          </a:xfrm>
          <a:prstGeom prst="rect">
            <a:avLst/>
          </a:prstGeom>
          <a:noFill/>
        </p:spPr>
        <p:txBody>
          <a:bodyPr wrap="square"/>
          <a:lstStyle/>
          <a:p>
            <a:pPr algn="l">
              <a:defRPr sz="1100" b="1">
                <a:solidFill>
                  <a:srgbClr val="C0392B"/>
                </a:solidFill>
                <a:latin typeface="Inter"/>
              </a:defRPr>
            </a:pPr>
            <a:r>
              <a:t>Low</a:t>
            </a:r>
          </a:p>
        </p:txBody>
      </p:sp>
      <p:sp>
        <p:nvSpPr>
          <p:cNvPr id="14" name="TextBox 13"/>
          <p:cNvSpPr txBox="1"/>
          <p:nvPr/>
        </p:nvSpPr>
        <p:spPr>
          <a:xfrm>
            <a:off x="5852160" y="2011680"/>
            <a:ext cx="5486400" cy="411480"/>
          </a:xfrm>
          <a:prstGeom prst="rect">
            <a:avLst/>
          </a:prstGeom>
          <a:noFill/>
        </p:spPr>
        <p:txBody>
          <a:bodyPr wrap="square"/>
          <a:lstStyle/>
          <a:p>
            <a:pPr algn="l">
              <a:defRPr sz="1000" b="0">
                <a:solidFill>
                  <a:srgbClr val="5A6270"/>
                </a:solidFill>
                <a:latin typeface="Inter"/>
              </a:defRPr>
            </a:pPr>
            <a:r>
              <a:t>78% burnout, 87% stress — but time-poor, budget-constrained, unlikely Mac users. Need relief, not data.</a:t>
            </a:r>
          </a:p>
        </p:txBody>
      </p:sp>
      <p:sp>
        <p:nvSpPr>
          <p:cNvPr id="15" name="Rectangle 14"/>
          <p:cNvSpPr/>
          <p:nvPr/>
        </p:nvSpPr>
        <p:spPr>
          <a:xfrm>
            <a:off x="548640" y="2468880"/>
            <a:ext cx="10789920" cy="50292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14600"/>
            <a:ext cx="2103120" cy="411480"/>
          </a:xfrm>
          <a:prstGeom prst="rect">
            <a:avLst/>
          </a:prstGeom>
          <a:noFill/>
        </p:spPr>
        <p:txBody>
          <a:bodyPr wrap="square"/>
          <a:lstStyle/>
          <a:p>
            <a:pPr algn="l">
              <a:defRPr sz="1100" b="1">
                <a:solidFill>
                  <a:srgbClr val="1A1D21"/>
                </a:solidFill>
                <a:latin typeface="Inter"/>
              </a:defRPr>
            </a:pPr>
            <a:r>
              <a:t>CEOs / Founders</a:t>
            </a:r>
          </a:p>
        </p:txBody>
      </p:sp>
      <p:sp>
        <p:nvSpPr>
          <p:cNvPr id="17" name="TextBox 16"/>
          <p:cNvSpPr txBox="1"/>
          <p:nvPr/>
        </p:nvSpPr>
        <p:spPr>
          <a:xfrm>
            <a:off x="2743200" y="2514600"/>
            <a:ext cx="1371600" cy="411480"/>
          </a:xfrm>
          <a:prstGeom prst="rect">
            <a:avLst/>
          </a:prstGeom>
          <a:noFill/>
        </p:spPr>
        <p:txBody>
          <a:bodyPr wrap="square"/>
          <a:lstStyle/>
          <a:p>
            <a:pPr algn="l">
              <a:defRPr sz="1100" b="1">
                <a:solidFill>
                  <a:srgbClr val="D46B08"/>
                </a:solidFill>
                <a:latin typeface="Inter"/>
              </a:defRPr>
            </a:pPr>
            <a:r>
              <a:t>High</a:t>
            </a:r>
          </a:p>
        </p:txBody>
      </p:sp>
      <p:sp>
        <p:nvSpPr>
          <p:cNvPr id="18" name="TextBox 17"/>
          <p:cNvSpPr txBox="1"/>
          <p:nvPr/>
        </p:nvSpPr>
        <p:spPr>
          <a:xfrm>
            <a:off x="4206240" y="2514600"/>
            <a:ext cx="1554480" cy="411480"/>
          </a:xfrm>
          <a:prstGeom prst="rect">
            <a:avLst/>
          </a:prstGeom>
          <a:noFill/>
        </p:spPr>
        <p:txBody>
          <a:bodyPr wrap="square"/>
          <a:lstStyle/>
          <a:p>
            <a:pPr algn="l">
              <a:defRPr sz="1100" b="1">
                <a:solidFill>
                  <a:srgbClr val="D49B08"/>
                </a:solidFill>
                <a:latin typeface="Inter"/>
              </a:defRPr>
            </a:pPr>
            <a:r>
              <a:t>Medium</a:t>
            </a:r>
          </a:p>
        </p:txBody>
      </p:sp>
      <p:sp>
        <p:nvSpPr>
          <p:cNvPr id="19" name="TextBox 18"/>
          <p:cNvSpPr txBox="1"/>
          <p:nvPr/>
        </p:nvSpPr>
        <p:spPr>
          <a:xfrm>
            <a:off x="5852160" y="2514600"/>
            <a:ext cx="5486400" cy="411480"/>
          </a:xfrm>
          <a:prstGeom prst="rect">
            <a:avLst/>
          </a:prstGeom>
          <a:noFill/>
        </p:spPr>
        <p:txBody>
          <a:bodyPr wrap="square"/>
          <a:lstStyle/>
          <a:p>
            <a:pPr algn="l">
              <a:defRPr sz="1000" b="0">
                <a:solidFill>
                  <a:srgbClr val="5A6270"/>
                </a:solidFill>
                <a:latin typeface="Inter"/>
              </a:defRPr>
            </a:pPr>
            <a:r>
              <a:t>71% burnout, 26% depression — already captured within Persona 1 (burnout) and Persona 2 (biohacker).</a:t>
            </a:r>
          </a:p>
        </p:txBody>
      </p:sp>
      <p:sp>
        <p:nvSpPr>
          <p:cNvPr id="20" name="Rectangle 19"/>
          <p:cNvSpPr/>
          <p:nvPr/>
        </p:nvSpPr>
        <p:spPr>
          <a:xfrm>
            <a:off x="548640" y="297180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017520"/>
            <a:ext cx="2103120" cy="411480"/>
          </a:xfrm>
          <a:prstGeom prst="rect">
            <a:avLst/>
          </a:prstGeom>
          <a:noFill/>
        </p:spPr>
        <p:txBody>
          <a:bodyPr wrap="square"/>
          <a:lstStyle/>
          <a:p>
            <a:pPr algn="l">
              <a:defRPr sz="1100" b="1">
                <a:solidFill>
                  <a:srgbClr val="1A1D21"/>
                </a:solidFill>
                <a:latin typeface="Inter"/>
              </a:defRPr>
            </a:pPr>
            <a:r>
              <a:t>New Parents / Postpartum</a:t>
            </a:r>
          </a:p>
        </p:txBody>
      </p:sp>
      <p:sp>
        <p:nvSpPr>
          <p:cNvPr id="22" name="TextBox 21"/>
          <p:cNvSpPr txBox="1"/>
          <p:nvPr/>
        </p:nvSpPr>
        <p:spPr>
          <a:xfrm>
            <a:off x="2743200" y="3017520"/>
            <a:ext cx="1371600" cy="411480"/>
          </a:xfrm>
          <a:prstGeom prst="rect">
            <a:avLst/>
          </a:prstGeom>
          <a:noFill/>
        </p:spPr>
        <p:txBody>
          <a:bodyPr wrap="square"/>
          <a:lstStyle/>
          <a:p>
            <a:pPr algn="l">
              <a:defRPr sz="1100" b="1">
                <a:solidFill>
                  <a:srgbClr val="D46B08"/>
                </a:solidFill>
                <a:latin typeface="Inter"/>
              </a:defRPr>
            </a:pPr>
            <a:r>
              <a:t>High</a:t>
            </a:r>
          </a:p>
        </p:txBody>
      </p:sp>
      <p:sp>
        <p:nvSpPr>
          <p:cNvPr id="23" name="TextBox 22"/>
          <p:cNvSpPr txBox="1"/>
          <p:nvPr/>
        </p:nvSpPr>
        <p:spPr>
          <a:xfrm>
            <a:off x="4206240" y="3017520"/>
            <a:ext cx="1554480" cy="411480"/>
          </a:xfrm>
          <a:prstGeom prst="rect">
            <a:avLst/>
          </a:prstGeom>
          <a:noFill/>
        </p:spPr>
        <p:txBody>
          <a:bodyPr wrap="square"/>
          <a:lstStyle/>
          <a:p>
            <a:pPr algn="l">
              <a:defRPr sz="1100" b="1">
                <a:solidFill>
                  <a:srgbClr val="C0392B"/>
                </a:solidFill>
                <a:latin typeface="Inter"/>
              </a:defRPr>
            </a:pPr>
            <a:r>
              <a:t>Low</a:t>
            </a:r>
          </a:p>
        </p:txBody>
      </p:sp>
      <p:sp>
        <p:nvSpPr>
          <p:cNvPr id="24" name="TextBox 23"/>
          <p:cNvSpPr txBox="1"/>
          <p:nvPr/>
        </p:nvSpPr>
        <p:spPr>
          <a:xfrm>
            <a:off x="5852160" y="3017520"/>
            <a:ext cx="5486400" cy="411480"/>
          </a:xfrm>
          <a:prstGeom prst="rect">
            <a:avLst/>
          </a:prstGeom>
          <a:noFill/>
        </p:spPr>
        <p:txBody>
          <a:bodyPr wrap="square"/>
          <a:lstStyle/>
          <a:p>
            <a:pPr algn="l">
              <a:defRPr sz="1000" b="0">
                <a:solidFill>
                  <a:srgbClr val="5A6270"/>
                </a:solidFill>
                <a:latin typeface="Inter"/>
              </a:defRPr>
            </a:pPr>
            <a:r>
              <a:t>20% affected by perinatal conditions — but macOS desktop doesn't fit new parent lifestyle. Mobile phase.</a:t>
            </a:r>
          </a:p>
        </p:txBody>
      </p:sp>
      <p:sp>
        <p:nvSpPr>
          <p:cNvPr id="25" name="Rectangle 24"/>
          <p:cNvSpPr/>
          <p:nvPr/>
        </p:nvSpPr>
        <p:spPr>
          <a:xfrm>
            <a:off x="548640" y="3474720"/>
            <a:ext cx="10789920" cy="50292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520440"/>
            <a:ext cx="2103120" cy="411480"/>
          </a:xfrm>
          <a:prstGeom prst="rect">
            <a:avLst/>
          </a:prstGeom>
          <a:noFill/>
        </p:spPr>
        <p:txBody>
          <a:bodyPr wrap="square"/>
          <a:lstStyle/>
          <a:p>
            <a:pPr algn="l">
              <a:defRPr sz="1100" b="1">
                <a:solidFill>
                  <a:srgbClr val="1A1D21"/>
                </a:solidFill>
                <a:latin typeface="Inter"/>
              </a:defRPr>
            </a:pPr>
            <a:r>
              <a:t>Creative Freelancers</a:t>
            </a:r>
          </a:p>
        </p:txBody>
      </p:sp>
      <p:sp>
        <p:nvSpPr>
          <p:cNvPr id="27" name="TextBox 26"/>
          <p:cNvSpPr txBox="1"/>
          <p:nvPr/>
        </p:nvSpPr>
        <p:spPr>
          <a:xfrm>
            <a:off x="2743200" y="3520440"/>
            <a:ext cx="1371600" cy="411480"/>
          </a:xfrm>
          <a:prstGeom prst="rect">
            <a:avLst/>
          </a:prstGeom>
          <a:noFill/>
        </p:spPr>
        <p:txBody>
          <a:bodyPr wrap="square"/>
          <a:lstStyle/>
          <a:p>
            <a:pPr algn="l">
              <a:defRPr sz="1100" b="1">
                <a:solidFill>
                  <a:srgbClr val="D49B08"/>
                </a:solidFill>
                <a:latin typeface="Inter"/>
              </a:defRPr>
            </a:pPr>
            <a:r>
              <a:t>Medium-High</a:t>
            </a:r>
          </a:p>
        </p:txBody>
      </p:sp>
      <p:sp>
        <p:nvSpPr>
          <p:cNvPr id="28" name="TextBox 27"/>
          <p:cNvSpPr txBox="1"/>
          <p:nvPr/>
        </p:nvSpPr>
        <p:spPr>
          <a:xfrm>
            <a:off x="4206240" y="3520440"/>
            <a:ext cx="1554480" cy="411480"/>
          </a:xfrm>
          <a:prstGeom prst="rect">
            <a:avLst/>
          </a:prstGeom>
          <a:noFill/>
        </p:spPr>
        <p:txBody>
          <a:bodyPr wrap="square"/>
          <a:lstStyle/>
          <a:p>
            <a:pPr algn="l">
              <a:defRPr sz="1100" b="1">
                <a:solidFill>
                  <a:srgbClr val="D49B08"/>
                </a:solidFill>
                <a:latin typeface="Inter"/>
              </a:defRPr>
            </a:pPr>
            <a:r>
              <a:t>Medium</a:t>
            </a:r>
          </a:p>
        </p:txBody>
      </p:sp>
      <p:sp>
        <p:nvSpPr>
          <p:cNvPr id="29" name="TextBox 28"/>
          <p:cNvSpPr txBox="1"/>
          <p:nvPr/>
        </p:nvSpPr>
        <p:spPr>
          <a:xfrm>
            <a:off x="5852160" y="3520440"/>
            <a:ext cx="5486400" cy="411480"/>
          </a:xfrm>
          <a:prstGeom prst="rect">
            <a:avLst/>
          </a:prstGeom>
          <a:noFill/>
        </p:spPr>
        <p:txBody>
          <a:bodyPr wrap="square"/>
          <a:lstStyle/>
          <a:p>
            <a:pPr algn="l">
              <a:defRPr sz="1000" b="0">
                <a:solidFill>
                  <a:srgbClr val="5A6270"/>
                </a:solidFill>
                <a:latin typeface="Inter"/>
              </a:defRPr>
            </a:pPr>
            <a:r>
              <a:t>70% burnout, 44% depression — significant overlap with Persona 1 (burnout) and Persona 3 (independent).</a:t>
            </a:r>
          </a:p>
        </p:txBody>
      </p:sp>
      <p:sp>
        <p:nvSpPr>
          <p:cNvPr id="30" name="Rectangle 29"/>
          <p:cNvSpPr/>
          <p:nvPr/>
        </p:nvSpPr>
        <p:spPr>
          <a:xfrm>
            <a:off x="548640" y="397764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023360"/>
            <a:ext cx="2103120" cy="411480"/>
          </a:xfrm>
          <a:prstGeom prst="rect">
            <a:avLst/>
          </a:prstGeom>
          <a:noFill/>
        </p:spPr>
        <p:txBody>
          <a:bodyPr wrap="square"/>
          <a:lstStyle/>
          <a:p>
            <a:pPr algn="l">
              <a:defRPr sz="1100" b="1">
                <a:solidFill>
                  <a:srgbClr val="1A1D21"/>
                </a:solidFill>
                <a:latin typeface="Inter"/>
              </a:defRPr>
            </a:pPr>
            <a:r>
              <a:t>Teachers / Professors</a:t>
            </a:r>
          </a:p>
        </p:txBody>
      </p:sp>
      <p:sp>
        <p:nvSpPr>
          <p:cNvPr id="32" name="TextBox 31"/>
          <p:cNvSpPr txBox="1"/>
          <p:nvPr/>
        </p:nvSpPr>
        <p:spPr>
          <a:xfrm>
            <a:off x="2743200" y="4023360"/>
            <a:ext cx="1371600" cy="411480"/>
          </a:xfrm>
          <a:prstGeom prst="rect">
            <a:avLst/>
          </a:prstGeom>
          <a:noFill/>
        </p:spPr>
        <p:txBody>
          <a:bodyPr wrap="square"/>
          <a:lstStyle/>
          <a:p>
            <a:pPr algn="l">
              <a:defRPr sz="1100" b="1">
                <a:solidFill>
                  <a:srgbClr val="99A0A8"/>
                </a:solidFill>
                <a:latin typeface="Inter"/>
              </a:defRPr>
            </a:pPr>
            <a:r>
              <a:t>Medium</a:t>
            </a:r>
          </a:p>
        </p:txBody>
      </p:sp>
      <p:sp>
        <p:nvSpPr>
          <p:cNvPr id="33" name="TextBox 32"/>
          <p:cNvSpPr txBox="1"/>
          <p:nvPr/>
        </p:nvSpPr>
        <p:spPr>
          <a:xfrm>
            <a:off x="4206240" y="4023360"/>
            <a:ext cx="1554480" cy="411480"/>
          </a:xfrm>
          <a:prstGeom prst="rect">
            <a:avLst/>
          </a:prstGeom>
          <a:noFill/>
        </p:spPr>
        <p:txBody>
          <a:bodyPr wrap="square"/>
          <a:lstStyle/>
          <a:p>
            <a:pPr algn="l">
              <a:defRPr sz="1100" b="1">
                <a:solidFill>
                  <a:srgbClr val="C0392B"/>
                </a:solidFill>
                <a:latin typeface="Inter"/>
              </a:defRPr>
            </a:pPr>
            <a:r>
              <a:t>Low</a:t>
            </a:r>
          </a:p>
        </p:txBody>
      </p:sp>
      <p:sp>
        <p:nvSpPr>
          <p:cNvPr id="34" name="TextBox 33"/>
          <p:cNvSpPr txBox="1"/>
          <p:nvPr/>
        </p:nvSpPr>
        <p:spPr>
          <a:xfrm>
            <a:off x="5852160" y="4023360"/>
            <a:ext cx="5486400" cy="411480"/>
          </a:xfrm>
          <a:prstGeom prst="rect">
            <a:avLst/>
          </a:prstGeom>
          <a:noFill/>
        </p:spPr>
        <p:txBody>
          <a:bodyPr wrap="square"/>
          <a:lstStyle/>
          <a:p>
            <a:pPr algn="l">
              <a:defRPr sz="1000" b="0">
                <a:solidFill>
                  <a:srgbClr val="5A6270"/>
                </a:solidFill>
                <a:latin typeface="Inter"/>
              </a:defRPr>
            </a:pPr>
            <a:r>
              <a:t>60% voice disorder risk, 3.7M US teachers — but Lucid measures mental state, not vocal cord health.</a:t>
            </a:r>
          </a:p>
        </p:txBody>
      </p:sp>
      <p:sp>
        <p:nvSpPr>
          <p:cNvPr id="35" name="Rectangle 34"/>
          <p:cNvSpPr/>
          <p:nvPr/>
        </p:nvSpPr>
        <p:spPr>
          <a:xfrm>
            <a:off x="548640" y="4480560"/>
            <a:ext cx="10789920" cy="502920"/>
          </a:xfrm>
          <a:prstGeom prst="rect">
            <a:avLst/>
          </a:prstGeom>
          <a:solidFill>
            <a:srgbClr val="F0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526280"/>
            <a:ext cx="2103120" cy="411480"/>
          </a:xfrm>
          <a:prstGeom prst="rect">
            <a:avLst/>
          </a:prstGeom>
          <a:noFill/>
        </p:spPr>
        <p:txBody>
          <a:bodyPr wrap="square"/>
          <a:lstStyle/>
          <a:p>
            <a:pPr algn="l">
              <a:defRPr sz="1100" b="1">
                <a:solidFill>
                  <a:srgbClr val="1A1D21"/>
                </a:solidFill>
                <a:latin typeface="Inter"/>
              </a:defRPr>
            </a:pPr>
            <a:r>
              <a:t>Vocal Professionals</a:t>
            </a:r>
          </a:p>
        </p:txBody>
      </p:sp>
      <p:sp>
        <p:nvSpPr>
          <p:cNvPr id="37" name="TextBox 36"/>
          <p:cNvSpPr txBox="1"/>
          <p:nvPr/>
        </p:nvSpPr>
        <p:spPr>
          <a:xfrm>
            <a:off x="2743200" y="4526280"/>
            <a:ext cx="1371600" cy="411480"/>
          </a:xfrm>
          <a:prstGeom prst="rect">
            <a:avLst/>
          </a:prstGeom>
          <a:noFill/>
        </p:spPr>
        <p:txBody>
          <a:bodyPr wrap="square"/>
          <a:lstStyle/>
          <a:p>
            <a:pPr algn="l">
              <a:defRPr sz="1100" b="1">
                <a:solidFill>
                  <a:srgbClr val="99A0A8"/>
                </a:solidFill>
                <a:latin typeface="Inter"/>
              </a:defRPr>
            </a:pPr>
            <a:r>
              <a:t>Medium</a:t>
            </a:r>
          </a:p>
        </p:txBody>
      </p:sp>
      <p:sp>
        <p:nvSpPr>
          <p:cNvPr id="38" name="TextBox 37"/>
          <p:cNvSpPr txBox="1"/>
          <p:nvPr/>
        </p:nvSpPr>
        <p:spPr>
          <a:xfrm>
            <a:off x="4206240" y="4526280"/>
            <a:ext cx="1554480" cy="411480"/>
          </a:xfrm>
          <a:prstGeom prst="rect">
            <a:avLst/>
          </a:prstGeom>
          <a:noFill/>
        </p:spPr>
        <p:txBody>
          <a:bodyPr wrap="square"/>
          <a:lstStyle/>
          <a:p>
            <a:pPr algn="l">
              <a:defRPr sz="1100" b="1">
                <a:solidFill>
                  <a:srgbClr val="C0392B"/>
                </a:solidFill>
                <a:latin typeface="Inter"/>
              </a:defRPr>
            </a:pPr>
            <a:r>
              <a:t>Low</a:t>
            </a:r>
          </a:p>
        </p:txBody>
      </p:sp>
      <p:sp>
        <p:nvSpPr>
          <p:cNvPr id="39" name="TextBox 38"/>
          <p:cNvSpPr txBox="1"/>
          <p:nvPr/>
        </p:nvSpPr>
        <p:spPr>
          <a:xfrm>
            <a:off x="5852160" y="4526280"/>
            <a:ext cx="5486400" cy="411480"/>
          </a:xfrm>
          <a:prstGeom prst="rect">
            <a:avLst/>
          </a:prstGeom>
          <a:noFill/>
        </p:spPr>
        <p:txBody>
          <a:bodyPr wrap="square"/>
          <a:lstStyle/>
          <a:p>
            <a:pPr algn="l">
              <a:defRPr sz="1000" b="0">
                <a:solidFill>
                  <a:srgbClr val="5A6270"/>
                </a:solidFill>
                <a:latin typeface="Inter"/>
              </a:defRPr>
            </a:pPr>
            <a:r>
              <a:t>Singers, coaches, podcasters — care about voice-as-instrument, not mental wellness via voice.</a:t>
            </a:r>
          </a:p>
        </p:txBody>
      </p:sp>
      <p:sp>
        <p:nvSpPr>
          <p:cNvPr id="40" name="Rectangle 39"/>
          <p:cNvSpPr/>
          <p:nvPr/>
        </p:nvSpPr>
        <p:spPr>
          <a:xfrm>
            <a:off x="548640" y="498348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029200"/>
            <a:ext cx="2103120" cy="411480"/>
          </a:xfrm>
          <a:prstGeom prst="rect">
            <a:avLst/>
          </a:prstGeom>
          <a:noFill/>
        </p:spPr>
        <p:txBody>
          <a:bodyPr wrap="square"/>
          <a:lstStyle/>
          <a:p>
            <a:pPr algn="l">
              <a:defRPr sz="1100" b="1">
                <a:solidFill>
                  <a:srgbClr val="1A1D21"/>
                </a:solidFill>
                <a:latin typeface="Inter"/>
              </a:defRPr>
            </a:pPr>
            <a:r>
              <a:t>Remote Workers</a:t>
            </a:r>
          </a:p>
        </p:txBody>
      </p:sp>
      <p:sp>
        <p:nvSpPr>
          <p:cNvPr id="42" name="TextBox 41"/>
          <p:cNvSpPr txBox="1"/>
          <p:nvPr/>
        </p:nvSpPr>
        <p:spPr>
          <a:xfrm>
            <a:off x="2743200" y="5029200"/>
            <a:ext cx="1371600" cy="411480"/>
          </a:xfrm>
          <a:prstGeom prst="rect">
            <a:avLst/>
          </a:prstGeom>
          <a:noFill/>
        </p:spPr>
        <p:txBody>
          <a:bodyPr wrap="square"/>
          <a:lstStyle/>
          <a:p>
            <a:pPr algn="l">
              <a:defRPr sz="1100" b="1">
                <a:solidFill>
                  <a:srgbClr val="99A0A8"/>
                </a:solidFill>
                <a:latin typeface="Inter"/>
              </a:defRPr>
            </a:pPr>
            <a:r>
              <a:t>Medium</a:t>
            </a:r>
          </a:p>
        </p:txBody>
      </p:sp>
      <p:sp>
        <p:nvSpPr>
          <p:cNvPr id="43" name="TextBox 42"/>
          <p:cNvSpPr txBox="1"/>
          <p:nvPr/>
        </p:nvSpPr>
        <p:spPr>
          <a:xfrm>
            <a:off x="4206240" y="5029200"/>
            <a:ext cx="1554480" cy="411480"/>
          </a:xfrm>
          <a:prstGeom prst="rect">
            <a:avLst/>
          </a:prstGeom>
          <a:noFill/>
        </p:spPr>
        <p:txBody>
          <a:bodyPr wrap="square"/>
          <a:lstStyle/>
          <a:p>
            <a:pPr algn="l">
              <a:defRPr sz="1100" b="1">
                <a:solidFill>
                  <a:srgbClr val="D49B08"/>
                </a:solidFill>
                <a:latin typeface="Inter"/>
              </a:defRPr>
            </a:pPr>
            <a:r>
              <a:t>Medium</a:t>
            </a:r>
          </a:p>
        </p:txBody>
      </p:sp>
      <p:sp>
        <p:nvSpPr>
          <p:cNvPr id="44" name="TextBox 43"/>
          <p:cNvSpPr txBox="1"/>
          <p:nvPr/>
        </p:nvSpPr>
        <p:spPr>
          <a:xfrm>
            <a:off x="5852160" y="5029200"/>
            <a:ext cx="5486400" cy="411480"/>
          </a:xfrm>
          <a:prstGeom prst="rect">
            <a:avLst/>
          </a:prstGeom>
          <a:noFill/>
        </p:spPr>
        <p:txBody>
          <a:bodyPr wrap="square"/>
          <a:lstStyle/>
          <a:p>
            <a:pPr algn="l">
              <a:defRPr sz="1000" b="0">
                <a:solidFill>
                  <a:srgbClr val="5A6270"/>
                </a:solidFill>
                <a:latin typeface="Inter"/>
              </a:defRPr>
            </a:pPr>
            <a:r>
              <a:t>Isolation, always-on culture — subsumed by Persona 1 (Burned-Out Builder). Not distinct enough.</a:t>
            </a:r>
          </a:p>
        </p:txBody>
      </p:sp>
      <p:sp>
        <p:nvSpPr>
          <p:cNvPr id="45" name="Rounded Rectangle 44"/>
          <p:cNvSpPr/>
          <p:nvPr/>
        </p:nvSpPr>
        <p:spPr>
          <a:xfrm>
            <a:off x="548640" y="5760720"/>
            <a:ext cx="10789920" cy="731520"/>
          </a:xfrm>
          <a:prstGeom prst="roundRect">
            <a:avLst>
              <a:gd name="adj" fmla="val 2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852160"/>
            <a:ext cx="10424160" cy="548640"/>
          </a:xfrm>
          <a:prstGeom prst="rect">
            <a:avLst/>
          </a:prstGeom>
          <a:noFill/>
        </p:spPr>
        <p:txBody>
          <a:bodyPr wrap="square"/>
          <a:lstStyle/>
          <a:p>
            <a:pPr algn="l">
              <a:defRPr sz="1100" b="0">
                <a:solidFill>
                  <a:srgbClr val="1A1D21"/>
                </a:solidFill>
                <a:latin typeface="Inter"/>
              </a:defRPr>
            </a:pPr>
            <a:r>
              <a:t>Conclusion: No candidate persona has both a deeper pain point than the existing five AND strong product-market fit with Lucid's current form (macOS desktop, voice-based mental wellness, $14.99/month). The four selected personas represent the optimal balance of pain depth, channel accessibility, and willingness to pay. The Disconnected Dude (Persona 5) was added based on the massive underserved male mental health TAM.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